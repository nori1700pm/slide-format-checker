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1"/>
  </p:notesMasterIdLst>
  <p:sldIdLst>
    <p:sldId id="2147480207" r:id="rId2"/>
    <p:sldId id="2147483625" r:id="rId3"/>
    <p:sldId id="2147483626" r:id="rId4"/>
    <p:sldId id="2147473837" r:id="rId5"/>
    <p:sldId id="2147480203" r:id="rId6"/>
    <p:sldId id="2147483629" r:id="rId7"/>
    <p:sldId id="2147483635" r:id="rId8"/>
    <p:sldId id="2147480200" r:id="rId9"/>
    <p:sldId id="2147480204" r:id="rId10"/>
    <p:sldId id="2147483636" r:id="rId11"/>
    <p:sldId id="2147480210" r:id="rId12"/>
    <p:sldId id="2147480212" r:id="rId13"/>
    <p:sldId id="2147483627" r:id="rId14"/>
    <p:sldId id="2147480211" r:id="rId15"/>
    <p:sldId id="2147480216" r:id="rId16"/>
    <p:sldId id="2147483631" r:id="rId17"/>
    <p:sldId id="2147483632" r:id="rId18"/>
    <p:sldId id="2147480215" r:id="rId19"/>
    <p:sldId id="2147483644" r:id="rId20"/>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생산계획" id="{8B075495-AF0E-432C-9B14-217D7A06DC26}">
          <p14:sldIdLst>
            <p14:sldId id="2147480207"/>
            <p14:sldId id="2147483625"/>
            <p14:sldId id="2147483626"/>
            <p14:sldId id="2147473837"/>
          </p14:sldIdLst>
        </p14:section>
        <p14:section name="물류" id="{EF1A215B-5300-4F2C-9EEE-248EF73F3AE4}">
          <p14:sldIdLst>
            <p14:sldId id="2147480203"/>
            <p14:sldId id="2147483629"/>
            <p14:sldId id="2147483635"/>
            <p14:sldId id="2147480200"/>
          </p14:sldIdLst>
        </p14:section>
        <p14:section name="조립" id="{50DED8F2-1F50-4473-9EE8-A38DA110D22F}">
          <p14:sldIdLst>
            <p14:sldId id="2147480204"/>
            <p14:sldId id="2147483636"/>
            <p14:sldId id="2147480210"/>
          </p14:sldIdLst>
        </p14:section>
        <p14:section name="보전" id="{D62DAB4C-10E4-41D9-AB4D-C746E4F9CDE6}">
          <p14:sldIdLst>
            <p14:sldId id="2147480212"/>
            <p14:sldId id="2147483627"/>
            <p14:sldId id="2147480211"/>
          </p14:sldIdLst>
        </p14:section>
        <p14:section name="품질" id="{8F8F719A-B4C2-4D0C-BAD8-B94BF87186A2}">
          <p14:sldIdLst>
            <p14:sldId id="2147480216"/>
            <p14:sldId id="2147483631"/>
            <p14:sldId id="2147483632"/>
            <p14:sldId id="2147480215"/>
          </p14:sldIdLst>
        </p14:section>
        <p14:section name="EHS" id="{16E23DD8-2CFC-4E96-B55E-B5A76F583CEC}">
          <p14:sldIdLst>
            <p14:sldId id="214748364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941" autoAdjust="0"/>
    <p:restoredTop sz="94660"/>
  </p:normalViewPr>
  <p:slideViewPr>
    <p:cSldViewPr snapToGrid="0">
      <p:cViewPr varScale="1">
        <p:scale>
          <a:sx n="97" d="100"/>
          <a:sy n="97" d="100"/>
        </p:scale>
        <p:origin x="21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D02EB-25F9-4E0A-82D6-022AC5EC0CC5}" type="datetimeFigureOut">
              <a:rPr lang="ko-KR" altLang="en-US" smtClean="0"/>
              <a:t>2026-10-29</a:t>
            </a:fld>
            <a:endParaRPr lang="ko-KR" altLang="en-US"/>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6E0F9B-EC77-4B0D-AEE9-C8F3EE369399}" type="slidenum">
              <a:rPr lang="ko-KR" altLang="en-US" smtClean="0"/>
              <a:t>‹#›</a:t>
            </a:fld>
            <a:endParaRPr lang="ko-KR" altLang="en-US"/>
          </a:p>
        </p:txBody>
      </p:sp>
    </p:spTree>
    <p:extLst>
      <p:ext uri="{BB962C8B-B14F-4D97-AF65-F5344CB8AC3E}">
        <p14:creationId xmlns:p14="http://schemas.microsoft.com/office/powerpoint/2010/main" val="28495766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38B0-EDEF-9C44-67B6-C99A97AB4B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03FC53-BF96-01B3-E56C-23C052CB584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B86A96-A5FD-8774-5175-BF096D7B594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1B45324-74DD-DA07-6D51-91BB9D91DFE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7929612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8CE4E-CA05-CAB8-773D-26C75063C28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6457C61-7CA7-80C9-D08F-419FC898080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7439EF8-9768-F6D4-C2EB-B4A00323080E}"/>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F08DF2F3-B605-23F6-C9A8-6BC907971C5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2</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453582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939A1-1ACA-D2F0-E50B-BAE8CD4707E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2FABC6E-B6D6-A0D3-5F6F-B5DBF6A4265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76E7657-88AE-0AEE-FC1B-F9BF0518A7E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2C13B599-B6EE-2978-1BF1-74C4BED27094}"/>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3</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243171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38B0-EDEF-9C44-67B6-C99A97AB4B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03FC53-BF96-01B3-E56C-23C052CB584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B86A96-A5FD-8774-5175-BF096D7B594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1B45324-74DD-DA07-6D51-91BB9D91DFE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4</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4226461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38B0-EDEF-9C44-67B6-C99A97AB4B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03FC53-BF96-01B3-E56C-23C052CB584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B86A96-A5FD-8774-5175-BF096D7B594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1B45324-74DD-DA07-6D51-91BB9D91DFE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5</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4097000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64BD7-B845-DFEE-5C87-1C733D12EFD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3EF5174-FF30-6845-E1E2-FBFC2F2D54B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2191BBC-4DD6-EEC8-52D0-B63DE15D7BEA}"/>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20D725DC-917E-E9DF-E316-E7F1A45BBDB5}"/>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6</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492438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16904-5C7E-2A95-4DEA-464984F6C5C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0EA8ADD-05B9-85E9-84D7-25855A15589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6985929-9DA4-206D-3E46-313B975A73A9}"/>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7F778776-1B70-DFD5-5F00-F59A279CBE9E}"/>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7</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575786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38B0-EDEF-9C44-67B6-C99A97AB4B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03FC53-BF96-01B3-E56C-23C052CB584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B86A96-A5FD-8774-5175-BF096D7B594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1B45324-74DD-DA07-6D51-91BB9D91DFE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8</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167497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9C964-C922-ACF6-6316-6AECB5850FB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FE64577-050A-938B-C51C-97C95814185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ED01C32-B300-6958-4FBE-74FC971AEAE0}"/>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D69CF037-ED01-A256-B840-1855A0B81DD8}"/>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9</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6444729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F72F7-C3CF-244A-900A-BD02ECEF8FF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B90D8FD-1F0C-1F32-98BF-47FFD34B799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83EECE6-CF7B-3ECA-62CE-07A76141133B}"/>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AD11147F-2806-EE46-4EA2-F67588AE3DB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10</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1991296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9C964-C922-ACF6-6316-6AECB5850FB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FE64577-050A-938B-C51C-97C95814185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ED01C32-B300-6958-4FBE-74FC971AEAE0}"/>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D69CF037-ED01-A256-B840-1855A0B81DD8}"/>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11</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029118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D8523-3259-2B78-F48E-95C0E0DD4C3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B2506A1-FCA2-F20C-EDEB-0CEFF458338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9CD5E35-A990-ABFC-8651-93C3E6950B84}"/>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9DC9C3B6-B993-E600-6E11-A8AE145058B5}"/>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12</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77180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BD910-7809-F0BE-969E-0364DDE5028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7F0499A-163F-EF21-5BB6-ED87CBAFFE6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FE08FD4-47F6-B925-5334-987DB12773BE}"/>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45D237B2-5FFD-12FC-885D-5B519B952BDF}"/>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13</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1016390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15F38-C6DB-53B0-A135-579801BCAB6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3A149C2-D6AF-AEF9-85F1-73497D6562A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D7F0E4F-8674-0B79-C3A3-8CBB98A4CEEE}"/>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ECB6022-5CC2-9DDD-D9DF-F950AF49DE3B}"/>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14</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950228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BACB9-A15E-5709-3FC3-DA9AA4825A4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1667805-A549-9241-47AD-508572349E3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90316A5-D211-844A-D87D-7BE46B373D76}"/>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F3AA0001-00A9-889F-FC5A-331D71B72EE6}"/>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15</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668430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8BEBA-1D46-D15B-8C4F-9A33D3C8838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5AD234-80DB-ABC3-BE35-533235E2F61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7DFF7DA-96DB-2C08-5018-7CA69E90274F}"/>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B007EE9-E48C-69AB-CE1D-BCB11CCB68C4}"/>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16</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346044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A0AE4-4EAE-DD34-9099-CDA90ED9A1B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E742C58-7EE7-CD88-2CBB-E9F7BBD64C2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7B91E9-4EC9-8A71-D4C7-B4AE1A0FC187}"/>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0147BAA8-D393-287C-D938-099F0EC8A3A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17</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804827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FABC6-9586-52B5-C7E3-BF65BBC1FF8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E512F40-8D52-5D45-E34B-8203C242608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71F6884-4060-450A-CA32-B1BA7BF5FD01}"/>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CE730A8A-D04A-FC97-729A-E830F2D66680}"/>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18</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7432268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D8523-3259-2B78-F48E-95C0E0DD4C3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B2506A1-FCA2-F20C-EDEB-0CEFF458338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9CD5E35-A990-ABFC-8651-93C3E6950B84}"/>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9DC9C3B6-B993-E600-6E11-A8AE145058B5}"/>
              </a:ext>
            </a:extLst>
          </p:cNvPr>
          <p:cNvSpPr>
            <a:spLocks noGrp="1"/>
          </p:cNvSpPr>
          <p:nvPr>
            <p:ph type="sldNum" sz="quarter" idx="5"/>
          </p:nvPr>
        </p:nvSpPr>
        <p:spPr/>
        <p:txBody>
          <a:bodyPr/>
          <a:lstStyle/>
          <a:p>
            <a:pPr defTabSz="976618" fontAlgn="base" latinLnBrk="1">
              <a:spcBef>
                <a:spcPct val="0"/>
              </a:spcBef>
              <a:spcAft>
                <a:spcPct val="0"/>
              </a:spcAft>
              <a:defRPr/>
            </a:pPr>
            <a:fld id="{2ED5E29C-7C15-4788-84B6-3E3248B15906}" type="slidenum">
              <a:rPr kumimoji="1" lang="ko-KR" altLang="en-US" b="1">
                <a:solidFill>
                  <a:prstClr val="black"/>
                </a:solidFill>
                <a:latin typeface="굴림" pitchFamily="50" charset="-127"/>
                <a:ea typeface="굴림" pitchFamily="50" charset="-127"/>
              </a:rPr>
              <a:pPr defTabSz="976618" fontAlgn="base" latinLnBrk="1">
                <a:spcBef>
                  <a:spcPct val="0"/>
                </a:spcBef>
                <a:spcAft>
                  <a:spcPct val="0"/>
                </a:spcAft>
                <a:defRPr/>
              </a:pPr>
              <a:t>19</a:t>
            </a:fld>
            <a:endParaRPr kumimoji="1" lang="ko-KR" altLang="en-US" b="1">
              <a:solidFill>
                <a:prstClr val="black"/>
              </a:solidFill>
              <a:latin typeface="굴림" pitchFamily="50" charset="-127"/>
              <a:ea typeface="굴림" pitchFamily="50" charset="-127"/>
            </a:endParaRPr>
          </a:p>
        </p:txBody>
      </p:sp>
    </p:spTree>
    <p:extLst>
      <p:ext uri="{BB962C8B-B14F-4D97-AF65-F5344CB8AC3E}">
        <p14:creationId xmlns:p14="http://schemas.microsoft.com/office/powerpoint/2010/main" val="277180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AEABA7-4459-F6AA-0F2B-850E8C072BBA}"/>
              </a:ext>
            </a:extLst>
          </p:cNvPr>
          <p:cNvSpPr>
            <a:spLocks noGrp="1"/>
          </p:cNvSpPr>
          <p:nvPr>
            <p:ph type="ctrTitle"/>
          </p:nvPr>
        </p:nvSpPr>
        <p:spPr>
          <a:xfrm>
            <a:off x="1238250" y="1122363"/>
            <a:ext cx="7429500" cy="2387600"/>
          </a:xfrm>
        </p:spPr>
        <p:txBody>
          <a:bodyPr anchor="b"/>
          <a:lstStyle>
            <a:lvl1pPr algn="ctr">
              <a:defRPr sz="4875"/>
            </a:lvl1pPr>
          </a:lstStyle>
          <a:p>
            <a:r>
              <a:rPr lang="ko-KR" altLang="en-US"/>
              <a:t>마스터 제목 스타일 편집</a:t>
            </a:r>
          </a:p>
        </p:txBody>
      </p:sp>
      <p:sp>
        <p:nvSpPr>
          <p:cNvPr id="3" name="부제목 2">
            <a:extLst>
              <a:ext uri="{FF2B5EF4-FFF2-40B4-BE49-F238E27FC236}">
                <a16:creationId xmlns:a16="http://schemas.microsoft.com/office/drawing/2014/main" id="{9ACD8B05-3E82-87C8-8507-17237A04D553}"/>
              </a:ext>
            </a:extLst>
          </p:cNvPr>
          <p:cNvSpPr>
            <a:spLocks noGrp="1"/>
          </p:cNvSpPr>
          <p:nvPr>
            <p:ph type="subTitle" idx="1"/>
          </p:nvPr>
        </p:nvSpPr>
        <p:spPr>
          <a:xfrm>
            <a:off x="1238250" y="3602038"/>
            <a:ext cx="74295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11639FC4-56B6-2A62-8F33-4441E9D36FAC}"/>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8792D453-0978-0865-EDEC-3FF6782C8AC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B16E980-B2A9-9FF6-F9C8-8E99B256095E}"/>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46570440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774EDC2-B71B-DAA3-FAF9-576640448F2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93C3FA3E-EDC5-34B1-8402-19984CD2E740}"/>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5420C57-3E1D-7F55-A641-8255A1A0335E}"/>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0560A230-359F-EA54-3D02-C0841A97991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8A694E4-5E2A-284A-9836-F72662646307}"/>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6426873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AFC1706-A955-F629-E1EA-15BCB5570731}"/>
              </a:ext>
            </a:extLst>
          </p:cNvPr>
          <p:cNvSpPr>
            <a:spLocks noGrp="1"/>
          </p:cNvSpPr>
          <p:nvPr>
            <p:ph type="title"/>
          </p:nvPr>
        </p:nvSpPr>
        <p:spPr>
          <a:xfrm>
            <a:off x="675878" y="1709739"/>
            <a:ext cx="8543925" cy="2852737"/>
          </a:xfrm>
        </p:spPr>
        <p:txBody>
          <a:bodyPr anchor="b"/>
          <a:lstStyle>
            <a:lvl1pPr>
              <a:defRPr sz="4875"/>
            </a:lvl1pPr>
          </a:lstStyle>
          <a:p>
            <a:r>
              <a:rPr lang="ko-KR" altLang="en-US"/>
              <a:t>마스터 제목 스타일 편집</a:t>
            </a:r>
          </a:p>
        </p:txBody>
      </p:sp>
      <p:sp>
        <p:nvSpPr>
          <p:cNvPr id="3" name="텍스트 개체 틀 2">
            <a:extLst>
              <a:ext uri="{FF2B5EF4-FFF2-40B4-BE49-F238E27FC236}">
                <a16:creationId xmlns:a16="http://schemas.microsoft.com/office/drawing/2014/main" id="{2BCBC0D2-8684-1C85-0608-5987720489CE}"/>
              </a:ext>
            </a:extLst>
          </p:cNvPr>
          <p:cNvSpPr>
            <a:spLocks noGrp="1"/>
          </p:cNvSpPr>
          <p:nvPr>
            <p:ph type="body" idx="1"/>
          </p:nvPr>
        </p:nvSpPr>
        <p:spPr>
          <a:xfrm>
            <a:off x="675878" y="4589464"/>
            <a:ext cx="8543925" cy="1500187"/>
          </a:xfrm>
        </p:spPr>
        <p:txBody>
          <a:bodyPr/>
          <a:lstStyle>
            <a:lvl1pPr marL="0" indent="0">
              <a:buNone/>
              <a:defRPr sz="1950">
                <a:solidFill>
                  <a:schemeClr val="tx1">
                    <a:tint val="82000"/>
                  </a:schemeClr>
                </a:solidFill>
              </a:defRPr>
            </a:lvl1pPr>
            <a:lvl2pPr marL="371475" indent="0">
              <a:buNone/>
              <a:defRPr sz="1625">
                <a:solidFill>
                  <a:schemeClr val="tx1">
                    <a:tint val="82000"/>
                  </a:schemeClr>
                </a:solidFill>
              </a:defRPr>
            </a:lvl2pPr>
            <a:lvl3pPr marL="742950" indent="0">
              <a:buNone/>
              <a:defRPr sz="1463">
                <a:solidFill>
                  <a:schemeClr val="tx1">
                    <a:tint val="82000"/>
                  </a:schemeClr>
                </a:solidFill>
              </a:defRPr>
            </a:lvl3pPr>
            <a:lvl4pPr marL="1114425" indent="0">
              <a:buNone/>
              <a:defRPr sz="1300">
                <a:solidFill>
                  <a:schemeClr val="tx1">
                    <a:tint val="82000"/>
                  </a:schemeClr>
                </a:solidFill>
              </a:defRPr>
            </a:lvl4pPr>
            <a:lvl5pPr marL="1485900" indent="0">
              <a:buNone/>
              <a:defRPr sz="1300">
                <a:solidFill>
                  <a:schemeClr val="tx1">
                    <a:tint val="82000"/>
                  </a:schemeClr>
                </a:solidFill>
              </a:defRPr>
            </a:lvl5pPr>
            <a:lvl6pPr marL="1857375" indent="0">
              <a:buNone/>
              <a:defRPr sz="1300">
                <a:solidFill>
                  <a:schemeClr val="tx1">
                    <a:tint val="82000"/>
                  </a:schemeClr>
                </a:solidFill>
              </a:defRPr>
            </a:lvl6pPr>
            <a:lvl7pPr marL="2228850" indent="0">
              <a:buNone/>
              <a:defRPr sz="1300">
                <a:solidFill>
                  <a:schemeClr val="tx1">
                    <a:tint val="82000"/>
                  </a:schemeClr>
                </a:solidFill>
              </a:defRPr>
            </a:lvl7pPr>
            <a:lvl8pPr marL="2600325" indent="0">
              <a:buNone/>
              <a:defRPr sz="1300">
                <a:solidFill>
                  <a:schemeClr val="tx1">
                    <a:tint val="82000"/>
                  </a:schemeClr>
                </a:solidFill>
              </a:defRPr>
            </a:lvl8pPr>
            <a:lvl9pPr marL="2971800" indent="0">
              <a:buNone/>
              <a:defRPr sz="13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9044C33-F985-53B8-4816-5F7ABCDE7BCD}"/>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884519FD-8FE1-ED21-BF12-F82F9AFD32E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5B6A7A1-1309-5163-2F6E-2C6363D51334}"/>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409774955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C5A4331-48FE-C3B2-6DC5-E42F2393252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97010272-ECAC-D42D-1F0F-806F14DDD685}"/>
              </a:ext>
            </a:extLst>
          </p:cNvPr>
          <p:cNvSpPr>
            <a:spLocks noGrp="1"/>
          </p:cNvSpPr>
          <p:nvPr>
            <p:ph sz="half" idx="1"/>
          </p:nvPr>
        </p:nvSpPr>
        <p:spPr>
          <a:xfrm>
            <a:off x="681038"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6F686077-2C0C-9604-F36B-EE32E007EACC}"/>
              </a:ext>
            </a:extLst>
          </p:cNvPr>
          <p:cNvSpPr>
            <a:spLocks noGrp="1"/>
          </p:cNvSpPr>
          <p:nvPr>
            <p:ph sz="half" idx="2"/>
          </p:nvPr>
        </p:nvSpPr>
        <p:spPr>
          <a:xfrm>
            <a:off x="5014913"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494349A-27B8-6529-3BEF-B26B95130044}"/>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6" name="바닥글 개체 틀 5">
            <a:extLst>
              <a:ext uri="{FF2B5EF4-FFF2-40B4-BE49-F238E27FC236}">
                <a16:creationId xmlns:a16="http://schemas.microsoft.com/office/drawing/2014/main" id="{54971983-DC65-9350-4C03-42424987B3E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69CC0E9-314D-B0C6-B534-F1B00F444DF4}"/>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97436040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5865679-49F3-47EC-48C9-3F9EF8DD3088}"/>
              </a:ext>
            </a:extLst>
          </p:cNvPr>
          <p:cNvSpPr>
            <a:spLocks noGrp="1"/>
          </p:cNvSpPr>
          <p:nvPr>
            <p:ph type="title"/>
          </p:nvPr>
        </p:nvSpPr>
        <p:spPr>
          <a:xfrm>
            <a:off x="682328" y="365126"/>
            <a:ext cx="8543925"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C1184C9-E108-D137-3911-CAD679A3BC98}"/>
              </a:ext>
            </a:extLst>
          </p:cNvPr>
          <p:cNvSpPr>
            <a:spLocks noGrp="1"/>
          </p:cNvSpPr>
          <p:nvPr>
            <p:ph type="body" idx="1"/>
          </p:nvPr>
        </p:nvSpPr>
        <p:spPr>
          <a:xfrm>
            <a:off x="682328" y="1681163"/>
            <a:ext cx="4190702"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958D78F-84A0-36D2-4B01-36459D009738}"/>
              </a:ext>
            </a:extLst>
          </p:cNvPr>
          <p:cNvSpPr>
            <a:spLocks noGrp="1"/>
          </p:cNvSpPr>
          <p:nvPr>
            <p:ph sz="half" idx="2"/>
          </p:nvPr>
        </p:nvSpPr>
        <p:spPr>
          <a:xfrm>
            <a:off x="682328" y="2505075"/>
            <a:ext cx="4190702"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721A4EC-56C2-D253-24AD-5DFD15BB0BD9}"/>
              </a:ext>
            </a:extLst>
          </p:cNvPr>
          <p:cNvSpPr>
            <a:spLocks noGrp="1"/>
          </p:cNvSpPr>
          <p:nvPr>
            <p:ph type="body" sz="quarter" idx="3"/>
          </p:nvPr>
        </p:nvSpPr>
        <p:spPr>
          <a:xfrm>
            <a:off x="5014913" y="1681163"/>
            <a:ext cx="4211340"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271D86F-3AB6-7E90-651E-17FD91B01413}"/>
              </a:ext>
            </a:extLst>
          </p:cNvPr>
          <p:cNvSpPr>
            <a:spLocks noGrp="1"/>
          </p:cNvSpPr>
          <p:nvPr>
            <p:ph sz="quarter" idx="4"/>
          </p:nvPr>
        </p:nvSpPr>
        <p:spPr>
          <a:xfrm>
            <a:off x="5014913" y="2505075"/>
            <a:ext cx="4211340"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60658F5-14A6-3BF2-0620-8FF89F3EF2B0}"/>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8" name="바닥글 개체 틀 7">
            <a:extLst>
              <a:ext uri="{FF2B5EF4-FFF2-40B4-BE49-F238E27FC236}">
                <a16:creationId xmlns:a16="http://schemas.microsoft.com/office/drawing/2014/main" id="{4F2230B2-0430-83AD-38A5-DEC5668BE50A}"/>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4AB767A-C451-B987-CB1A-1DD1BC4745BD}"/>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207480422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90517A5-94EE-467E-F95A-B6C76B2D6AD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9DE7B11B-E92E-E952-034F-543D10F3DF2A}"/>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4" name="바닥글 개체 틀 3">
            <a:extLst>
              <a:ext uri="{FF2B5EF4-FFF2-40B4-BE49-F238E27FC236}">
                <a16:creationId xmlns:a16="http://schemas.microsoft.com/office/drawing/2014/main" id="{D25CFA0B-A732-C389-8570-2AA2386B64D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EBECE896-BD28-B3A7-2AC5-52D50BFB5096}"/>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70270708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D4765754-3523-7DD1-3718-27C103B6DD85}"/>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3" name="바닥글 개체 틀 2">
            <a:extLst>
              <a:ext uri="{FF2B5EF4-FFF2-40B4-BE49-F238E27FC236}">
                <a16:creationId xmlns:a16="http://schemas.microsoft.com/office/drawing/2014/main" id="{BB50021D-C82D-116D-EA31-6DF434CE9B4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8B3116D0-5BF8-5C3D-2C79-742D7EFA1134}"/>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66077910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D32C388-691D-3572-89B7-E6786BECEA9D}"/>
              </a:ext>
            </a:extLst>
          </p:cNvPr>
          <p:cNvSpPr>
            <a:spLocks noGrp="1"/>
          </p:cNvSpPr>
          <p:nvPr>
            <p:ph type="title"/>
          </p:nvPr>
        </p:nvSpPr>
        <p:spPr>
          <a:xfrm>
            <a:off x="682328" y="457200"/>
            <a:ext cx="3194943" cy="1600200"/>
          </a:xfrm>
        </p:spPr>
        <p:txBody>
          <a:bodyPr anchor="b"/>
          <a:lstStyle>
            <a:lvl1pPr>
              <a:defRPr sz="2600"/>
            </a:lvl1pPr>
          </a:lstStyle>
          <a:p>
            <a:r>
              <a:rPr lang="ko-KR" altLang="en-US"/>
              <a:t>마스터 제목 스타일 편집</a:t>
            </a:r>
          </a:p>
        </p:txBody>
      </p:sp>
      <p:sp>
        <p:nvSpPr>
          <p:cNvPr id="3" name="내용 개체 틀 2">
            <a:extLst>
              <a:ext uri="{FF2B5EF4-FFF2-40B4-BE49-F238E27FC236}">
                <a16:creationId xmlns:a16="http://schemas.microsoft.com/office/drawing/2014/main" id="{3D22DE18-895D-6280-4566-A683B82A2690}"/>
              </a:ext>
            </a:extLst>
          </p:cNvPr>
          <p:cNvSpPr>
            <a:spLocks noGrp="1"/>
          </p:cNvSpPr>
          <p:nvPr>
            <p:ph idx="1"/>
          </p:nvPr>
        </p:nvSpPr>
        <p:spPr>
          <a:xfrm>
            <a:off x="4211340" y="987426"/>
            <a:ext cx="5014913" cy="4873625"/>
          </a:xfrm>
        </p:spPr>
        <p:txBody>
          <a:bodyPr/>
          <a:lstStyle>
            <a:lvl1pPr>
              <a:defRPr sz="2600"/>
            </a:lvl1pPr>
            <a:lvl2pPr>
              <a:defRPr sz="2275"/>
            </a:lvl2pPr>
            <a:lvl3pPr>
              <a:defRPr sz="1950"/>
            </a:lvl3pPr>
            <a:lvl4pPr>
              <a:defRPr sz="1625"/>
            </a:lvl4pPr>
            <a:lvl5pPr>
              <a:defRPr sz="1625"/>
            </a:lvl5pPr>
            <a:lvl6pPr>
              <a:defRPr sz="1625"/>
            </a:lvl6pPr>
            <a:lvl7pPr>
              <a:defRPr sz="1625"/>
            </a:lvl7pPr>
            <a:lvl8pPr>
              <a:defRPr sz="1625"/>
            </a:lvl8pPr>
            <a:lvl9pPr>
              <a:defRPr sz="1625"/>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4D67912C-0F05-1D23-9231-948F4C70FAE9}"/>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E383CBC7-AE65-D7E8-E391-7ACD30E2244A}"/>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6" name="바닥글 개체 틀 5">
            <a:extLst>
              <a:ext uri="{FF2B5EF4-FFF2-40B4-BE49-F238E27FC236}">
                <a16:creationId xmlns:a16="http://schemas.microsoft.com/office/drawing/2014/main" id="{FF238353-53A6-C991-9F78-080ED270BD6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AB61ACD-2F96-7649-FD6D-1EA9EAF4B850}"/>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92542682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7FEACD6-BB7D-7965-1E27-F66C8E2FEDFC}"/>
              </a:ext>
            </a:extLst>
          </p:cNvPr>
          <p:cNvSpPr>
            <a:spLocks noGrp="1"/>
          </p:cNvSpPr>
          <p:nvPr>
            <p:ph type="title"/>
          </p:nvPr>
        </p:nvSpPr>
        <p:spPr>
          <a:xfrm>
            <a:off x="682328" y="457200"/>
            <a:ext cx="3194943" cy="1600200"/>
          </a:xfrm>
        </p:spPr>
        <p:txBody>
          <a:bodyPr anchor="b"/>
          <a:lstStyle>
            <a:lvl1pPr>
              <a:defRPr sz="2600"/>
            </a:lvl1pPr>
          </a:lstStyle>
          <a:p>
            <a:r>
              <a:rPr lang="ko-KR" altLang="en-US"/>
              <a:t>마스터 제목 스타일 편집</a:t>
            </a:r>
          </a:p>
        </p:txBody>
      </p:sp>
      <p:sp>
        <p:nvSpPr>
          <p:cNvPr id="3" name="그림 개체 틀 2">
            <a:extLst>
              <a:ext uri="{FF2B5EF4-FFF2-40B4-BE49-F238E27FC236}">
                <a16:creationId xmlns:a16="http://schemas.microsoft.com/office/drawing/2014/main" id="{0717EFFF-F7C3-1EF3-B69C-4D0F9348D8FC}"/>
              </a:ext>
            </a:extLst>
          </p:cNvPr>
          <p:cNvSpPr>
            <a:spLocks noGrp="1"/>
          </p:cNvSpPr>
          <p:nvPr>
            <p:ph type="pic" idx="1"/>
          </p:nvPr>
        </p:nvSpPr>
        <p:spPr>
          <a:xfrm>
            <a:off x="4211340" y="987426"/>
            <a:ext cx="5014913" cy="4873625"/>
          </a:xfrm>
        </p:spPr>
        <p:txBody>
          <a:bodyPr/>
          <a:lstStyle>
            <a:lvl1pPr marL="0" indent="0">
              <a:buNone/>
              <a:defRPr sz="2600"/>
            </a:lvl1pPr>
            <a:lvl2pPr marL="371475" indent="0">
              <a:buNone/>
              <a:defRPr sz="2275"/>
            </a:lvl2pPr>
            <a:lvl3pPr marL="742950" indent="0">
              <a:buNone/>
              <a:defRPr sz="1950"/>
            </a:lvl3pPr>
            <a:lvl4pPr marL="1114425" indent="0">
              <a:buNone/>
              <a:defRPr sz="1625"/>
            </a:lvl4pPr>
            <a:lvl5pPr marL="1485900" indent="0">
              <a:buNone/>
              <a:defRPr sz="1625"/>
            </a:lvl5pPr>
            <a:lvl6pPr marL="1857375" indent="0">
              <a:buNone/>
              <a:defRPr sz="1625"/>
            </a:lvl6pPr>
            <a:lvl7pPr marL="2228850" indent="0">
              <a:buNone/>
              <a:defRPr sz="1625"/>
            </a:lvl7pPr>
            <a:lvl8pPr marL="2600325" indent="0">
              <a:buNone/>
              <a:defRPr sz="1625"/>
            </a:lvl8pPr>
            <a:lvl9pPr marL="2971800" indent="0">
              <a:buNone/>
              <a:defRPr sz="1625"/>
            </a:lvl9pPr>
          </a:lstStyle>
          <a:p>
            <a:endParaRPr lang="ko-KR" altLang="en-US"/>
          </a:p>
        </p:txBody>
      </p:sp>
      <p:sp>
        <p:nvSpPr>
          <p:cNvPr id="4" name="텍스트 개체 틀 3">
            <a:extLst>
              <a:ext uri="{FF2B5EF4-FFF2-40B4-BE49-F238E27FC236}">
                <a16:creationId xmlns:a16="http://schemas.microsoft.com/office/drawing/2014/main" id="{67051AAF-D132-5884-A113-515C6B2B3583}"/>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D76581A1-F007-9DD4-6B2B-9913F113F0D0}"/>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6" name="바닥글 개체 틀 5">
            <a:extLst>
              <a:ext uri="{FF2B5EF4-FFF2-40B4-BE49-F238E27FC236}">
                <a16:creationId xmlns:a16="http://schemas.microsoft.com/office/drawing/2014/main" id="{E650EB31-5310-2565-D06C-BD9E70F6373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947A786-23F3-FE49-7E28-BB9D82084539}"/>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27988747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4B34C42-67D5-9D2C-32F9-9A515915E72E}"/>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1DF0DC48-2EFC-6ECF-9DF5-1D2723284D5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680781B-C368-7D1C-D33B-FFB9F71E2D00}"/>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BB6541CC-AC3E-CD9A-B482-243C8E5BC6A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1EC1E74-D554-0D35-96DA-302D3BB4491B}"/>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136635375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04F7BE68-C529-AB22-D0E2-FA30431DA528}"/>
              </a:ext>
            </a:extLst>
          </p:cNvPr>
          <p:cNvSpPr>
            <a:spLocks noGrp="1"/>
          </p:cNvSpPr>
          <p:nvPr>
            <p:ph type="title" orient="vert"/>
          </p:nvPr>
        </p:nvSpPr>
        <p:spPr>
          <a:xfrm>
            <a:off x="7088981" y="365125"/>
            <a:ext cx="2135981"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DADEE552-4B3C-870C-3341-2F717B63DE2A}"/>
              </a:ext>
            </a:extLst>
          </p:cNvPr>
          <p:cNvSpPr>
            <a:spLocks noGrp="1"/>
          </p:cNvSpPr>
          <p:nvPr>
            <p:ph type="body" orient="vert" idx="1"/>
          </p:nvPr>
        </p:nvSpPr>
        <p:spPr>
          <a:xfrm>
            <a:off x="681037" y="365125"/>
            <a:ext cx="6284119"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F645526-006C-A262-A4A2-1D197A6C27F3}"/>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A941434F-8086-D921-1DB9-220CBDE7BFA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0EA253E-3648-DF31-4F83-827BB636D9CC}"/>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06987663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Warm Sand_">
    <p:spTree>
      <p:nvGrpSpPr>
        <p:cNvPr id="1" name=""/>
        <p:cNvGrpSpPr/>
        <p:nvPr/>
      </p:nvGrpSpPr>
      <p:grpSpPr>
        <a:xfrm>
          <a:off x="0" y="0"/>
          <a:ext cx="0" cy="0"/>
          <a:chOff x="0" y="0"/>
          <a:chExt cx="0" cy="0"/>
        </a:xfrm>
      </p:grpSpPr>
      <p:sp>
        <p:nvSpPr>
          <p:cNvPr id="4" name="Rechteck 3"/>
          <p:cNvSpPr/>
          <p:nvPr userDrawn="1"/>
        </p:nvSpPr>
        <p:spPr>
          <a:xfrm>
            <a:off x="0" y="0"/>
            <a:ext cx="9906000" cy="6858000"/>
          </a:xfrm>
          <a:prstGeom prst="rect">
            <a:avLst/>
          </a:prstGeom>
          <a:solidFill>
            <a:srgbClr val="E4DCD3"/>
          </a:solidFill>
          <a:ln>
            <a:noFill/>
          </a:ln>
        </p:spPr>
        <p:style>
          <a:lnRef idx="1">
            <a:schemeClr val="accent1"/>
          </a:lnRef>
          <a:fillRef idx="3">
            <a:schemeClr val="accent1"/>
          </a:fillRef>
          <a:effectRef idx="2">
            <a:schemeClr val="accent1"/>
          </a:effectRef>
          <a:fontRef idx="minor">
            <a:schemeClr val="lt1"/>
          </a:fontRef>
        </p:style>
        <p:txBody>
          <a:bodyPr lIns="94587" tIns="47294" rIns="94587" bIns="47294" rtlCol="0" anchor="ctr"/>
          <a:lstStyle/>
          <a:p>
            <a:pPr marL="0" marR="0" lvl="0" indent="0" algn="ctr" defTabSz="472942" rtl="0" eaLnBrk="1" fontAlgn="auto" latinLnBrk="0" hangingPunct="1">
              <a:lnSpc>
                <a:spcPct val="100000"/>
              </a:lnSpc>
              <a:spcBef>
                <a:spcPts val="0"/>
              </a:spcBef>
              <a:spcAft>
                <a:spcPts val="0"/>
              </a:spcAft>
              <a:buClrTx/>
              <a:buSzTx/>
              <a:buFontTx/>
              <a:buNone/>
              <a:tabLst/>
              <a:defRPr/>
            </a:pPr>
            <a:endParaRPr kumimoji="0" lang="de-DE" sz="1905" b="0" i="0" u="none" strike="noStrike" kern="1200" cap="none" spc="0" normalizeH="0" baseline="0" noProof="0" dirty="0">
              <a:ln>
                <a:noFill/>
              </a:ln>
              <a:solidFill>
                <a:prstClr val="white"/>
              </a:solidFill>
              <a:effectLst/>
              <a:uLnTx/>
              <a:uFillTx/>
              <a:latin typeface="현대산스 Head" panose="020B0600000101010101" pitchFamily="50" charset="-127"/>
              <a:ea typeface="현대산스 Head" panose="020B0600000101010101" pitchFamily="50" charset="-127"/>
              <a:cs typeface="+mn-cs"/>
            </a:endParaRPr>
          </a:p>
        </p:txBody>
      </p:sp>
      <p:sp>
        <p:nvSpPr>
          <p:cNvPr id="8" name="Rechteck 7"/>
          <p:cNvSpPr/>
          <p:nvPr userDrawn="1"/>
        </p:nvSpPr>
        <p:spPr>
          <a:xfrm>
            <a:off x="333492" y="1"/>
            <a:ext cx="9237720" cy="5812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4587" tIns="47294" rIns="94587" bIns="47294" rtlCol="0" anchor="ctr"/>
          <a:lstStyle/>
          <a:p>
            <a:pPr marL="0" marR="0" lvl="0" indent="0" algn="ctr" defTabSz="472942" rtl="0" eaLnBrk="1" fontAlgn="auto" latinLnBrk="0" hangingPunct="1">
              <a:lnSpc>
                <a:spcPct val="100000"/>
              </a:lnSpc>
              <a:spcBef>
                <a:spcPts val="0"/>
              </a:spcBef>
              <a:spcAft>
                <a:spcPts val="0"/>
              </a:spcAft>
              <a:buClrTx/>
              <a:buSzTx/>
              <a:buFontTx/>
              <a:buNone/>
              <a:tabLst/>
              <a:defRPr/>
            </a:pPr>
            <a:endParaRPr kumimoji="0" lang="de-DE" sz="1905" b="0" i="0" u="none" strike="noStrike" kern="1200" cap="none" spc="0" normalizeH="0" baseline="0" noProof="0" dirty="0">
              <a:ln>
                <a:noFill/>
              </a:ln>
              <a:solidFill>
                <a:prstClr val="white"/>
              </a:solidFill>
              <a:effectLst/>
              <a:uLnTx/>
              <a:uFillTx/>
              <a:latin typeface="현대산스 Head" panose="020B0600000101010101" pitchFamily="50" charset="-127"/>
              <a:ea typeface="현대산스 Head" panose="020B0600000101010101" pitchFamily="50" charset="-127"/>
              <a:cs typeface="+mn-cs"/>
            </a:endParaRPr>
          </a:p>
        </p:txBody>
      </p:sp>
      <p:sp>
        <p:nvSpPr>
          <p:cNvPr id="2" name="Titel 1"/>
          <p:cNvSpPr>
            <a:spLocks noGrp="1"/>
          </p:cNvSpPr>
          <p:nvPr>
            <p:ph type="ctrTitle" hasCustomPrompt="1"/>
          </p:nvPr>
        </p:nvSpPr>
        <p:spPr>
          <a:xfrm>
            <a:off x="660314" y="1359127"/>
            <a:ext cx="8337292" cy="446444"/>
          </a:xfrm>
          <a:prstGeom prst="rect">
            <a:avLst/>
          </a:prstGeom>
        </p:spPr>
        <p:txBody>
          <a:bodyPr>
            <a:noAutofit/>
          </a:bodyPr>
          <a:lstStyle>
            <a:lvl1pPr>
              <a:lnSpc>
                <a:spcPts val="4148"/>
              </a:lnSpc>
              <a:defRPr sz="3265" baseline="0">
                <a:latin typeface="+mj-lt"/>
              </a:defRPr>
            </a:lvl1pPr>
          </a:lstStyle>
          <a:p>
            <a:r>
              <a:rPr lang="en-US" noProof="0" dirty="0"/>
              <a:t>Standard title headline</a:t>
            </a:r>
          </a:p>
        </p:txBody>
      </p:sp>
      <p:sp>
        <p:nvSpPr>
          <p:cNvPr id="11" name="Untertitel 2"/>
          <p:cNvSpPr>
            <a:spLocks noGrp="1"/>
          </p:cNvSpPr>
          <p:nvPr>
            <p:ph type="subTitle" idx="1" hasCustomPrompt="1"/>
          </p:nvPr>
        </p:nvSpPr>
        <p:spPr>
          <a:xfrm>
            <a:off x="666984" y="2555269"/>
            <a:ext cx="8336617" cy="212236"/>
          </a:xfrm>
          <a:prstGeom prst="rect">
            <a:avLst/>
          </a:prstGeom>
        </p:spPr>
        <p:txBody>
          <a:bodyPr>
            <a:noAutofit/>
          </a:bodyPr>
          <a:lstStyle>
            <a:lvl1pPr marL="0" indent="0" algn="l">
              <a:spcBef>
                <a:spcPts val="0"/>
              </a:spcBef>
              <a:buNone/>
              <a:defRPr sz="1088" b="0">
                <a:solidFill>
                  <a:srgbClr val="000000"/>
                </a:solidFill>
                <a:latin typeface="+mn-lt"/>
                <a:ea typeface="현대산스 Head" panose="020B0600000101010101" pitchFamily="50" charset="-127"/>
              </a:defRPr>
            </a:lvl1pPr>
            <a:lvl2pPr marL="472942" indent="0" algn="ctr">
              <a:buNone/>
              <a:defRPr>
                <a:solidFill>
                  <a:schemeClr val="tx1">
                    <a:tint val="75000"/>
                  </a:schemeClr>
                </a:solidFill>
              </a:defRPr>
            </a:lvl2pPr>
            <a:lvl3pPr marL="945885" indent="0" algn="ctr">
              <a:buNone/>
              <a:defRPr>
                <a:solidFill>
                  <a:schemeClr val="tx1">
                    <a:tint val="75000"/>
                  </a:schemeClr>
                </a:solidFill>
              </a:defRPr>
            </a:lvl3pPr>
            <a:lvl4pPr marL="1418827" indent="0" algn="ctr">
              <a:buNone/>
              <a:defRPr>
                <a:solidFill>
                  <a:schemeClr val="tx1">
                    <a:tint val="75000"/>
                  </a:schemeClr>
                </a:solidFill>
              </a:defRPr>
            </a:lvl4pPr>
            <a:lvl5pPr marL="1891770" indent="0" algn="ctr">
              <a:buNone/>
              <a:defRPr>
                <a:solidFill>
                  <a:schemeClr val="tx1">
                    <a:tint val="75000"/>
                  </a:schemeClr>
                </a:solidFill>
              </a:defRPr>
            </a:lvl5pPr>
            <a:lvl6pPr marL="2364711" indent="0" algn="ctr">
              <a:buNone/>
              <a:defRPr>
                <a:solidFill>
                  <a:schemeClr val="tx1">
                    <a:tint val="75000"/>
                  </a:schemeClr>
                </a:solidFill>
              </a:defRPr>
            </a:lvl6pPr>
            <a:lvl7pPr marL="2837655" indent="0" algn="ctr">
              <a:buNone/>
              <a:defRPr>
                <a:solidFill>
                  <a:schemeClr val="tx1">
                    <a:tint val="75000"/>
                  </a:schemeClr>
                </a:solidFill>
              </a:defRPr>
            </a:lvl7pPr>
            <a:lvl8pPr marL="3310597" indent="0" algn="ctr">
              <a:buNone/>
              <a:defRPr>
                <a:solidFill>
                  <a:schemeClr val="tx1">
                    <a:tint val="75000"/>
                  </a:schemeClr>
                </a:solidFill>
              </a:defRPr>
            </a:lvl8pPr>
            <a:lvl9pPr marL="3783539" indent="0" algn="ctr">
              <a:buNone/>
              <a:defRPr>
                <a:solidFill>
                  <a:schemeClr val="tx1">
                    <a:tint val="75000"/>
                  </a:schemeClr>
                </a:solidFill>
              </a:defRPr>
            </a:lvl9pPr>
          </a:lstStyle>
          <a:p>
            <a:r>
              <a:rPr lang="en-US" noProof="0" dirty="0"/>
              <a:t>Month DD, YY</a:t>
            </a:r>
          </a:p>
        </p:txBody>
      </p:sp>
      <p:sp>
        <p:nvSpPr>
          <p:cNvPr id="9" name="Textplatzhalter 4"/>
          <p:cNvSpPr>
            <a:spLocks noGrp="1"/>
          </p:cNvSpPr>
          <p:nvPr>
            <p:ph type="body" sz="quarter" idx="15" hasCustomPrompt="1"/>
          </p:nvPr>
        </p:nvSpPr>
        <p:spPr>
          <a:xfrm>
            <a:off x="660314" y="1814210"/>
            <a:ext cx="8337292" cy="414676"/>
          </a:xfrm>
          <a:prstGeom prst="rect">
            <a:avLst/>
          </a:prstGeom>
        </p:spPr>
        <p:txBody>
          <a:bodyPr anchor="ctr">
            <a:noAutofit/>
          </a:bodyPr>
          <a:lstStyle>
            <a:lvl1pPr>
              <a:lnSpc>
                <a:spcPts val="4148"/>
              </a:lnSpc>
              <a:spcBef>
                <a:spcPts val="0"/>
              </a:spcBef>
              <a:defRPr sz="2540" b="0" baseline="0">
                <a:latin typeface="+mn-lt"/>
                <a:ea typeface="현대산스 Head" panose="020B0600000101010101" pitchFamily="50" charset="-127"/>
              </a:defRPr>
            </a:lvl1pPr>
          </a:lstStyle>
          <a:p>
            <a:pPr lvl="0"/>
            <a:r>
              <a:rPr lang="en-US" noProof="0" dirty="0"/>
              <a:t>Optional second line</a:t>
            </a:r>
          </a:p>
        </p:txBody>
      </p:sp>
    </p:spTree>
    <p:extLst>
      <p:ext uri="{BB962C8B-B14F-4D97-AF65-F5344CB8AC3E}">
        <p14:creationId xmlns:p14="http://schemas.microsoft.com/office/powerpoint/2010/main" val="32112401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grpSp>
        <p:nvGrpSpPr>
          <p:cNvPr id="4" name="Group 9"/>
          <p:cNvGrpSpPr>
            <a:grpSpLocks/>
          </p:cNvGrpSpPr>
          <p:nvPr userDrawn="1"/>
        </p:nvGrpSpPr>
        <p:grpSpPr bwMode="auto">
          <a:xfrm>
            <a:off x="273050" y="703263"/>
            <a:ext cx="9359900" cy="277812"/>
            <a:chOff x="329" y="1821"/>
            <a:chExt cx="6071" cy="0"/>
          </a:xfrm>
        </p:grpSpPr>
        <p:sp>
          <p:nvSpPr>
            <p:cNvPr id="5" name="Line 10"/>
            <p:cNvSpPr>
              <a:spLocks noChangeShapeType="1"/>
            </p:cNvSpPr>
            <p:nvPr/>
          </p:nvSpPr>
          <p:spPr bwMode="auto">
            <a:xfrm>
              <a:off x="329" y="1821"/>
              <a:ext cx="4534" cy="0"/>
            </a:xfrm>
            <a:prstGeom prst="line">
              <a:avLst/>
            </a:prstGeom>
            <a:noFill/>
            <a:ln w="25400">
              <a:solidFill>
                <a:srgbClr val="AEAEAE"/>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
          <p:nvSpPr>
            <p:cNvPr id="6" name="Line 11"/>
            <p:cNvSpPr>
              <a:spLocks noChangeShapeType="1"/>
            </p:cNvSpPr>
            <p:nvPr/>
          </p:nvSpPr>
          <p:spPr bwMode="auto">
            <a:xfrm>
              <a:off x="4925" y="1821"/>
              <a:ext cx="1475" cy="0"/>
            </a:xfrm>
            <a:prstGeom prst="line">
              <a:avLst/>
            </a:prstGeom>
            <a:noFill/>
            <a:ln w="25400">
              <a:solidFill>
                <a:srgbClr val="AEAEAE"/>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grpSp>
      <p:sp>
        <p:nvSpPr>
          <p:cNvPr id="11" name="제목 1"/>
          <p:cNvSpPr>
            <a:spLocks noGrp="1"/>
          </p:cNvSpPr>
          <p:nvPr>
            <p:ph type="ctrTitle"/>
          </p:nvPr>
        </p:nvSpPr>
        <p:spPr>
          <a:xfrm>
            <a:off x="454918" y="116632"/>
            <a:ext cx="6730330" cy="506486"/>
          </a:xfrm>
        </p:spPr>
        <p:txBody>
          <a:bodyPr/>
          <a:lstStyle>
            <a:lvl1pPr algn="l">
              <a:defRPr sz="2600">
                <a:latin typeface="현대하모니 M" pitchFamily="18" charset="-127"/>
                <a:ea typeface="현대하모니 M" pitchFamily="18" charset="-127"/>
              </a:defRPr>
            </a:lvl1pPr>
          </a:lstStyle>
          <a:p>
            <a:r>
              <a:rPr lang="ko-KR" altLang="en-US"/>
              <a:t>마스터 제목 스타일 편집</a:t>
            </a:r>
          </a:p>
        </p:txBody>
      </p:sp>
      <p:sp>
        <p:nvSpPr>
          <p:cNvPr id="12" name="부제목 2"/>
          <p:cNvSpPr>
            <a:spLocks noGrp="1"/>
          </p:cNvSpPr>
          <p:nvPr>
            <p:ph type="subTitle" idx="1"/>
          </p:nvPr>
        </p:nvSpPr>
        <p:spPr>
          <a:xfrm>
            <a:off x="590550" y="980728"/>
            <a:ext cx="3146274" cy="360040"/>
          </a:xfrm>
        </p:spPr>
        <p:txBody>
          <a:bodyPr/>
          <a:lstStyle>
            <a:lvl1pPr marL="0" indent="0" algn="l">
              <a:buNone/>
              <a:defRPr sz="1600">
                <a:solidFill>
                  <a:schemeClr val="tx1">
                    <a:tint val="75000"/>
                  </a:schemeClr>
                </a:solidFill>
                <a:latin typeface="현대하모니 M" pitchFamily="18" charset="-127"/>
                <a:ea typeface="현대하모니 M" pitchFamily="18" charset="-127"/>
              </a:defRPr>
            </a:lvl1pPr>
            <a:lvl2pPr marL="478919" indent="0" algn="ctr">
              <a:buNone/>
              <a:defRPr>
                <a:solidFill>
                  <a:schemeClr val="tx1">
                    <a:tint val="75000"/>
                  </a:schemeClr>
                </a:solidFill>
              </a:defRPr>
            </a:lvl2pPr>
            <a:lvl3pPr marL="957838" indent="0" algn="ctr">
              <a:buNone/>
              <a:defRPr>
                <a:solidFill>
                  <a:schemeClr val="tx1">
                    <a:tint val="75000"/>
                  </a:schemeClr>
                </a:solidFill>
              </a:defRPr>
            </a:lvl3pPr>
            <a:lvl4pPr marL="1436757" indent="0" algn="ctr">
              <a:buNone/>
              <a:defRPr>
                <a:solidFill>
                  <a:schemeClr val="tx1">
                    <a:tint val="75000"/>
                  </a:schemeClr>
                </a:solidFill>
              </a:defRPr>
            </a:lvl4pPr>
            <a:lvl5pPr marL="1915677" indent="0" algn="ctr">
              <a:buNone/>
              <a:defRPr>
                <a:solidFill>
                  <a:schemeClr val="tx1">
                    <a:tint val="75000"/>
                  </a:schemeClr>
                </a:solidFill>
              </a:defRPr>
            </a:lvl5pPr>
            <a:lvl6pPr marL="2394596" indent="0" algn="ctr">
              <a:buNone/>
              <a:defRPr>
                <a:solidFill>
                  <a:schemeClr val="tx1">
                    <a:tint val="75000"/>
                  </a:schemeClr>
                </a:solidFill>
              </a:defRPr>
            </a:lvl6pPr>
            <a:lvl7pPr marL="2873515" indent="0" algn="ctr">
              <a:buNone/>
              <a:defRPr>
                <a:solidFill>
                  <a:schemeClr val="tx1">
                    <a:tint val="75000"/>
                  </a:schemeClr>
                </a:solidFill>
              </a:defRPr>
            </a:lvl7pPr>
            <a:lvl8pPr marL="3352434" indent="0" algn="ctr">
              <a:buNone/>
              <a:defRPr>
                <a:solidFill>
                  <a:schemeClr val="tx1">
                    <a:tint val="75000"/>
                  </a:schemeClr>
                </a:solidFill>
              </a:defRPr>
            </a:lvl8pPr>
            <a:lvl9pPr marL="3831353" indent="0" algn="ctr">
              <a:buNone/>
              <a:defRPr>
                <a:solidFill>
                  <a:schemeClr val="tx1">
                    <a:tint val="75000"/>
                  </a:schemeClr>
                </a:solidFill>
              </a:defRPr>
            </a:lvl9pPr>
          </a:lstStyle>
          <a:p>
            <a:r>
              <a:rPr lang="ko-KR" altLang="en-US"/>
              <a:t>마스터 부제목 스타일 편집</a:t>
            </a:r>
          </a:p>
        </p:txBody>
      </p:sp>
      <p:sp>
        <p:nvSpPr>
          <p:cNvPr id="8" name="슬라이드 번호 개체 틀 5"/>
          <p:cNvSpPr>
            <a:spLocks noGrp="1"/>
          </p:cNvSpPr>
          <p:nvPr>
            <p:ph type="sldNum" sz="quarter" idx="10"/>
          </p:nvPr>
        </p:nvSpPr>
        <p:spPr>
          <a:xfrm>
            <a:off x="9129713" y="328613"/>
            <a:ext cx="495300" cy="363537"/>
          </a:xfrm>
        </p:spPr>
        <p:txBody>
          <a:bodyPr/>
          <a:lstStyle>
            <a:lvl1pPr>
              <a:defRPr sz="1400">
                <a:solidFill>
                  <a:schemeClr val="tx1"/>
                </a:solidFill>
                <a:latin typeface="현대하모니 M" pitchFamily="18" charset="-127"/>
                <a:ea typeface="현대하모니 M" pitchFamily="18" charset="-127"/>
              </a:defRPr>
            </a:lvl1pPr>
          </a:lstStyle>
          <a:p>
            <a:pPr marL="0" marR="0" lvl="0" indent="0" algn="r" defTabSz="957838" rtl="0" eaLnBrk="1" fontAlgn="auto" latinLnBrk="0" hangingPunct="1">
              <a:lnSpc>
                <a:spcPct val="100000"/>
              </a:lnSpc>
              <a:spcBef>
                <a:spcPts val="0"/>
              </a:spcBef>
              <a:spcAft>
                <a:spcPts val="0"/>
              </a:spcAft>
              <a:buClrTx/>
              <a:buSzTx/>
              <a:buFontTx/>
              <a:buNone/>
              <a:tabLst/>
              <a:defRPr/>
            </a:pPr>
            <a:fld id="{E26A353B-F3F7-42E1-A379-45FB515EEBDC}" type="slidenum">
              <a:rPr kumimoji="0" lang="ko-KR" altLang="en-US" sz="1400" b="0" i="0" u="none" strike="noStrike" kern="1200" cap="none" spc="0" normalizeH="0" baseline="0" noProof="0">
                <a:ln>
                  <a:noFill/>
                </a:ln>
                <a:solidFill>
                  <a:prstClr val="black"/>
                </a:solidFill>
                <a:effectLst/>
                <a:uLnTx/>
                <a:uFillTx/>
                <a:latin typeface="현대하모니 M" pitchFamily="18" charset="-127"/>
                <a:ea typeface="현대하모니 M" pitchFamily="18" charset="-127"/>
                <a:cs typeface="+mn-cs"/>
              </a:rPr>
              <a:pPr marL="0" marR="0" lvl="0" indent="0" algn="r" defTabSz="957838" rtl="0" eaLnBrk="1" fontAlgn="auto" latinLnBrk="0" hangingPunct="1">
                <a:lnSpc>
                  <a:spcPct val="100000"/>
                </a:lnSpc>
                <a:spcBef>
                  <a:spcPts val="0"/>
                </a:spcBef>
                <a:spcAft>
                  <a:spcPts val="0"/>
                </a:spcAft>
                <a:buClrTx/>
                <a:buSzTx/>
                <a:buFontTx/>
                <a:buNone/>
                <a:tabLst/>
                <a:defRPr/>
              </a:pPr>
              <a:t>‹#›</a:t>
            </a:fld>
            <a:endParaRPr kumimoji="0" lang="ko-KR" altLang="en-US" sz="1400" b="0" i="0" u="none" strike="noStrike" kern="1200" cap="none" spc="0" normalizeH="0" baseline="0" noProof="0">
              <a:ln>
                <a:noFill/>
              </a:ln>
              <a:solidFill>
                <a:prstClr val="black"/>
              </a:solidFill>
              <a:effectLst/>
              <a:uLnTx/>
              <a:uFillTx/>
              <a:latin typeface="현대하모니 M" pitchFamily="18" charset="-127"/>
              <a:ea typeface="현대하모니 M" pitchFamily="18" charset="-127"/>
              <a:cs typeface="+mn-cs"/>
            </a:endParaRPr>
          </a:p>
        </p:txBody>
      </p:sp>
    </p:spTree>
    <p:extLst>
      <p:ext uri="{BB962C8B-B14F-4D97-AF65-F5344CB8AC3E}">
        <p14:creationId xmlns:p14="http://schemas.microsoft.com/office/powerpoint/2010/main" val="1519602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8A544DD-ADCD-0D9A-1300-29181BCC7438}"/>
              </a:ext>
            </a:extLst>
          </p:cNvPr>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129BF29-21BD-3813-4EDC-592426FEC6E3}"/>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CA081AA-AA7F-BFAA-C90A-A826219F29DA}"/>
              </a:ext>
            </a:extLst>
          </p:cNvPr>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975">
                <a:solidFill>
                  <a:schemeClr val="tx1">
                    <a:tint val="82000"/>
                  </a:schemeClr>
                </a:solidFill>
              </a:defRPr>
            </a:lvl1p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125444C7-B5C6-76E4-BA24-A5A6749FDADB}"/>
              </a:ext>
            </a:extLst>
          </p:cNvPr>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975">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E4E16C6-76FF-3E4D-4EAF-B98A8432FDBC}"/>
              </a:ext>
            </a:extLst>
          </p:cNvPr>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975">
                <a:solidFill>
                  <a:schemeClr val="tx1">
                    <a:tint val="82000"/>
                  </a:schemeClr>
                </a:solidFill>
              </a:defRPr>
            </a:lvl1pPr>
          </a:lstStyle>
          <a:p>
            <a:fld id="{8E7DB7CA-0840-4211-AB7C-3EA646B9D6BB}" type="slidenum">
              <a:rPr lang="ko-KR" altLang="en-US" smtClean="0"/>
              <a:t>‹#›</a:t>
            </a:fld>
            <a:endParaRPr lang="ko-KR" altLang="en-US"/>
          </a:p>
        </p:txBody>
      </p:sp>
      <p:sp>
        <p:nvSpPr>
          <p:cNvPr id="7" name="PageRef">
            <a:extLst>
              <a:ext uri="{FF2B5EF4-FFF2-40B4-BE49-F238E27FC236}">
                <a16:creationId xmlns:a16="http://schemas.microsoft.com/office/drawing/2014/main" id="{65566CD4-6866-224E-B89D-BB959708931D}"/>
              </a:ext>
            </a:extLst>
          </p:cNvPr>
          <p:cNvSpPr>
            <a:spLocks noChangeArrowheads="1"/>
          </p:cNvSpPr>
          <p:nvPr userDrawn="1"/>
        </p:nvSpPr>
        <p:spPr bwMode="auto">
          <a:xfrm>
            <a:off x="9496947" y="6453554"/>
            <a:ext cx="273050" cy="269876"/>
          </a:xfrm>
          <a:prstGeom prst="rect">
            <a:avLst/>
          </a:prstGeom>
          <a:noFill/>
          <a:ln>
            <a:noFill/>
          </a:ln>
          <a:effectLst/>
        </p:spPr>
        <p:txBody>
          <a:bodyPr lIns="0" tIns="0" rIns="0" bIns="0" anchor="ctr"/>
          <a:lstStyle>
            <a:lvl1pPr eaLnBrk="0" hangingPunct="0">
              <a:defRPr kumimoji="1" sz="1200" b="1">
                <a:solidFill>
                  <a:srgbClr val="000000"/>
                </a:solidFill>
                <a:latin typeface="현대하모니 L" pitchFamily="18" charset="-127"/>
                <a:ea typeface="현대하모니 L" pitchFamily="18" charset="-127"/>
              </a:defRPr>
            </a:lvl1pPr>
            <a:lvl2pPr marL="742950" indent="-285750" eaLnBrk="0" hangingPunct="0">
              <a:defRPr kumimoji="1" sz="1200" b="1">
                <a:solidFill>
                  <a:srgbClr val="000000"/>
                </a:solidFill>
                <a:latin typeface="현대하모니 L" pitchFamily="18" charset="-127"/>
                <a:ea typeface="현대하모니 L" pitchFamily="18" charset="-127"/>
              </a:defRPr>
            </a:lvl2pPr>
            <a:lvl3pPr marL="1143000" indent="-228600" eaLnBrk="0" hangingPunct="0">
              <a:defRPr kumimoji="1" sz="1200" b="1">
                <a:solidFill>
                  <a:srgbClr val="000000"/>
                </a:solidFill>
                <a:latin typeface="현대하모니 L" pitchFamily="18" charset="-127"/>
                <a:ea typeface="현대하모니 L" pitchFamily="18" charset="-127"/>
              </a:defRPr>
            </a:lvl3pPr>
            <a:lvl4pPr marL="1600200" indent="-228600" eaLnBrk="0" hangingPunct="0">
              <a:defRPr kumimoji="1" sz="1200" b="1">
                <a:solidFill>
                  <a:srgbClr val="000000"/>
                </a:solidFill>
                <a:latin typeface="현대하모니 L" pitchFamily="18" charset="-127"/>
                <a:ea typeface="현대하모니 L" pitchFamily="18" charset="-127"/>
              </a:defRPr>
            </a:lvl4pPr>
            <a:lvl5pPr marL="2057400" indent="-228600" eaLnBrk="0" hangingPunct="0">
              <a:defRPr kumimoji="1" sz="1200" b="1">
                <a:solidFill>
                  <a:srgbClr val="000000"/>
                </a:solidFill>
                <a:latin typeface="현대하모니 L" pitchFamily="18" charset="-127"/>
                <a:ea typeface="현대하모니 L" pitchFamily="18" charset="-127"/>
              </a:defRPr>
            </a:lvl5pPr>
            <a:lvl6pPr marL="2514600" indent="-228600" eaLnBrk="0" fontAlgn="base" hangingPunct="0">
              <a:spcBef>
                <a:spcPct val="50000"/>
              </a:spcBef>
              <a:spcAft>
                <a:spcPct val="0"/>
              </a:spcAft>
              <a:buFont typeface="Wingdings" pitchFamily="2" charset="2"/>
              <a:defRPr kumimoji="1" sz="1200" b="1">
                <a:solidFill>
                  <a:srgbClr val="000000"/>
                </a:solidFill>
                <a:latin typeface="현대하모니 L" pitchFamily="18" charset="-127"/>
                <a:ea typeface="현대하모니 L" pitchFamily="18" charset="-127"/>
              </a:defRPr>
            </a:lvl6pPr>
            <a:lvl7pPr marL="2971800" indent="-228600" eaLnBrk="0" fontAlgn="base" hangingPunct="0">
              <a:spcBef>
                <a:spcPct val="50000"/>
              </a:spcBef>
              <a:spcAft>
                <a:spcPct val="0"/>
              </a:spcAft>
              <a:buFont typeface="Wingdings" pitchFamily="2" charset="2"/>
              <a:defRPr kumimoji="1" sz="1200" b="1">
                <a:solidFill>
                  <a:srgbClr val="000000"/>
                </a:solidFill>
                <a:latin typeface="현대하모니 L" pitchFamily="18" charset="-127"/>
                <a:ea typeface="현대하모니 L" pitchFamily="18" charset="-127"/>
              </a:defRPr>
            </a:lvl7pPr>
            <a:lvl8pPr marL="3429000" indent="-228600" eaLnBrk="0" fontAlgn="base" hangingPunct="0">
              <a:spcBef>
                <a:spcPct val="50000"/>
              </a:spcBef>
              <a:spcAft>
                <a:spcPct val="0"/>
              </a:spcAft>
              <a:buFont typeface="Wingdings" pitchFamily="2" charset="2"/>
              <a:defRPr kumimoji="1" sz="1200" b="1">
                <a:solidFill>
                  <a:srgbClr val="000000"/>
                </a:solidFill>
                <a:latin typeface="현대하모니 L" pitchFamily="18" charset="-127"/>
                <a:ea typeface="현대하모니 L" pitchFamily="18" charset="-127"/>
              </a:defRPr>
            </a:lvl8pPr>
            <a:lvl9pPr marL="3886200" indent="-228600" eaLnBrk="0" fontAlgn="base" hangingPunct="0">
              <a:spcBef>
                <a:spcPct val="50000"/>
              </a:spcBef>
              <a:spcAft>
                <a:spcPct val="0"/>
              </a:spcAft>
              <a:buFont typeface="Wingdings" pitchFamily="2" charset="2"/>
              <a:defRPr kumimoji="1" sz="1200" b="1">
                <a:solidFill>
                  <a:srgbClr val="000000"/>
                </a:solidFill>
                <a:latin typeface="현대하모니 L" pitchFamily="18" charset="-127"/>
                <a:ea typeface="현대하모니 L" pitchFamily="18" charset="-127"/>
              </a:defRPr>
            </a:lvl9pPr>
          </a:lstStyle>
          <a:p>
            <a:pPr marL="0" marR="0" lvl="0" indent="0" algn="ctr" defTabSz="914400" rtl="0" eaLnBrk="1" fontAlgn="auto" latinLnBrk="1" hangingPunct="1">
              <a:lnSpc>
                <a:spcPct val="100000"/>
              </a:lnSpc>
              <a:spcBef>
                <a:spcPct val="0"/>
              </a:spcBef>
              <a:spcAft>
                <a:spcPts val="0"/>
              </a:spcAft>
              <a:buClrTx/>
              <a:buSzTx/>
              <a:buFontTx/>
              <a:buNone/>
              <a:tabLst/>
              <a:defRPr/>
            </a:pPr>
            <a:fld id="{4479DB40-202E-4A40-91CF-59C6A20ECF99}" type="slidenum">
              <a:rPr kumimoji="1" lang="en-GB" altLang="ko-KR" sz="1000" b="0" i="0" u="none" strike="noStrike" kern="1200" cap="none" spc="0" normalizeH="0" baseline="0" noProof="0" smtClean="0">
                <a:ln>
                  <a:noFill/>
                </a:ln>
                <a:solidFill>
                  <a:srgbClr val="000000"/>
                </a:solidFill>
                <a:effectLst/>
                <a:uLnTx/>
                <a:uFillTx/>
                <a:latin typeface="현대하모니 L" panose="02020603020101020101" pitchFamily="18" charset="-127"/>
                <a:ea typeface="현대하모니 L" pitchFamily="18" charset="-127"/>
                <a:cs typeface="+mn-cs"/>
              </a:rPr>
              <a:pPr marL="0" marR="0" lvl="0" indent="0" algn="ctr" defTabSz="914400" rtl="0" eaLnBrk="1" fontAlgn="auto" latinLnBrk="1" hangingPunct="1">
                <a:lnSpc>
                  <a:spcPct val="100000"/>
                </a:lnSpc>
                <a:spcBef>
                  <a:spcPct val="0"/>
                </a:spcBef>
                <a:spcAft>
                  <a:spcPts val="0"/>
                </a:spcAft>
                <a:buClrTx/>
                <a:buSzTx/>
                <a:buFontTx/>
                <a:buNone/>
                <a:tabLst/>
                <a:defRPr/>
              </a:pPr>
              <a:t>‹#›</a:t>
            </a:fld>
            <a:endParaRPr kumimoji="1" lang="en-GB" altLang="ko-KR" sz="1000" b="0" i="0" u="none" strike="noStrike" kern="1200" cap="none" spc="0" normalizeH="0" baseline="0" noProof="0" dirty="0">
              <a:ln>
                <a:noFill/>
              </a:ln>
              <a:solidFill>
                <a:srgbClr val="000000"/>
              </a:solidFill>
              <a:effectLst/>
              <a:uLnTx/>
              <a:uFillTx/>
              <a:latin typeface="현대하모니 L" panose="02020603020101020101" pitchFamily="18" charset="-127"/>
              <a:ea typeface="현대하모니 L" pitchFamily="18" charset="-127"/>
              <a:cs typeface="+mn-cs"/>
            </a:endParaRPr>
          </a:p>
        </p:txBody>
      </p:sp>
      <p:sp>
        <p:nvSpPr>
          <p:cNvPr id="9" name="TextBox 8">
            <a:extLst>
              <a:ext uri="{FF2B5EF4-FFF2-40B4-BE49-F238E27FC236}">
                <a16:creationId xmlns:a16="http://schemas.microsoft.com/office/drawing/2014/main" id="{D117A205-A768-8652-3A68-5DB4A72126B7}"/>
              </a:ext>
            </a:extLst>
          </p:cNvPr>
          <p:cNvSpPr txBox="1"/>
          <p:nvPr>
            <p:extLst>
              <p:ext uri="{1162E1C5-73C7-4A58-AE30-91384D911F3F}">
                <p184:classification xmlns:p184="http://schemas.microsoft.com/office/powerpoint/2018/4/main" val="ftr"/>
              </p:ext>
            </p:extLst>
          </p:nvPr>
        </p:nvSpPr>
        <p:spPr>
          <a:xfrm>
            <a:off x="63500" y="6642100"/>
            <a:ext cx="9043988" cy="152400"/>
          </a:xfrm>
          <a:prstGeom prst="rect">
            <a:avLst/>
          </a:prstGeom>
        </p:spPr>
        <p:txBody>
          <a:bodyPr horzOverflow="overflow" lIns="0" tIns="0" rIns="0" bIns="0">
            <a:spAutoFit/>
          </a:bodyPr>
          <a:lstStyle/>
          <a:p>
            <a:pPr algn="l"/>
            <a:r>
              <a:rPr lang="ko-KR" altLang="en-US" sz="1000">
                <a:solidFill>
                  <a:srgbClr val="000000">
                    <a:alpha val="50000"/>
                  </a:srgbClr>
                </a:solidFill>
                <a:latin typeface="Aptos" panose="020B0004020202020204" pitchFamily="34" charset="0"/>
              </a:rPr>
              <a:t>This document is legally protected as confidential information of Hyundai Motor and is subject to non-disclosure agreements with your company and applicable laws.</a:t>
            </a:r>
          </a:p>
        </p:txBody>
      </p:sp>
    </p:spTree>
    <p:extLst>
      <p:ext uri="{BB962C8B-B14F-4D97-AF65-F5344CB8AC3E}">
        <p14:creationId xmlns:p14="http://schemas.microsoft.com/office/powerpoint/2010/main" val="126386929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defTabSz="742950" rtl="0" eaLnBrk="1" latinLnBrk="1"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1"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1"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1"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ko-KR"/>
      </a:defPPr>
      <a:lvl1pPr marL="0" algn="l" defTabSz="742950" rtl="0" eaLnBrk="1" latinLnBrk="1" hangingPunct="1">
        <a:defRPr sz="1463" kern="1200">
          <a:solidFill>
            <a:schemeClr val="tx1"/>
          </a:solidFill>
          <a:latin typeface="+mn-lt"/>
          <a:ea typeface="+mn-ea"/>
          <a:cs typeface="+mn-cs"/>
        </a:defRPr>
      </a:lvl1pPr>
      <a:lvl2pPr marL="371475" algn="l" defTabSz="742950" rtl="0" eaLnBrk="1" latinLnBrk="1" hangingPunct="1">
        <a:defRPr sz="1463" kern="1200">
          <a:solidFill>
            <a:schemeClr val="tx1"/>
          </a:solidFill>
          <a:latin typeface="+mn-lt"/>
          <a:ea typeface="+mn-ea"/>
          <a:cs typeface="+mn-cs"/>
        </a:defRPr>
      </a:lvl2pPr>
      <a:lvl3pPr marL="742950" algn="l" defTabSz="742950" rtl="0" eaLnBrk="1" latinLnBrk="1" hangingPunct="1">
        <a:defRPr sz="1463" kern="1200">
          <a:solidFill>
            <a:schemeClr val="tx1"/>
          </a:solidFill>
          <a:latin typeface="+mn-lt"/>
          <a:ea typeface="+mn-ea"/>
          <a:cs typeface="+mn-cs"/>
        </a:defRPr>
      </a:lvl3pPr>
      <a:lvl4pPr marL="1114425" algn="l" defTabSz="742950" rtl="0" eaLnBrk="1" latinLnBrk="1" hangingPunct="1">
        <a:defRPr sz="1463" kern="1200">
          <a:solidFill>
            <a:schemeClr val="tx1"/>
          </a:solidFill>
          <a:latin typeface="+mn-lt"/>
          <a:ea typeface="+mn-ea"/>
          <a:cs typeface="+mn-cs"/>
        </a:defRPr>
      </a:lvl4pPr>
      <a:lvl5pPr marL="1485900" algn="l" defTabSz="742950" rtl="0" eaLnBrk="1" latinLnBrk="1" hangingPunct="1">
        <a:defRPr sz="1463" kern="1200">
          <a:solidFill>
            <a:schemeClr val="tx1"/>
          </a:solidFill>
          <a:latin typeface="+mn-lt"/>
          <a:ea typeface="+mn-ea"/>
          <a:cs typeface="+mn-cs"/>
        </a:defRPr>
      </a:lvl5pPr>
      <a:lvl6pPr marL="1857375" algn="l" defTabSz="742950" rtl="0" eaLnBrk="1" latinLnBrk="1" hangingPunct="1">
        <a:defRPr sz="1463" kern="1200">
          <a:solidFill>
            <a:schemeClr val="tx1"/>
          </a:solidFill>
          <a:latin typeface="+mn-lt"/>
          <a:ea typeface="+mn-ea"/>
          <a:cs typeface="+mn-cs"/>
        </a:defRPr>
      </a:lvl6pPr>
      <a:lvl7pPr marL="2228850" algn="l" defTabSz="742950" rtl="0" eaLnBrk="1" latinLnBrk="1" hangingPunct="1">
        <a:defRPr sz="1463" kern="1200">
          <a:solidFill>
            <a:schemeClr val="tx1"/>
          </a:solidFill>
          <a:latin typeface="+mn-lt"/>
          <a:ea typeface="+mn-ea"/>
          <a:cs typeface="+mn-cs"/>
        </a:defRPr>
      </a:lvl7pPr>
      <a:lvl8pPr marL="2600325" algn="l" defTabSz="742950" rtl="0" eaLnBrk="1" latinLnBrk="1" hangingPunct="1">
        <a:defRPr sz="1463" kern="1200">
          <a:solidFill>
            <a:schemeClr val="tx1"/>
          </a:solidFill>
          <a:latin typeface="+mn-lt"/>
          <a:ea typeface="+mn-ea"/>
          <a:cs typeface="+mn-cs"/>
        </a:defRPr>
      </a:lvl8pPr>
      <a:lvl9pPr marL="2971800" algn="l" defTabSz="742950" rtl="0" eaLnBrk="1" latinLnBrk="1"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76583-E30F-CE87-ACEC-F2B5B1B6016D}"/>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9158BDA-2D6E-F529-AA58-AF5EC999BCDD}"/>
              </a:ext>
            </a:extLst>
          </p:cNvPr>
          <p:cNvSpPr>
            <a:spLocks noGrp="1"/>
          </p:cNvSpPr>
          <p:nvPr>
            <p:ph type="ctrTitle"/>
          </p:nvPr>
        </p:nvSpPr>
        <p:spPr>
          <a:xfrm>
            <a:off x="273049" y="179388"/>
            <a:ext cx="9569929" cy="508000"/>
          </a:xfrm>
        </p:spPr>
        <p:txBody>
          <a:bodyPr lIns="0" tIns="0" rIns="0" bIns="0" rtlCol="0">
            <a:noAutofit/>
          </a:bodyPr>
          <a:lstStyle/>
          <a:p>
            <a:pPr defTabSz="494019" latinLnBrk="0">
              <a:defRPr/>
            </a:pPr>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①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production management</a:t>
            </a:r>
            <a:endParaRPr kumimoji="1" lang="ko-KR" altLang="en-US" sz="1600" b="1" kern="400" spc="-50" dirty="0">
              <a:ln>
                <a:solidFill>
                  <a:srgbClr val="4F81BD">
                    <a:alpha val="0"/>
                  </a:srgbClr>
                </a:solidFill>
              </a:ln>
              <a:solidFill>
                <a:schemeClr val="bg1">
                  <a:lumMod val="75000"/>
                </a:schemeClr>
              </a:solidFill>
              <a:latin typeface="현대산스 Text" panose="020B0600000101010101" pitchFamily="50" charset="-127"/>
              <a:ea typeface="현대산스 Text" panose="020B0600000101010101" pitchFamily="50" charset="-127"/>
              <a:cs typeface="+mn-cs"/>
            </a:endParaRPr>
          </a:p>
        </p:txBody>
      </p:sp>
      <p:sp>
        <p:nvSpPr>
          <p:cNvPr id="2" name="직사각형 1">
            <a:extLst>
              <a:ext uri="{FF2B5EF4-FFF2-40B4-BE49-F238E27FC236}">
                <a16:creationId xmlns:a16="http://schemas.microsoft.com/office/drawing/2014/main" id="{E53CF005-DDF4-3055-28DE-8CD3F39C286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749EE79-75CC-9FEC-F1A5-FA1627C76B37}"/>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3D02807-DE5D-4F55-F7C9-BA021B3DC08B}"/>
              </a:ext>
            </a:extLst>
          </p:cNvPr>
          <p:cNvSpPr txBox="1"/>
          <p:nvPr/>
        </p:nvSpPr>
        <p:spPr>
          <a:xfrm>
            <a:off x="273049" y="845487"/>
            <a:ext cx="8474371"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Autonomous production management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Development Items</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Required Technologies / Technical Pain Points</a:t>
            </a:r>
          </a:p>
        </p:txBody>
      </p:sp>
      <p:sp>
        <p:nvSpPr>
          <p:cNvPr id="5" name="Rectangle 1">
            <a:extLst>
              <a:ext uri="{FF2B5EF4-FFF2-40B4-BE49-F238E27FC236}">
                <a16:creationId xmlns:a16="http://schemas.microsoft.com/office/drawing/2014/main" id="{251B0E61-5BA8-8EB3-A75A-5E84B11C4BD3}"/>
              </a:ext>
            </a:extLst>
          </p:cNvPr>
          <p:cNvSpPr>
            <a:spLocks noChangeArrowheads="1"/>
          </p:cNvSpPr>
          <p:nvPr/>
        </p:nvSpPr>
        <p:spPr bwMode="auto">
          <a:xfrm>
            <a:off x="436324" y="1075071"/>
            <a:ext cx="949532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Establish an autonomous decision-making system that generates multi-perspective scenarios (Productivity / Inventory / BTO)</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while reflecting dynamic constraints (Supply Chain / Labor / Process)</a:t>
            </a:r>
          </a:p>
        </p:txBody>
      </p:sp>
      <p:graphicFrame>
        <p:nvGraphicFramePr>
          <p:cNvPr id="3" name="표 2">
            <a:extLst>
              <a:ext uri="{FF2B5EF4-FFF2-40B4-BE49-F238E27FC236}">
                <a16:creationId xmlns:a16="http://schemas.microsoft.com/office/drawing/2014/main" id="{1A396EA8-D1D2-C4C0-2C7D-2E557BF570F3}"/>
              </a:ext>
            </a:extLst>
          </p:cNvPr>
          <p:cNvGraphicFramePr>
            <a:graphicFrameLocks noGrp="1"/>
          </p:cNvGraphicFramePr>
          <p:nvPr/>
        </p:nvGraphicFramePr>
        <p:xfrm>
          <a:off x="333375" y="1515062"/>
          <a:ext cx="12486153" cy="5188182"/>
        </p:xfrm>
        <a:graphic>
          <a:graphicData uri="http://schemas.openxmlformats.org/drawingml/2006/table">
            <a:tbl>
              <a:tblPr/>
              <a:tblGrid>
                <a:gridCol w="751224">
                  <a:extLst>
                    <a:ext uri="{9D8B030D-6E8A-4147-A177-3AD203B41FA5}">
                      <a16:colId xmlns:a16="http://schemas.microsoft.com/office/drawing/2014/main" val="3515855418"/>
                    </a:ext>
                  </a:extLst>
                </a:gridCol>
                <a:gridCol w="2881200">
                  <a:extLst>
                    <a:ext uri="{9D8B030D-6E8A-4147-A177-3AD203B41FA5}">
                      <a16:colId xmlns:a16="http://schemas.microsoft.com/office/drawing/2014/main" val="2891931337"/>
                    </a:ext>
                  </a:extLst>
                </a:gridCol>
                <a:gridCol w="2881200">
                  <a:extLst>
                    <a:ext uri="{9D8B030D-6E8A-4147-A177-3AD203B41FA5}">
                      <a16:colId xmlns:a16="http://schemas.microsoft.com/office/drawing/2014/main" val="3002806275"/>
                    </a:ext>
                  </a:extLst>
                </a:gridCol>
                <a:gridCol w="2943546">
                  <a:extLst>
                    <a:ext uri="{9D8B030D-6E8A-4147-A177-3AD203B41FA5}">
                      <a16:colId xmlns:a16="http://schemas.microsoft.com/office/drawing/2014/main" val="386882460"/>
                    </a:ext>
                  </a:extLst>
                </a:gridCol>
                <a:gridCol w="242454">
                  <a:extLst>
                    <a:ext uri="{9D8B030D-6E8A-4147-A177-3AD203B41FA5}">
                      <a16:colId xmlns:a16="http://schemas.microsoft.com/office/drawing/2014/main" val="1834976390"/>
                    </a:ext>
                  </a:extLst>
                </a:gridCol>
                <a:gridCol w="2786529">
                  <a:extLst>
                    <a:ext uri="{9D8B030D-6E8A-4147-A177-3AD203B41FA5}">
                      <a16:colId xmlns:a16="http://schemas.microsoft.com/office/drawing/2014/main" val="3458429665"/>
                    </a:ext>
                  </a:extLst>
                </a:gridCol>
              </a:tblGrid>
              <a:tr h="112462">
                <a:tc>
                  <a:txBody>
                    <a:bodyPr/>
                    <a:lstStyle/>
                    <a:p>
                      <a:pPr algn="ctr">
                        <a:buNone/>
                      </a:pPr>
                      <a:r>
                        <a:rPr lang="en-US" sz="900" b="1" i="0" kern="1200">
                          <a:solidFill>
                            <a:schemeClr val="tx1"/>
                          </a:solidFill>
                          <a:effectLst/>
                          <a:latin typeface="현대산스 Text"/>
                          <a:ea typeface="현대산스 Text"/>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sz="900" b="1" i="0" kern="1200" dirty="0">
                          <a:solidFill>
                            <a:schemeClr val="bg1"/>
                          </a:solidFill>
                          <a:effectLst/>
                          <a:latin typeface="현대산스 Text"/>
                          <a:ea typeface="현대산스 Text"/>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en-US" sz="900" b="1" i="0" kern="1200">
                          <a:solidFill>
                            <a:schemeClr val="tx1"/>
                          </a:solidFill>
                          <a:effectLst/>
                          <a:latin typeface="현대산스 Text"/>
                          <a:ea typeface="현대산스 Text"/>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en-US" altLang="ko-KR" sz="900" b="1" i="0" kern="1200">
                          <a:solidFill>
                            <a:schemeClr val="tx1"/>
                          </a:solidFill>
                          <a:effectLst/>
                          <a:latin typeface="현대산스 Text"/>
                          <a:ea typeface="현대산스 Text"/>
                          <a:cs typeface="+mn-cs"/>
                        </a:rPr>
                        <a:t>Required Technologies - DX</a:t>
                      </a:r>
                      <a:endParaRPr lang="en-US" sz="900" b="1" i="0" kern="1200">
                        <a:solidFill>
                          <a:schemeClr val="tx1"/>
                        </a:solidFill>
                        <a:effectLst/>
                        <a:latin typeface="현대산스 Text"/>
                        <a:ea typeface="현대산스 Text"/>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en-US" altLang="ko-KR" sz="900" b="1" i="0" kern="1200">
                          <a:solidFill>
                            <a:schemeClr val="tx1"/>
                          </a:solidFill>
                          <a:effectLst/>
                          <a:latin typeface="현대산스 Text"/>
                          <a:ea typeface="현대산스 Text"/>
                          <a:cs typeface="+mn-cs"/>
                        </a:rPr>
                        <a:t>Development</a:t>
                      </a:r>
                      <a:r>
                        <a:rPr lang="ko-KR" altLang="en-US" sz="900" b="1" i="0" kern="1200">
                          <a:solidFill>
                            <a:schemeClr val="tx1"/>
                          </a:solidFill>
                          <a:effectLst/>
                          <a:latin typeface="현대산스 Text"/>
                          <a:ea typeface="현대산스 Text"/>
                          <a:cs typeface="+mn-cs"/>
                        </a:rPr>
                        <a:t> </a:t>
                      </a:r>
                      <a:r>
                        <a:rPr lang="en-US" sz="900" b="1" i="0" kern="1200">
                          <a:solidFill>
                            <a:schemeClr val="tx1"/>
                          </a:solidFill>
                          <a:effectLst/>
                          <a:latin typeface="현대산스 Text"/>
                          <a:ea typeface="현대산스 Text"/>
                          <a:cs typeface="+mn-cs"/>
                        </a:rPr>
                        <a:t>Pain-point</a:t>
                      </a:r>
                    </a:p>
                  </a:txBody>
                  <a:tcPr marL="8717" marR="8717" marT="8717" marB="871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431765">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a:ea typeface="현대산스 Text"/>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rtl="0" fontAlgn="base"/>
                      <a:endParaRPr lang="en-US" sz="800" b="1" i="0" kern="1200" baseline="0" dirty="0">
                        <a:solidFill>
                          <a:schemeClr val="tx1"/>
                        </a:solidFill>
                        <a:effectLst/>
                        <a:latin typeface="Hyundai Sans Text KR"/>
                        <a:ea typeface="Hyundai Sans Text KR"/>
                        <a:cs typeface="+mn-cs"/>
                      </a:endParaRPr>
                    </a:p>
                    <a:p>
                      <a:pPr lvl="0">
                        <a:buNone/>
                      </a:pPr>
                      <a:r>
                        <a:rPr lang="en-US" sz="800" b="1" i="0" kern="1200" baseline="0" dirty="0">
                          <a:solidFill>
                            <a:schemeClr val="tx1"/>
                          </a:solidFill>
                          <a:effectLst/>
                          <a:latin typeface="Hyundai Sans Text KR"/>
                          <a:ea typeface="Hyundai Sans Text KR"/>
                          <a:cs typeface="+mn-cs"/>
                        </a:rPr>
                        <a:t>[Real-time Status Integration] </a:t>
                      </a:r>
                      <a:r>
                        <a:rPr lang="en-US" sz="800" b="0" i="0" kern="1200" baseline="0" dirty="0">
                          <a:solidFill>
                            <a:schemeClr val="tx1"/>
                          </a:solidFill>
                          <a:effectLst/>
                          <a:latin typeface="Hyundai Sans Text KR"/>
                          <a:ea typeface="Hyundai Sans Text KR"/>
                          <a:cs typeface="+mn-cs"/>
                        </a:rPr>
                        <a:t>API integration for real-time </a:t>
                      </a:r>
                    </a:p>
                    <a:p>
                      <a:pPr rtl="0" fontAlgn="base"/>
                      <a:r>
                        <a:rPr lang="en-US" sz="800" b="0" i="0" kern="1200" baseline="0" dirty="0">
                          <a:solidFill>
                            <a:schemeClr val="tx1"/>
                          </a:solidFill>
                          <a:effectLst/>
                          <a:latin typeface="Hyundai Sans Text KR"/>
                          <a:ea typeface="Hyundai Sans Text KR"/>
                          <a:cs typeface="+mn-cs"/>
                        </a:rPr>
                        <a:t>line-specific  process status (Cycle Time, defects, downtime)​</a:t>
                      </a:r>
                      <a:br>
                        <a:rPr lang="en-US" sz="800" b="0" i="0" kern="1200" baseline="0" dirty="0">
                          <a:solidFill>
                            <a:srgbClr val="000000"/>
                          </a:solidFill>
                          <a:effectLst/>
                          <a:latin typeface="Hyundai Sans Text KR"/>
                          <a:ea typeface="Hyundai Sans Text KR"/>
                          <a:cs typeface="+mn-cs"/>
                        </a:rPr>
                      </a:br>
                      <a:endParaRPr lang="en-US" sz="800" b="0" i="0" kern="1200" baseline="0" dirty="0">
                        <a:solidFill>
                          <a:srgbClr val="000000"/>
                        </a:solidFill>
                        <a:effectLst/>
                        <a:latin typeface="Hyundai Sans Text KR"/>
                        <a:ea typeface="Hyundai Sans Text KR"/>
                        <a:cs typeface="+mn-cs"/>
                      </a:endParaRPr>
                    </a:p>
                    <a:p>
                      <a:pPr rtl="0" fontAlgn="base"/>
                      <a:r>
                        <a:rPr lang="en-US" sz="800" b="1" i="0" kern="1200" baseline="0" dirty="0">
                          <a:solidFill>
                            <a:schemeClr val="tx1"/>
                          </a:solidFill>
                          <a:effectLst/>
                          <a:latin typeface="Hyundai Sans Text KR"/>
                          <a:ea typeface="Hyundai Sans Text KR"/>
                          <a:cs typeface="+mn-cs"/>
                        </a:rPr>
                        <a:t>[Risk Data Collection]</a:t>
                      </a:r>
                      <a:r>
                        <a:rPr lang="en-US" sz="800" b="0" i="0" kern="1200" baseline="0" dirty="0">
                          <a:solidFill>
                            <a:schemeClr val="tx1"/>
                          </a:solidFill>
                          <a:effectLst/>
                          <a:latin typeface="Hyundai Sans Text KR"/>
                          <a:ea typeface="Hyundai Sans Text KR"/>
                          <a:cs typeface="+mn-cs"/>
                        </a:rPr>
                        <a:t> Real-time data crawling and integration of external supply ​chain risk and Progress status by node, </a:t>
                      </a:r>
                    </a:p>
                    <a:p>
                      <a:pPr rtl="0" fontAlgn="base"/>
                      <a:r>
                        <a:rPr lang="en-US" sz="800" b="0" i="0" kern="1200" baseline="0" dirty="0">
                          <a:solidFill>
                            <a:schemeClr val="tx1"/>
                          </a:solidFill>
                          <a:effectLst/>
                          <a:latin typeface="Hyundai Sans Text KR"/>
                          <a:ea typeface="Hyundai Sans Text KR"/>
                          <a:cs typeface="+mn-cs"/>
                        </a:rPr>
                        <a:t>such as supplier part shortage ​risks and logistics delays​</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63500" indent="-63500" rtl="0" fontAlgn="base">
                        <a:buFont typeface="Arial" panose="020B0604020202020204" pitchFamily="34" charset="0"/>
                        <a:buChar char="•"/>
                      </a:pPr>
                      <a:r>
                        <a:rPr lang="en-US" sz="800" b="0" i="0" kern="1200" baseline="0" dirty="0">
                          <a:solidFill>
                            <a:schemeClr val="tx1"/>
                          </a:solidFill>
                          <a:effectLst/>
                          <a:latin typeface="Hyundai Sans Text KR"/>
                          <a:ea typeface="Hyundai Sans Text KR"/>
                          <a:cs typeface="+mn-cs"/>
                        </a:rPr>
                        <a:t> Real time event streaming through Kafka​</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a:t>
                      </a:r>
                      <a:r>
                        <a:rPr lang="en-US" sz="800" b="0" i="0" u="none" strike="noStrike" kern="1200" baseline="0" dirty="0" err="1">
                          <a:solidFill>
                            <a:schemeClr val="tx1"/>
                          </a:solidFill>
                          <a:effectLst/>
                          <a:latin typeface="Hyundai Sans Text KR"/>
                          <a:ea typeface="Hyundai Sans Text KR"/>
                          <a:cs typeface="+mn-cs"/>
                        </a:rPr>
                        <a:t>IIoT</a:t>
                      </a:r>
                      <a:r>
                        <a:rPr lang="en-US" sz="800" b="0" i="0" u="none" strike="noStrike" kern="1200" baseline="0" dirty="0">
                          <a:solidFill>
                            <a:schemeClr val="tx1"/>
                          </a:solidFill>
                          <a:effectLst/>
                          <a:latin typeface="Hyundai Sans Text KR"/>
                          <a:ea typeface="Hyundai Sans Text KR"/>
                          <a:cs typeface="+mn-cs"/>
                        </a:rPr>
                        <a:t>: Data Ingestion from sensors, PLC, etc.</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Relational DB (</a:t>
                      </a:r>
                      <a:r>
                        <a:rPr lang="en-US" sz="800" b="0" i="0" u="none" strike="noStrike" kern="1200" baseline="0" dirty="0" err="1">
                          <a:solidFill>
                            <a:schemeClr val="tx1"/>
                          </a:solidFill>
                          <a:effectLst/>
                          <a:latin typeface="Hyundai Sans Text KR"/>
                          <a:ea typeface="Hyundai Sans Text KR"/>
                          <a:cs typeface="+mn-cs"/>
                        </a:rPr>
                        <a:t>postgres</a:t>
                      </a:r>
                      <a:r>
                        <a:rPr lang="en-US" sz="800" b="0" i="0" u="none" strike="noStrike" kern="1200" baseline="0" dirty="0">
                          <a:solidFill>
                            <a:schemeClr val="tx1"/>
                          </a:solidFill>
                          <a:effectLst/>
                          <a:latin typeface="Hyundai Sans Text KR"/>
                          <a:ea typeface="Hyundai Sans Text KR"/>
                          <a:cs typeface="+mn-cs"/>
                        </a:rPr>
                        <a:t>) for app data and factory historian </a:t>
                      </a:r>
                    </a:p>
                    <a:p>
                      <a:pPr marL="0" indent="0" rtl="0" fontAlgn="base">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e.g. issue tickets, repair ticket, inspection records. This</a:t>
                      </a:r>
                    </a:p>
                    <a:p>
                      <a:pPr marL="0" lvl="0" indent="0">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should be common for all apps to allow app to have access to                                    </a:t>
                      </a:r>
                      <a:endParaRPr lang="en-US" dirty="0"/>
                    </a:p>
                    <a:p>
                      <a:pPr marL="0" lvl="0" indent="0">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data from other apps</a:t>
                      </a:r>
                      <a:r>
                        <a:rPr lang="en-US" sz="800" b="0" i="0" kern="1200" baseline="0" dirty="0">
                          <a:solidFill>
                            <a:schemeClr val="tx1"/>
                          </a:solidFill>
                          <a:effectLst/>
                          <a:latin typeface="Hyundai Sans Text KR"/>
                          <a:ea typeface="Hyundai Sans Text KR"/>
                          <a:cs typeface="+mn-cs"/>
                        </a:rPr>
                        <a:t>​</a:t>
                      </a:r>
                      <a:endParaRPr lang="en-US" dirty="0"/>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Time-series DB (influx) to support massive data ingestion </a:t>
                      </a:r>
                    </a:p>
                    <a:p>
                      <a:pPr marL="0" indent="0" rtl="0" fontAlgn="base">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sensors and equipment readings</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Event streaming (</a:t>
                      </a:r>
                      <a:r>
                        <a:rPr lang="en-US" sz="800" b="0" i="0" u="none" strike="noStrike" kern="1200" baseline="0" dirty="0" err="1">
                          <a:solidFill>
                            <a:schemeClr val="tx1"/>
                          </a:solidFill>
                          <a:effectLst/>
                          <a:latin typeface="Hyundai Sans Text KR"/>
                          <a:ea typeface="Hyundai Sans Text KR"/>
                          <a:cs typeface="+mn-cs"/>
                        </a:rPr>
                        <a:t>kafka</a:t>
                      </a:r>
                      <a:r>
                        <a:rPr lang="en-US" sz="800" b="0" i="0" u="none" strike="noStrike" kern="1200" baseline="0" dirty="0">
                          <a:solidFill>
                            <a:schemeClr val="tx1"/>
                          </a:solidFill>
                          <a:effectLst/>
                          <a:latin typeface="Hyundai Sans Text KR"/>
                          <a:ea typeface="Hyundai Sans Text KR"/>
                          <a:cs typeface="+mn-cs"/>
                        </a:rPr>
                        <a:t>) for real time event and alerts</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NoSQL for unstructured data</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Data platform to enable ETL, analysis and development of </a:t>
                      </a:r>
                    </a:p>
                    <a:p>
                      <a:pPr marL="0" indent="0" rtl="0" fontAlgn="base">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data products</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MCP Server exposes tools, data, or capabilities that AI </a:t>
                      </a:r>
                    </a:p>
                    <a:p>
                      <a:pPr marL="0" indent="0" rtl="0" fontAlgn="base">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assistants can use. </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MCP Gateway to bridge between AI agents and MCP servers</a:t>
                      </a:r>
                      <a:r>
                        <a:rPr lang="en-US" sz="800" b="0" i="0" kern="1200" baseline="0" dirty="0">
                          <a:solidFill>
                            <a:schemeClr val="tx1"/>
                          </a:solidFill>
                          <a:effectLst/>
                          <a:latin typeface="Hyundai Sans Text KR"/>
                          <a:ea typeface="Hyundai Sans Text KR"/>
                          <a:cs typeface="+mn-cs"/>
                        </a:rPr>
                        <a:t>​</a:t>
                      </a:r>
                    </a:p>
                  </a:txBody>
                  <a:tcPr marL="36000" marR="0" marT="8717" marB="8717">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kern="1200" baseline="0" dirty="0">
                        <a:solidFill>
                          <a:schemeClr val="tx1"/>
                        </a:solidFill>
                        <a:effectLst/>
                        <a:latin typeface="Hyundai Sans Text KR"/>
                        <a:ea typeface="Hyundai Sans Text KR"/>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780" kern="1200">
                        <a:solidFill>
                          <a:schemeClr val="tx1"/>
                        </a:solidFill>
                        <a:effectLst/>
                        <a:latin typeface="Hyundai Sans Head KR Medium" panose="020B0600000101010101" pitchFamily="34" charset="-127"/>
                        <a:ea typeface="Hyundai Sans Head KR Medium"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rtl="0" fontAlgn="base">
                        <a:buNone/>
                      </a:pPr>
                      <a:r>
                        <a:rPr lang="en-US" sz="800">
                          <a:solidFill>
                            <a:srgbClr val="000000"/>
                          </a:solidFill>
                          <a:effectLst/>
                          <a:latin typeface="Hyundai Sans Text KR"/>
                          <a:ea typeface="Hyundai Sans Text KR" panose="020B0600000101010101" pitchFamily="34" charset="-127"/>
                        </a:rPr>
                        <a:t>• Legacy equipment without digital outputs</a:t>
                      </a:r>
                    </a:p>
                    <a:p>
                      <a:pPr marL="0" marR="0" rtl="0" fontAlgn="base">
                        <a:buNone/>
                      </a:pPr>
                      <a:r>
                        <a:rPr lang="en-US" sz="800">
                          <a:solidFill>
                            <a:srgbClr val="000000"/>
                          </a:solidFill>
                          <a:effectLst/>
                          <a:latin typeface="Hyundai Sans Text KR"/>
                          <a:ea typeface="Hyundai Sans Text KR" panose="020B0600000101010101" pitchFamily="34" charset="-127"/>
                        </a:rPr>
                        <a:t>• Noisy data and unstructured supply chain data</a:t>
                      </a:r>
                    </a:p>
                    <a:p>
                      <a:pPr marL="0" marR="0" rtl="0" fontAlgn="base">
                        <a:buNone/>
                      </a:pPr>
                      <a:r>
                        <a:rPr lang="en-US" sz="800">
                          <a:solidFill>
                            <a:srgbClr val="000000"/>
                          </a:solidFill>
                          <a:effectLst/>
                          <a:latin typeface="Hyundai Sans Text KR"/>
                          <a:ea typeface="Hyundai Sans Text KR" panose="020B0600000101010101" pitchFamily="34" charset="-127"/>
                        </a:rPr>
                        <a:t>   Establishing 100% connectivity to relevant </a:t>
                      </a:r>
                      <a:br>
                        <a:rPr lang="en-US" sz="800">
                          <a:solidFill>
                            <a:srgbClr val="000000"/>
                          </a:solidFill>
                          <a:effectLst/>
                          <a:latin typeface="Hyundai Sans Text KR"/>
                          <a:ea typeface="Hyundai Sans Text KR" panose="020B0600000101010101" pitchFamily="34" charset="-127"/>
                        </a:rPr>
                      </a:br>
                      <a:r>
                        <a:rPr lang="en-US" sz="800">
                          <a:solidFill>
                            <a:srgbClr val="000000"/>
                          </a:solidFill>
                          <a:effectLst/>
                          <a:latin typeface="Hyundai Sans Text KR"/>
                          <a:ea typeface="Hyundai Sans Text KR" panose="020B0600000101010101" pitchFamily="34" charset="-127"/>
                        </a:rPr>
                        <a:t>   equipment is a critical, on-going process that must be </a:t>
                      </a:r>
                    </a:p>
                    <a:p>
                      <a:pPr marL="0" marR="0" rtl="0" fontAlgn="base">
                        <a:buNone/>
                      </a:pPr>
                      <a:r>
                        <a:rPr lang="en-US" sz="800">
                          <a:solidFill>
                            <a:srgbClr val="000000"/>
                          </a:solidFill>
                          <a:effectLst/>
                          <a:latin typeface="Hyundai Sans Text KR"/>
                          <a:ea typeface="Hyundai Sans Text KR" panose="020B0600000101010101" pitchFamily="34" charset="-127"/>
                        </a:rPr>
                        <a:t>   aggressively optimized:</a:t>
                      </a:r>
                    </a:p>
                    <a:p>
                      <a:pPr marL="0" marR="0" lvl="0" indent="0" rtl="0" fontAlgn="base">
                        <a:buFont typeface="Arial" panose="020B0604020202020204" pitchFamily="34" charset="0"/>
                        <a:buChar char="•"/>
                      </a:pPr>
                      <a:r>
                        <a:rPr lang="en-US" sz="800">
                          <a:solidFill>
                            <a:srgbClr val="000000"/>
                          </a:solidFill>
                          <a:effectLst/>
                          <a:latin typeface="Hyundai Sans Text KR"/>
                          <a:ea typeface="Hyundai Sans Text KR" panose="020B0600000101010101" pitchFamily="34" charset="-127"/>
                        </a:rPr>
                        <a:t> Need to set up a structured process as relevant </a:t>
                      </a:r>
                    </a:p>
                    <a:p>
                      <a:pPr marL="0" marR="0" lvl="0" indent="0" rtl="0" fontAlgn="base">
                        <a:buFont typeface="Arial" panose="020B0604020202020204" pitchFamily="34" charset="0"/>
                        <a:buNone/>
                      </a:pPr>
                      <a:r>
                        <a:rPr lang="en-US" sz="800">
                          <a:solidFill>
                            <a:srgbClr val="000000"/>
                          </a:solidFill>
                          <a:effectLst/>
                          <a:latin typeface="Hyundai Sans Text KR"/>
                          <a:ea typeface="Hyundai Sans Text KR" panose="020B0600000101010101" pitchFamily="34" charset="-127"/>
                        </a:rPr>
                        <a:t>   equipment connection is not a one-off exercise</a:t>
                      </a:r>
                    </a:p>
                    <a:p>
                      <a:pPr marL="0" marR="0" lvl="0" indent="0" rtl="0" fontAlgn="base">
                        <a:buFont typeface="Arial" panose="020B0604020202020204" pitchFamily="34" charset="0"/>
                        <a:buChar char="•"/>
                      </a:pPr>
                      <a:r>
                        <a:rPr lang="en-US" sz="800">
                          <a:solidFill>
                            <a:srgbClr val="000000"/>
                          </a:solidFill>
                          <a:effectLst/>
                          <a:latin typeface="Hyundai Sans Text KR"/>
                          <a:ea typeface="Hyundai Sans Text KR" panose="020B0600000101010101" pitchFamily="34" charset="-127"/>
                        </a:rPr>
                        <a:t> Need to establish an efficient workflow to accelerate the   </a:t>
                      </a:r>
                    </a:p>
                    <a:p>
                      <a:pPr marL="0" marR="0" lvl="0" indent="0" rtl="0" fontAlgn="base">
                        <a:buFont typeface="Arial" panose="020B0604020202020204" pitchFamily="34" charset="0"/>
                        <a:buNone/>
                      </a:pPr>
                      <a:r>
                        <a:rPr lang="en-US" sz="800">
                          <a:solidFill>
                            <a:srgbClr val="000000"/>
                          </a:solidFill>
                          <a:effectLst/>
                          <a:latin typeface="Hyundai Sans Text KR"/>
                          <a:ea typeface="Hyundai Sans Text KR" panose="020B0600000101010101" pitchFamily="34" charset="-127"/>
                        </a:rPr>
                        <a:t>   establishment of connection to existing or new </a:t>
                      </a:r>
                    </a:p>
                    <a:p>
                      <a:pPr marL="0" marR="0" lvl="0" indent="0" rtl="0" fontAlgn="base">
                        <a:buFont typeface="Arial" panose="020B0604020202020204" pitchFamily="34" charset="0"/>
                        <a:buNone/>
                      </a:pPr>
                      <a:r>
                        <a:rPr lang="en-US" sz="800">
                          <a:solidFill>
                            <a:srgbClr val="000000"/>
                          </a:solidFill>
                          <a:effectLst/>
                          <a:latin typeface="Hyundai Sans Text KR"/>
                          <a:ea typeface="Hyundai Sans Text KR" panose="020B0600000101010101" pitchFamily="34" charset="-127"/>
                        </a:rPr>
                        <a:t>   equipment</a:t>
                      </a:r>
                    </a:p>
                    <a:p>
                      <a:pPr marL="0" marR="0" lvl="0" indent="0" rtl="0" fontAlgn="base">
                        <a:buFont typeface="Arial" panose="020B0604020202020204" pitchFamily="34" charset="0"/>
                        <a:buChar char="•"/>
                      </a:pPr>
                      <a:r>
                        <a:rPr lang="en-US" sz="800">
                          <a:solidFill>
                            <a:srgbClr val="000000"/>
                          </a:solidFill>
                          <a:effectLst/>
                          <a:latin typeface="Hyundai Sans Text KR"/>
                          <a:ea typeface="Hyundai Sans Text KR" panose="020B0600000101010101" pitchFamily="34" charset="-127"/>
                        </a:rPr>
                        <a:t> Need to be able to monitor and tweak connectivity </a:t>
                      </a:r>
                    </a:p>
                    <a:p>
                      <a:pPr marL="0" marR="0" lvl="0" indent="0" rtl="0" fontAlgn="base">
                        <a:buFont typeface="Arial" panose="020B0604020202020204" pitchFamily="34" charset="0"/>
                        <a:buNone/>
                      </a:pPr>
                      <a:r>
                        <a:rPr lang="en-US" sz="800">
                          <a:solidFill>
                            <a:srgbClr val="000000"/>
                          </a:solidFill>
                          <a:effectLst/>
                          <a:latin typeface="Hyundai Sans Text KR"/>
                          <a:ea typeface="Hyundai Sans Text KR" panose="020B0600000101010101" pitchFamily="34" charset="-127"/>
                        </a:rPr>
                        <a:t>   parameters (Integrity, Frequency and Latency) over time</a:t>
                      </a:r>
                    </a:p>
                  </a:txBody>
                  <a:tcPr marL="42682"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56956695"/>
                  </a:ext>
                </a:extLst>
              </a:tr>
              <a:tr h="2318692">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a:ea typeface="현대산스 Text"/>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rtl="0" fontAlgn="base"/>
                      <a:endParaRPr lang="en-US" sz="800" b="1" i="0" kern="1200" baseline="0" dirty="0">
                        <a:solidFill>
                          <a:schemeClr val="tx1"/>
                        </a:solidFill>
                        <a:effectLst/>
                        <a:latin typeface="Hyundai Sans Text KR"/>
                        <a:ea typeface="Hyundai Sans Text KR"/>
                        <a:cs typeface="+mn-cs"/>
                      </a:endParaRPr>
                    </a:p>
                    <a:p>
                      <a:pPr lvl="0">
                        <a:buNone/>
                      </a:pPr>
                      <a:r>
                        <a:rPr lang="en-US" sz="800" b="1" i="0" kern="1200" baseline="0" dirty="0">
                          <a:solidFill>
                            <a:schemeClr val="tx1"/>
                          </a:solidFill>
                          <a:effectLst/>
                          <a:latin typeface="Hyundai Sans Text KR"/>
                          <a:ea typeface="Hyundai Sans Text KR"/>
                          <a:cs typeface="+mn-cs"/>
                        </a:rPr>
                        <a:t>[Domain Knowledge Digitalization]</a:t>
                      </a:r>
                      <a:r>
                        <a:rPr lang="en-US" sz="800" b="0" i="0" kern="1200" baseline="0" dirty="0">
                          <a:solidFill>
                            <a:schemeClr val="tx1"/>
                          </a:solidFill>
                          <a:effectLst/>
                          <a:latin typeface="Hyundai Sans Text KR"/>
                          <a:ea typeface="Hyundai Sans Text KR"/>
                          <a:cs typeface="+mn-cs"/>
                        </a:rPr>
                        <a:t> Digitalizing rules for factory managers' tacit ​knowledge (know-how) , labor constraints (working hours, skill matrix), and ​process specifics </a:t>
                      </a:r>
                    </a:p>
                    <a:p>
                      <a:pPr rtl="0" fontAlgn="base"/>
                      <a:r>
                        <a:rPr lang="en-US" sz="800" b="0" i="0" kern="1200" baseline="0" dirty="0">
                          <a:solidFill>
                            <a:schemeClr val="tx1"/>
                          </a:solidFill>
                          <a:effectLst/>
                          <a:latin typeface="Hyundai Sans Text KR"/>
                          <a:ea typeface="Hyundai Sans Text KR"/>
                          <a:cs typeface="+mn-cs"/>
                        </a:rPr>
                        <a:t>(equipment constraints)​</a:t>
                      </a:r>
                      <a:br>
                        <a:rPr lang="en-US" sz="800" b="0" i="0" kern="1200" baseline="0" dirty="0">
                          <a:solidFill>
                            <a:srgbClr val="000000"/>
                          </a:solidFill>
                          <a:effectLst/>
                          <a:latin typeface="Hyundai Sans Text KR"/>
                          <a:ea typeface="Hyundai Sans Text KR"/>
                          <a:cs typeface="+mn-cs"/>
                        </a:rPr>
                      </a:br>
                      <a:r>
                        <a:rPr lang="en-US" sz="800" b="0" i="0" kern="1200" baseline="0" dirty="0">
                          <a:solidFill>
                            <a:schemeClr val="tx1"/>
                          </a:solidFill>
                          <a:effectLst/>
                          <a:latin typeface="Hyundai Sans Text KR"/>
                          <a:ea typeface="Hyundai Sans Text KR"/>
                          <a:cs typeface="+mn-cs"/>
                        </a:rPr>
                        <a:t>​</a:t>
                      </a:r>
                    </a:p>
                    <a:p>
                      <a:pPr rtl="0" fontAlgn="base"/>
                      <a:r>
                        <a:rPr lang="en-US" sz="800" b="1" i="0" kern="1200" baseline="0" dirty="0">
                          <a:solidFill>
                            <a:schemeClr val="tx1"/>
                          </a:solidFill>
                          <a:effectLst/>
                          <a:latin typeface="Hyundai Sans Text KR"/>
                          <a:ea typeface="Hyundai Sans Text KR"/>
                          <a:cs typeface="+mn-cs"/>
                        </a:rPr>
                        <a:t>[Master Data Integration]</a:t>
                      </a:r>
                      <a:r>
                        <a:rPr lang="en-US" sz="800" b="0" i="0" kern="1200" baseline="0" dirty="0">
                          <a:solidFill>
                            <a:schemeClr val="tx1"/>
                          </a:solidFill>
                          <a:effectLst/>
                          <a:latin typeface="Hyundai Sans Text KR"/>
                          <a:ea typeface="Hyundai Sans Text KR"/>
                          <a:cs typeface="+mn-cs"/>
                        </a:rPr>
                        <a:t> Standardizing data formats across </a:t>
                      </a:r>
                    </a:p>
                    <a:p>
                      <a:pPr rtl="0" fontAlgn="base"/>
                      <a:r>
                        <a:rPr lang="en-US" sz="800" b="0" i="0" kern="1200" baseline="0" dirty="0">
                          <a:solidFill>
                            <a:schemeClr val="tx1"/>
                          </a:solidFill>
                          <a:effectLst/>
                          <a:latin typeface="Hyundai Sans Text KR"/>
                          <a:ea typeface="Hyundai Sans Text KR"/>
                          <a:cs typeface="+mn-cs"/>
                        </a:rPr>
                        <a:t>SCM (Supply Chain),​ WMS (Inventory), IQIS (Quality), and MES (Process)​</a:t>
                      </a:r>
                    </a:p>
                    <a:p>
                      <a:pPr rtl="0" fontAlgn="base"/>
                      <a:r>
                        <a:rPr lang="en-US" sz="800" b="0" i="0" kern="1200" baseline="0" dirty="0">
                          <a:solidFill>
                            <a:schemeClr val="tx1"/>
                          </a:solidFill>
                          <a:effectLst/>
                          <a:latin typeface="Hyundai Sans Text KR"/>
                          <a:ea typeface="Hyundai Sans Text KR"/>
                          <a:cs typeface="+mn-cs"/>
                        </a:rPr>
                        <a:t>​</a:t>
                      </a:r>
                    </a:p>
                    <a:p>
                      <a:pPr rtl="0" fontAlgn="base"/>
                      <a:r>
                        <a:rPr lang="en-US" sz="800" b="1" i="0" kern="1200" baseline="0" dirty="0">
                          <a:solidFill>
                            <a:schemeClr val="tx1"/>
                          </a:solidFill>
                          <a:effectLst/>
                          <a:latin typeface="Hyundai Sans Text KR"/>
                          <a:ea typeface="Hyundai Sans Text KR"/>
                          <a:cs typeface="+mn-cs"/>
                        </a:rPr>
                        <a:t>[Safety monitoring and intelligence] </a:t>
                      </a:r>
                      <a:r>
                        <a:rPr lang="en-US" sz="800" b="0" i="0" kern="1200" baseline="0" dirty="0">
                          <a:solidFill>
                            <a:schemeClr val="tx1"/>
                          </a:solidFill>
                          <a:effectLst/>
                          <a:latin typeface="Hyundai Sans Text KR"/>
                          <a:ea typeface="Hyundai Sans Text KR"/>
                          <a:cs typeface="+mn-cs"/>
                        </a:rPr>
                        <a:t>Human robot collaboration </a:t>
                      </a:r>
                    </a:p>
                    <a:p>
                      <a:pPr rtl="0" fontAlgn="base"/>
                      <a:r>
                        <a:rPr lang="en-US" sz="800" b="0" i="0" kern="1200" baseline="0" dirty="0">
                          <a:solidFill>
                            <a:schemeClr val="tx1"/>
                          </a:solidFill>
                          <a:effectLst/>
                          <a:latin typeface="Hyundai Sans Text KR"/>
                          <a:ea typeface="Hyundai Sans Text KR"/>
                          <a:cs typeface="+mn-cs"/>
                        </a:rPr>
                        <a:t>working environment safety ​</a:t>
                      </a:r>
                    </a:p>
                    <a:p>
                      <a:pPr algn="l">
                        <a:buNone/>
                      </a:pPr>
                      <a:endParaRPr lang="en-US" sz="800" baseline="0" dirty="0">
                        <a:effectLst/>
                        <a:latin typeface="Hyundai Sans Text KR"/>
                        <a:ea typeface="Hyundai Sans Text KR"/>
                      </a:endParaRP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Need Data Platform to facilitate the creation of “data </a:t>
                      </a:r>
                    </a:p>
                    <a:p>
                      <a:pPr marL="0" indent="0" rtl="0" fontAlgn="base">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products” to enable daily advanced analytics, as well as </a:t>
                      </a:r>
                    </a:p>
                    <a:p>
                      <a:pPr marL="0" indent="0" rtl="0" fontAlgn="base">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advanced use-cases (AI/ML </a:t>
                      </a:r>
                      <a:r>
                        <a:rPr lang="en-US" sz="800" b="0" i="0" u="none" strike="noStrike" kern="1200" baseline="0" dirty="0" err="1">
                          <a:solidFill>
                            <a:schemeClr val="tx1"/>
                          </a:solidFill>
                          <a:effectLst/>
                          <a:latin typeface="Hyundai Sans Text KR"/>
                          <a:ea typeface="Hyundai Sans Text KR"/>
                          <a:cs typeface="+mn-cs"/>
                        </a:rPr>
                        <a:t>etc</a:t>
                      </a:r>
                      <a:r>
                        <a:rPr lang="en-US" sz="800" b="0" i="0" u="none" strike="noStrike" kern="1200" baseline="0" dirty="0">
                          <a:solidFill>
                            <a:schemeClr val="tx1"/>
                          </a:solidFill>
                          <a:effectLst/>
                          <a:latin typeface="Hyundai Sans Text KR"/>
                          <a:ea typeface="Hyundai Sans Text KR"/>
                          <a:cs typeface="+mn-cs"/>
                        </a:rPr>
                        <a:t>)</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SDM : Facility </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SIM: Omniverse, </a:t>
                      </a:r>
                      <a:r>
                        <a:rPr lang="en-US" sz="800" b="0" i="0" u="none" strike="noStrike" kern="1200" baseline="0" dirty="0" err="1">
                          <a:solidFill>
                            <a:schemeClr val="tx1"/>
                          </a:solidFill>
                          <a:effectLst/>
                          <a:latin typeface="Hyundai Sans Text KR"/>
                          <a:ea typeface="Hyundai Sans Text KR"/>
                          <a:cs typeface="+mn-cs"/>
                        </a:rPr>
                        <a:t>OpenUSD</a:t>
                      </a:r>
                      <a:r>
                        <a:rPr lang="en-US" sz="800" b="0" i="0" u="none" strike="noStrike" kern="1200" baseline="0" dirty="0">
                          <a:solidFill>
                            <a:schemeClr val="tx1"/>
                          </a:solidFill>
                          <a:effectLst/>
                          <a:latin typeface="Hyundai Sans Text KR"/>
                          <a:ea typeface="Hyundai Sans Text KR"/>
                          <a:cs typeface="+mn-cs"/>
                        </a:rPr>
                        <a:t>, Metropolis</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Mobile robot telemetry</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1" i="0" u="none" strike="noStrike" kern="1200" baseline="0" dirty="0">
                          <a:solidFill>
                            <a:schemeClr val="tx1"/>
                          </a:solidFill>
                          <a:effectLst/>
                          <a:latin typeface="Hyundai Sans Text KR"/>
                          <a:ea typeface="Hyundai Sans Text KR"/>
                          <a:cs typeface="+mn-cs"/>
                        </a:rPr>
                        <a:t> Synthetic Data Generation </a:t>
                      </a:r>
                      <a:r>
                        <a:rPr lang="en-US" sz="800" b="0" i="0" u="none" strike="noStrike" kern="1200" baseline="0" dirty="0">
                          <a:solidFill>
                            <a:schemeClr val="tx1"/>
                          </a:solidFill>
                          <a:effectLst/>
                          <a:latin typeface="Hyundai Sans Text KR"/>
                          <a:ea typeface="Hyundai Sans Text KR"/>
                          <a:cs typeface="+mn-cs"/>
                        </a:rPr>
                        <a:t>– </a:t>
                      </a:r>
                      <a:r>
                        <a:rPr lang="en-US" sz="800" b="0" i="0" u="none" strike="noStrike" kern="1200" baseline="0" dirty="0" err="1">
                          <a:solidFill>
                            <a:schemeClr val="tx1"/>
                          </a:solidFill>
                          <a:effectLst/>
                          <a:latin typeface="Hyundai Sans Text KR"/>
                          <a:ea typeface="Hyundai Sans Text KR"/>
                          <a:cs typeface="+mn-cs"/>
                        </a:rPr>
                        <a:t>MLOps</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Data retention policy</a:t>
                      </a:r>
                      <a:r>
                        <a:rPr lang="en-US" sz="800" b="0" i="0" kern="1200" baseline="0" dirty="0">
                          <a:solidFill>
                            <a:schemeClr val="tx1"/>
                          </a:solidFill>
                          <a:effectLst/>
                          <a:latin typeface="Hyundai Sans Text KR"/>
                          <a:ea typeface="Hyundai Sans Text KR"/>
                          <a:cs typeface="+mn-cs"/>
                        </a:rPr>
                        <a:t>​</a:t>
                      </a:r>
                    </a:p>
                    <a:p>
                      <a:pPr marL="0" indent="0" algn="l" latinLnBrk="0">
                        <a:buNone/>
                      </a:pPr>
                      <a:endParaRPr lang="en-US" sz="800" kern="1200" baseline="0" dirty="0">
                        <a:solidFill>
                          <a:schemeClr val="tx1"/>
                        </a:solidFill>
                        <a:effectLst/>
                        <a:latin typeface="Hyundai Sans Text KR"/>
                        <a:ea typeface="Hyundai Sans Text KR"/>
                        <a:cs typeface="+mn-cs"/>
                      </a:endParaRPr>
                    </a:p>
                  </a:txBody>
                  <a:tcPr marL="36000" marR="0" marT="8717" marB="8717">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ase"/>
                      <a:endParaRPr lang="en-US" sz="800" b="1" i="0" kern="1200" baseline="0" dirty="0">
                        <a:solidFill>
                          <a:schemeClr val="tx1"/>
                        </a:solidFill>
                        <a:effectLst/>
                        <a:latin typeface="Hyundai Sans Text KR"/>
                        <a:ea typeface="Hyundai Sans Text KR"/>
                        <a:cs typeface="+mn-cs"/>
                      </a:endParaRPr>
                    </a:p>
                    <a:p>
                      <a:pPr lvl="0">
                        <a:buNone/>
                      </a:pPr>
                      <a:r>
                        <a:rPr lang="en-US" sz="800" b="1" i="0" kern="1200" baseline="0" dirty="0">
                          <a:solidFill>
                            <a:schemeClr val="tx1"/>
                          </a:solidFill>
                          <a:effectLst/>
                          <a:latin typeface="Hyundai Sans Text KR"/>
                          <a:ea typeface="Hyundai Sans Text KR"/>
                          <a:cs typeface="+mn-cs"/>
                        </a:rPr>
                        <a:t>[P01.1 Production/Quality Knowledge Graph]</a:t>
                      </a:r>
                      <a:r>
                        <a:rPr lang="en-US" sz="800" b="0" i="0" kern="1200" baseline="0" dirty="0">
                          <a:solidFill>
                            <a:schemeClr val="tx1"/>
                          </a:solidFill>
                          <a:effectLst/>
                          <a:latin typeface="Hyundai Sans Text KR"/>
                          <a:ea typeface="Hyundai Sans Text KR"/>
                          <a:cs typeface="+mn-cs"/>
                        </a:rPr>
                        <a:t> Unified System of </a:t>
                      </a:r>
                    </a:p>
                    <a:p>
                      <a:pPr rtl="0" fontAlgn="base"/>
                      <a:r>
                        <a:rPr lang="en-US" sz="800" b="0" i="0" kern="1200" baseline="0" dirty="0">
                          <a:solidFill>
                            <a:schemeClr val="tx1"/>
                          </a:solidFill>
                          <a:effectLst/>
                          <a:latin typeface="Hyundai Sans Text KR"/>
                          <a:ea typeface="Hyundai Sans Text KR"/>
                          <a:cs typeface="+mn-cs"/>
                        </a:rPr>
                        <a:t>Records and digitalizing rules for factory managers' tacit </a:t>
                      </a:r>
                    </a:p>
                    <a:p>
                      <a:pPr rtl="0" fontAlgn="base"/>
                      <a:r>
                        <a:rPr lang="en-US" sz="800" b="0" i="0" kern="1200" baseline="0" dirty="0">
                          <a:solidFill>
                            <a:schemeClr val="tx1"/>
                          </a:solidFill>
                          <a:effectLst/>
                          <a:latin typeface="Hyundai Sans Text KR"/>
                          <a:ea typeface="Hyundai Sans Text KR"/>
                          <a:cs typeface="+mn-cs"/>
                        </a:rPr>
                        <a:t>knowledge (know-how, labor constraints (working hours, </a:t>
                      </a:r>
                    </a:p>
                    <a:p>
                      <a:pPr rtl="0" fontAlgn="base"/>
                      <a:r>
                        <a:rPr lang="en-US" sz="800" b="0" i="0" kern="1200" baseline="0" dirty="0">
                          <a:solidFill>
                            <a:schemeClr val="tx1"/>
                          </a:solidFill>
                          <a:effectLst/>
                          <a:latin typeface="Hyundai Sans Text KR"/>
                          <a:ea typeface="Hyundai Sans Text KR"/>
                          <a:cs typeface="+mn-cs"/>
                        </a:rPr>
                        <a:t>skill matrix), and processes (equipment and system constraints)​</a:t>
                      </a:r>
                    </a:p>
                    <a:p>
                      <a:pPr rtl="0" fontAlgn="base"/>
                      <a:r>
                        <a:rPr lang="en-US" sz="800" b="0" i="0" kern="1200" baseline="0" dirty="0">
                          <a:solidFill>
                            <a:schemeClr val="tx1"/>
                          </a:solidFill>
                          <a:effectLst/>
                          <a:latin typeface="Hyundai Sans Text KR"/>
                          <a:ea typeface="Hyundai Sans Text KR"/>
                          <a:cs typeface="+mn-cs"/>
                        </a:rPr>
                        <a:t>​</a:t>
                      </a:r>
                    </a:p>
                    <a:p>
                      <a:pPr rtl="0" fontAlgn="base"/>
                      <a:r>
                        <a:rPr lang="en-US" sz="800" b="1" i="0" kern="1200" baseline="0" dirty="0">
                          <a:solidFill>
                            <a:schemeClr val="tx1"/>
                          </a:solidFill>
                          <a:effectLst/>
                          <a:latin typeface="Hyundai Sans Text KR"/>
                          <a:ea typeface="Hyundai Sans Text KR"/>
                          <a:cs typeface="+mn-cs"/>
                        </a:rPr>
                        <a:t>[DT01 Digital Twin based on 4M1S Single Data Model] </a:t>
                      </a:r>
                      <a:r>
                        <a:rPr lang="en-US" sz="800" b="0" i="0" kern="1200" baseline="0" dirty="0">
                          <a:solidFill>
                            <a:schemeClr val="tx1"/>
                          </a:solidFill>
                          <a:effectLst/>
                          <a:latin typeface="Hyundai Sans Text KR"/>
                          <a:ea typeface="Hyundai Sans Text KR"/>
                          <a:cs typeface="+mn-cs"/>
                        </a:rPr>
                        <a:t>Full </a:t>
                      </a:r>
                    </a:p>
                    <a:p>
                      <a:pPr rtl="0" fontAlgn="base"/>
                      <a:r>
                        <a:rPr lang="en-US" sz="800" b="0" i="0" kern="1200" baseline="0" dirty="0">
                          <a:solidFill>
                            <a:schemeClr val="tx1"/>
                          </a:solidFill>
                          <a:effectLst/>
                          <a:latin typeface="Hyundai Sans Text KR"/>
                          <a:ea typeface="Hyundai Sans Text KR"/>
                          <a:cs typeface="+mn-cs"/>
                        </a:rPr>
                        <a:t>Virtual representation of physical asset, process and events with continuous update from real-world data​</a:t>
                      </a:r>
                    </a:p>
                    <a:p>
                      <a:pPr marL="0" indent="0" rtl="0" fontAlgn="base">
                        <a:buFont typeface="Arial" panose="020B0604020202020204" pitchFamily="34" charset="0"/>
                        <a:buChar char="•"/>
                      </a:pPr>
                      <a:r>
                        <a:rPr lang="en-US" sz="800" b="0" i="0" kern="1200" baseline="0" dirty="0">
                          <a:solidFill>
                            <a:schemeClr val="tx1"/>
                          </a:solidFill>
                          <a:effectLst/>
                          <a:latin typeface="Hyundai Sans Text KR"/>
                          <a:ea typeface="Hyundai Sans Text KR"/>
                          <a:cs typeface="+mn-cs"/>
                        </a:rPr>
                        <a:t> Digital Model of 4M1S in factory replicating property, behavior </a:t>
                      </a:r>
                    </a:p>
                    <a:p>
                      <a:pPr marL="0" indent="0" rtl="0" fontAlgn="base">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and performance in real-world​</a:t>
                      </a:r>
                    </a:p>
                    <a:p>
                      <a:pPr marL="0" indent="0" rtl="0" fontAlgn="base">
                        <a:buFont typeface="Arial" panose="020B0604020202020204" pitchFamily="34" charset="0"/>
                        <a:buChar char="•"/>
                      </a:pPr>
                      <a:r>
                        <a:rPr lang="en-US" sz="800" b="0" i="0" kern="1200" baseline="0" dirty="0">
                          <a:solidFill>
                            <a:schemeClr val="tx1"/>
                          </a:solidFill>
                          <a:effectLst/>
                          <a:latin typeface="Hyundai Sans Text KR"/>
                          <a:ea typeface="Hyundai Sans Text KR"/>
                          <a:cs typeface="+mn-cs"/>
                        </a:rPr>
                        <a:t> Enterprise level Master Data Management and Process </a:t>
                      </a:r>
                    </a:p>
                    <a:p>
                      <a:pPr marL="0" indent="0" rtl="0" fontAlgn="base">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standardization across value streams – Design, Production, </a:t>
                      </a:r>
                    </a:p>
                    <a:p>
                      <a:pPr marL="0" indent="0" rtl="0" fontAlgn="base">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Workforce, Supply Chain, Logistics, Quality, ​Maintenance and     </a:t>
                      </a:r>
                    </a:p>
                    <a:p>
                      <a:pPr marL="0" indent="0" rtl="0" fontAlgn="base">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Factory Operations​</a:t>
                      </a:r>
                    </a:p>
                    <a:p>
                      <a:pPr rtl="0" fontAlgn="base"/>
                      <a:r>
                        <a:rPr lang="en-US" sz="800" b="0" i="0" kern="1200" baseline="0" dirty="0">
                          <a:solidFill>
                            <a:schemeClr val="tx1"/>
                          </a:solidFill>
                          <a:effectLst/>
                          <a:latin typeface="Hyundai Sans Text KR"/>
                          <a:ea typeface="Hyundai Sans Text KR"/>
                          <a:cs typeface="+mn-cs"/>
                        </a:rPr>
                        <a:t>​</a:t>
                      </a:r>
                    </a:p>
                    <a:p>
                      <a:pPr rtl="0" fontAlgn="base"/>
                      <a:r>
                        <a:rPr lang="en-US" sz="800" b="1" i="0" kern="1200" baseline="0" dirty="0">
                          <a:solidFill>
                            <a:schemeClr val="tx1"/>
                          </a:solidFill>
                          <a:effectLst/>
                          <a:latin typeface="Hyundai Sans Text KR"/>
                          <a:ea typeface="Hyundai Sans Text KR"/>
                          <a:cs typeface="+mn-cs"/>
                        </a:rPr>
                        <a:t>[A73.3 Factory traffic] </a:t>
                      </a:r>
                      <a:r>
                        <a:rPr lang="en-US" sz="800" b="0" i="0" kern="1200" baseline="0" dirty="0">
                          <a:solidFill>
                            <a:schemeClr val="tx1"/>
                          </a:solidFill>
                          <a:effectLst/>
                          <a:latin typeface="Hyundai Sans Text KR"/>
                          <a:ea typeface="Hyundai Sans Text KR"/>
                          <a:cs typeface="+mn-cs"/>
                        </a:rPr>
                        <a:t>Use case for DT01 on traffic safety and </a:t>
                      </a:r>
                    </a:p>
                    <a:p>
                      <a:pPr rtl="0" fontAlgn="base"/>
                      <a:r>
                        <a:rPr lang="en-US" sz="800" b="0" i="0" kern="1200" baseline="0" dirty="0">
                          <a:solidFill>
                            <a:schemeClr val="tx1"/>
                          </a:solidFill>
                          <a:effectLst/>
                          <a:latin typeface="Hyundai Sans Text KR"/>
                          <a:ea typeface="Hyundai Sans Text KR"/>
                          <a:cs typeface="+mn-cs"/>
                        </a:rPr>
                        <a:t>work at height safety​</a:t>
                      </a:r>
                    </a:p>
                    <a:p>
                      <a:pPr rtl="0" fontAlgn="base"/>
                      <a:r>
                        <a:rPr lang="en-US" sz="800" b="0" i="0" kern="1200" baseline="0" dirty="0">
                          <a:solidFill>
                            <a:schemeClr val="tx1"/>
                          </a:solidFill>
                          <a:effectLst/>
                          <a:latin typeface="Hyundai Sans Text KR"/>
                          <a:ea typeface="Hyundai Sans Text KR"/>
                          <a:cs typeface="+mn-cs"/>
                        </a:rPr>
                        <a:t>​</a:t>
                      </a:r>
                    </a:p>
                    <a:p>
                      <a:pPr rtl="0" fontAlgn="base"/>
                      <a:r>
                        <a:rPr lang="en-US" sz="800" b="1" i="0" kern="1200" baseline="0" dirty="0">
                          <a:solidFill>
                            <a:schemeClr val="tx1"/>
                          </a:solidFill>
                          <a:effectLst/>
                          <a:latin typeface="Hyundai Sans Text KR"/>
                          <a:ea typeface="Hyundai Sans Text KR"/>
                          <a:cs typeface="+mn-cs"/>
                        </a:rPr>
                        <a:t>[Synthetic Data Generation Pipeline]</a:t>
                      </a:r>
                      <a:r>
                        <a:rPr lang="en-US" sz="800" b="0" i="0" kern="1200" baseline="0" dirty="0">
                          <a:solidFill>
                            <a:schemeClr val="tx1"/>
                          </a:solidFill>
                          <a:effectLst/>
                          <a:latin typeface="Hyundai Sans Text KR"/>
                          <a:ea typeface="Hyundai Sans Text KR"/>
                          <a:cs typeface="+mn-cs"/>
                        </a:rPr>
                        <a:t> simulate production </a:t>
                      </a:r>
                    </a:p>
                    <a:p>
                      <a:pPr rtl="0" fontAlgn="base"/>
                      <a:r>
                        <a:rPr lang="en-US" sz="800" b="0" i="0" kern="1200" baseline="0" dirty="0">
                          <a:solidFill>
                            <a:schemeClr val="tx1"/>
                          </a:solidFill>
                          <a:effectLst/>
                          <a:latin typeface="Hyundai Sans Text KR"/>
                          <a:ea typeface="Hyundai Sans Text KR"/>
                          <a:cs typeface="+mn-cs"/>
                        </a:rPr>
                        <a:t>scenarios to overcome HMGICS's low-volume ML data problem.​</a:t>
                      </a:r>
                    </a:p>
                    <a:p>
                      <a:pPr marL="0" indent="0" rtl="0" fontAlgn="base">
                        <a:buFont typeface="Arial" panose="020B0604020202020204" pitchFamily="34" charset="0"/>
                        <a:buChar char="•"/>
                      </a:pPr>
                      <a:r>
                        <a:rPr lang="en-US" sz="800" b="0" i="0" kern="1200" baseline="0" dirty="0">
                          <a:solidFill>
                            <a:schemeClr val="tx1"/>
                          </a:solidFill>
                          <a:effectLst/>
                          <a:latin typeface="Hyundai Sans Text KR"/>
                          <a:ea typeface="Hyundai Sans Text KR"/>
                          <a:cs typeface="+mn-cs"/>
                        </a:rPr>
                        <a:t> Ability to generate synthetic data for specific use case </a:t>
                      </a:r>
                    </a:p>
                    <a:p>
                      <a:pPr marL="0" indent="0" rtl="0" fontAlgn="base">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e.g. training for virtual verification​</a:t>
                      </a:r>
                    </a:p>
                    <a:p>
                      <a:pPr rtl="0" fontAlgn="base"/>
                      <a:r>
                        <a:rPr lang="en-US" sz="800" b="0" i="0" kern="1200" baseline="0" dirty="0">
                          <a:solidFill>
                            <a:schemeClr val="tx1"/>
                          </a:solidFill>
                          <a:effectLst/>
                          <a:latin typeface="Hyundai Sans Text KR"/>
                          <a:ea typeface="Hyundai Sans Text KR"/>
                          <a:cs typeface="+mn-cs"/>
                        </a:rPr>
                        <a:t>​</a:t>
                      </a:r>
                    </a:p>
                    <a:p>
                      <a:pPr rtl="0" fontAlgn="base"/>
                      <a:r>
                        <a:rPr lang="en-US" sz="800" b="1" i="0" kern="1200" baseline="0" dirty="0">
                          <a:solidFill>
                            <a:schemeClr val="tx1"/>
                          </a:solidFill>
                          <a:effectLst/>
                          <a:latin typeface="Hyundai Sans Text KR"/>
                          <a:ea typeface="Hyundai Sans Text KR"/>
                          <a:cs typeface="+mn-cs"/>
                        </a:rPr>
                        <a:t>[Tacit Knowledge Capture Schema] - </a:t>
                      </a:r>
                      <a:r>
                        <a:rPr lang="en-US" sz="800" b="0" i="0" kern="1200" baseline="0" dirty="0">
                          <a:solidFill>
                            <a:schemeClr val="tx1"/>
                          </a:solidFill>
                          <a:effectLst/>
                          <a:latin typeface="Hyundai Sans Text KR"/>
                          <a:ea typeface="Hyundai Sans Text KR"/>
                          <a:cs typeface="+mn-cs"/>
                        </a:rPr>
                        <a:t>structured elicitation </a:t>
                      </a:r>
                    </a:p>
                    <a:p>
                      <a:pPr rtl="0" fontAlgn="base"/>
                      <a:r>
                        <a:rPr lang="en-US" sz="800" b="0" i="0" kern="1200" baseline="0" dirty="0">
                          <a:solidFill>
                            <a:schemeClr val="tx1"/>
                          </a:solidFill>
                          <a:effectLst/>
                          <a:latin typeface="Hyundai Sans Text KR"/>
                          <a:ea typeface="Hyundai Sans Text KR"/>
                          <a:cs typeface="+mn-cs"/>
                        </a:rPr>
                        <a:t>templates encoding operator heuristics into the KG​</a:t>
                      </a: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780" kern="1200" dirty="0">
                        <a:solidFill>
                          <a:schemeClr val="tx1"/>
                        </a:solidFill>
                        <a:effectLst/>
                        <a:latin typeface="Hyundai Sans Head KR Medium" panose="020B0600000101010101" pitchFamily="34" charset="-127"/>
                        <a:ea typeface="Hyundai Sans Head KR Medium"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rtl="0" fontAlgn="base">
                        <a:buFont typeface="Arial" panose="020B0604020202020204" pitchFamily="34" charset="0"/>
                        <a:buChar char="•"/>
                      </a:pPr>
                      <a:r>
                        <a:rPr lang="en-US" sz="800" dirty="0">
                          <a:solidFill>
                            <a:srgbClr val="000000"/>
                          </a:solidFill>
                          <a:effectLst/>
                          <a:latin typeface="Hyundai Sans Text KR"/>
                          <a:ea typeface="Hyundai Sans Text KR" panose="020B0600000101010101" pitchFamily="34" charset="-127"/>
                        </a:rPr>
                        <a:t> Data requirements:</a:t>
                      </a:r>
                      <a:br>
                        <a:rPr lang="en-US" sz="800" dirty="0">
                          <a:solidFill>
                            <a:srgbClr val="000000"/>
                          </a:solidFill>
                          <a:effectLst/>
                          <a:latin typeface="Hyundai Sans Text KR"/>
                          <a:ea typeface="Hyundai Sans Text KR" panose="020B0600000101010101" pitchFamily="34" charset="-127"/>
                        </a:rPr>
                      </a:br>
                      <a:r>
                        <a:rPr lang="en-US" sz="800" dirty="0">
                          <a:solidFill>
                            <a:srgbClr val="000000"/>
                          </a:solidFill>
                          <a:effectLst/>
                          <a:latin typeface="Hyundai Sans Text KR"/>
                          <a:ea typeface="Hyundai Sans Text KR" panose="020B0600000101010101" pitchFamily="34" charset="-127"/>
                        </a:rPr>
                        <a:t>  Latency: Real-time vs cold, Flow: one-way vs two-way </a:t>
                      </a:r>
                    </a:p>
                    <a:p>
                      <a:pPr marL="0" marR="0" lvl="0" indent="0" rtl="0" fontAlgn="base">
                        <a:buFont typeface="Arial" panose="020B0604020202020204" pitchFamily="34" charset="0"/>
                        <a:buNone/>
                      </a:pPr>
                      <a:r>
                        <a:rPr lang="en-US" sz="800" dirty="0">
                          <a:solidFill>
                            <a:srgbClr val="000000"/>
                          </a:solidFill>
                          <a:effectLst/>
                          <a:latin typeface="Hyundai Sans Text KR"/>
                          <a:ea typeface="Hyundai Sans Text KR" panose="020B0600000101010101" pitchFamily="34" charset="-127"/>
                        </a:rPr>
                        <a:t>  and Breadth: across systems vs single system </a:t>
                      </a:r>
                    </a:p>
                    <a:p>
                      <a:pPr marL="0" marR="0" lvl="0" indent="0" rtl="0" fontAlgn="base">
                        <a:buFont typeface="Arial" panose="020B0604020202020204" pitchFamily="34" charset="0"/>
                        <a:buNone/>
                      </a:pPr>
                      <a:r>
                        <a:rPr lang="en-US" sz="800" dirty="0">
                          <a:solidFill>
                            <a:srgbClr val="000000"/>
                          </a:solidFill>
                          <a:effectLst/>
                          <a:latin typeface="Hyundai Sans Text KR"/>
                          <a:ea typeface="Hyundai Sans Text KR" panose="020B0600000101010101" pitchFamily="34" charset="-127"/>
                        </a:rPr>
                        <a:t>  connectivity </a:t>
                      </a:r>
                    </a:p>
                    <a:p>
                      <a:pPr marL="0" marR="0" lvl="0" indent="0" rtl="0" fontAlgn="base">
                        <a:buFont typeface="Arial" panose="020B0604020202020204" pitchFamily="34" charset="0"/>
                        <a:buChar char="•"/>
                      </a:pPr>
                      <a:r>
                        <a:rPr lang="en-US" sz="800" dirty="0">
                          <a:solidFill>
                            <a:srgbClr val="000000"/>
                          </a:solidFill>
                          <a:effectLst/>
                          <a:latin typeface="Hyundai Sans Text KR"/>
                          <a:ea typeface="Hyundai Sans Text KR" panose="020B0600000101010101" pitchFamily="34" charset="-127"/>
                        </a:rPr>
                        <a:t> Manpower: Large manpower is required to connect </a:t>
                      </a:r>
                    </a:p>
                    <a:p>
                      <a:pPr marL="0" marR="0" lvl="0" indent="0" rtl="0" fontAlgn="base">
                        <a:buFont typeface="Arial" panose="020B0604020202020204" pitchFamily="34" charset="0"/>
                        <a:buNone/>
                      </a:pPr>
                      <a:r>
                        <a:rPr lang="en-US" sz="800" dirty="0">
                          <a:solidFill>
                            <a:srgbClr val="000000"/>
                          </a:solidFill>
                          <a:effectLst/>
                          <a:latin typeface="Hyundai Sans Text KR"/>
                          <a:ea typeface="Hyundai Sans Text KR" panose="020B0600000101010101" pitchFamily="34" charset="-127"/>
                        </a:rPr>
                        <a:t>   develop &amp; manage systems</a:t>
                      </a:r>
                    </a:p>
                  </a:txBody>
                  <a:tcPr marL="42682" marT="10335" marB="103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66333179"/>
                  </a:ext>
                </a:extLst>
              </a:tr>
            </a:tbl>
          </a:graphicData>
        </a:graphic>
      </p:graphicFrame>
    </p:spTree>
    <p:extLst>
      <p:ext uri="{BB962C8B-B14F-4D97-AF65-F5344CB8AC3E}">
        <p14:creationId xmlns:p14="http://schemas.microsoft.com/office/powerpoint/2010/main" val="2977684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DFBE4-051A-6E3D-EC7D-1E606CF32235}"/>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BC69BC0F-5306-1D7F-E9EA-8FC5049B4379}"/>
              </a:ext>
            </a:extLst>
          </p:cNvPr>
          <p:cNvSpPr>
            <a:spLocks noGrp="1"/>
          </p:cNvSpPr>
          <p:nvPr>
            <p:ph type="ctrTitle"/>
          </p:nvPr>
        </p:nvSpPr>
        <p:spPr>
          <a:xfrm>
            <a:off x="273049" y="179388"/>
            <a:ext cx="9569929"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①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production management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698282E3-6314-D98F-4C07-67AFFFAB44EE}"/>
              </a:ext>
            </a:extLst>
          </p:cNvPr>
          <p:cNvSpPr/>
          <p:nvPr/>
        </p:nvSpPr>
        <p:spPr>
          <a:xfrm>
            <a:off x="88900" y="6276372"/>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96016CD8-CAED-F728-AF48-662794867982}"/>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6A1D3EC4-8BD9-BB00-9492-027AD205FF2F}"/>
              </a:ext>
            </a:extLst>
          </p:cNvPr>
          <p:cNvSpPr txBox="1"/>
          <p:nvPr/>
        </p:nvSpPr>
        <p:spPr>
          <a:xfrm>
            <a:off x="273049" y="845487"/>
            <a:ext cx="8474371"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Autonomous production management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Development Items</a:t>
            </a:r>
            <a:r>
              <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Required Technologies / Technical Pain Points</a:t>
            </a:r>
          </a:p>
        </p:txBody>
      </p:sp>
      <p:sp>
        <p:nvSpPr>
          <p:cNvPr id="5" name="Rectangle 1">
            <a:extLst>
              <a:ext uri="{FF2B5EF4-FFF2-40B4-BE49-F238E27FC236}">
                <a16:creationId xmlns:a16="http://schemas.microsoft.com/office/drawing/2014/main" id="{59AC8E35-E5C1-8907-6E1C-06D60DF0AEE9}"/>
              </a:ext>
            </a:extLst>
          </p:cNvPr>
          <p:cNvSpPr>
            <a:spLocks noChangeArrowheads="1"/>
          </p:cNvSpPr>
          <p:nvPr/>
        </p:nvSpPr>
        <p:spPr bwMode="auto">
          <a:xfrm>
            <a:off x="436324" y="1075071"/>
            <a:ext cx="949532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Establish an autonomous decision-making system that generates multi-perspective scenarios (Productivity / Inventory / BTO)</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while reflecting dynamic constraints (Supply Chain / Labor / Process)</a:t>
            </a:r>
          </a:p>
        </p:txBody>
      </p:sp>
      <p:graphicFrame>
        <p:nvGraphicFramePr>
          <p:cNvPr id="3" name="표 2">
            <a:extLst>
              <a:ext uri="{FF2B5EF4-FFF2-40B4-BE49-F238E27FC236}">
                <a16:creationId xmlns:a16="http://schemas.microsoft.com/office/drawing/2014/main" id="{85F60A37-9770-A00F-81D0-3B8805508DCF}"/>
              </a:ext>
            </a:extLst>
          </p:cNvPr>
          <p:cNvGraphicFramePr>
            <a:graphicFrameLocks noGrp="1"/>
          </p:cNvGraphicFramePr>
          <p:nvPr/>
        </p:nvGraphicFramePr>
        <p:xfrm>
          <a:off x="333375" y="1562687"/>
          <a:ext cx="12484801" cy="5179231"/>
        </p:xfrm>
        <a:graphic>
          <a:graphicData uri="http://schemas.openxmlformats.org/drawingml/2006/table">
            <a:tbl>
              <a:tblPr/>
              <a:tblGrid>
                <a:gridCol w="751143">
                  <a:extLst>
                    <a:ext uri="{9D8B030D-6E8A-4147-A177-3AD203B41FA5}">
                      <a16:colId xmlns:a16="http://schemas.microsoft.com/office/drawing/2014/main" val="3515855418"/>
                    </a:ext>
                  </a:extLst>
                </a:gridCol>
                <a:gridCol w="2880888">
                  <a:extLst>
                    <a:ext uri="{9D8B030D-6E8A-4147-A177-3AD203B41FA5}">
                      <a16:colId xmlns:a16="http://schemas.microsoft.com/office/drawing/2014/main" val="2891931337"/>
                    </a:ext>
                  </a:extLst>
                </a:gridCol>
                <a:gridCol w="2880888">
                  <a:extLst>
                    <a:ext uri="{9D8B030D-6E8A-4147-A177-3AD203B41FA5}">
                      <a16:colId xmlns:a16="http://schemas.microsoft.com/office/drawing/2014/main" val="3002806275"/>
                    </a:ext>
                  </a:extLst>
                </a:gridCol>
                <a:gridCol w="2880888">
                  <a:extLst>
                    <a:ext uri="{9D8B030D-6E8A-4147-A177-3AD203B41FA5}">
                      <a16:colId xmlns:a16="http://schemas.microsoft.com/office/drawing/2014/main" val="386882460"/>
                    </a:ext>
                  </a:extLst>
                </a:gridCol>
                <a:gridCol w="304767">
                  <a:extLst>
                    <a:ext uri="{9D8B030D-6E8A-4147-A177-3AD203B41FA5}">
                      <a16:colId xmlns:a16="http://schemas.microsoft.com/office/drawing/2014/main" val="1834976390"/>
                    </a:ext>
                  </a:extLst>
                </a:gridCol>
                <a:gridCol w="2786227">
                  <a:extLst>
                    <a:ext uri="{9D8B030D-6E8A-4147-A177-3AD203B41FA5}">
                      <a16:colId xmlns:a16="http://schemas.microsoft.com/office/drawing/2014/main" val="3458429665"/>
                    </a:ext>
                  </a:extLst>
                </a:gridCol>
              </a:tblGrid>
              <a:tr h="175543">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sz="90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5003688">
                <a:tc>
                  <a:txBody>
                    <a:bodyPr/>
                    <a:lstStyle/>
                    <a:p>
                      <a:pPr indent="0" algn="ctr">
                        <a:lnSpc>
                          <a:spcPct val="120000"/>
                        </a:lnSpc>
                        <a:spcBef>
                          <a:spcPts val="0"/>
                        </a:spcBef>
                        <a:spcAft>
                          <a:spcPts val="0"/>
                        </a:spcAft>
                        <a:buNone/>
                      </a:pP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Decision</a:t>
                      </a:r>
                      <a:endPar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rtl="0" fontAlgn="base"/>
                      <a:endParaRPr lang="en-US" sz="800" b="1" i="0" kern="1200" dirty="0">
                        <a:solidFill>
                          <a:schemeClr val="tx1"/>
                        </a:solidFill>
                        <a:effectLst/>
                        <a:latin typeface="Hyundai Sans Text KR" panose="020B0600000101010101" pitchFamily="34" charset="-127"/>
                        <a:ea typeface="Hyundai Sans Text KR"/>
                        <a:cs typeface="+mn-cs"/>
                      </a:endParaRPr>
                    </a:p>
                    <a:p>
                      <a:pPr lvl="0">
                        <a:buNone/>
                      </a:pPr>
                      <a:r>
                        <a:rPr lang="en-US" sz="800" b="1" i="0" kern="1200" dirty="0">
                          <a:solidFill>
                            <a:schemeClr val="tx1"/>
                          </a:solidFill>
                          <a:effectLst/>
                          <a:latin typeface="Hyundai Sans Text KR" panose="020B0600000101010101" pitchFamily="34" charset="-127"/>
                          <a:ea typeface="Hyundai Sans Text KR"/>
                          <a:cs typeface="+mn-cs"/>
                        </a:rPr>
                        <a:t>[Risk Predictive Analysis]</a:t>
                      </a:r>
                      <a:r>
                        <a:rPr lang="en-US" sz="800" b="0" i="0" kern="1200" dirty="0">
                          <a:solidFill>
                            <a:schemeClr val="tx1"/>
                          </a:solidFill>
                          <a:effectLst/>
                          <a:latin typeface="Hyundai Sans Text KR" panose="020B0600000101010101" pitchFamily="34" charset="-127"/>
                          <a:ea typeface="Hyundai Sans Text KR"/>
                          <a:cs typeface="+mn-cs"/>
                        </a:rPr>
                        <a:t> Predictive analysis of expected part </a:t>
                      </a:r>
                    </a:p>
                    <a:p>
                      <a:pPr rtl="0" fontAlgn="base"/>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shortage timing for specific lines based on real-time inventory and supply chain data​</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[Dynamic Resource Management]</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Manage real-time </a:t>
                      </a:r>
                    </a:p>
                    <a:p>
                      <a:pPr rtl="0" fontAlgn="base"/>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production CAPA by matching currently available manpower </a:t>
                      </a:r>
                    </a:p>
                    <a:p>
                      <a:pPr rtl="0" fontAlgn="base"/>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(labor) and equipment status​</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[Orchestration AI Engine Develop.]</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Automatic micro-</a:t>
                      </a:r>
                    </a:p>
                    <a:p>
                      <a:pPr rtl="0" fontAlgn="base"/>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production planning at the​ sequence level, simulating human manager tacit knowledge judgements​</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[What-if Scenario Generation]</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a:t>
                      </a:r>
                    </a:p>
                    <a:p>
                      <a:pPr lvl="0" rtl="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Generating multiple alternatives based on objective functions:​</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① </a:t>
                      </a: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Productivity First :</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Maximizing UPH and equipment </a:t>
                      </a:r>
                    </a:p>
                    <a:p>
                      <a:pPr lvl="0" rtl="0">
                        <a:buNone/>
                      </a:pPr>
                      <a:r>
                        <a:rPr lang="en-US" sz="800" b="0" i="0" kern="1200" dirty="0">
                          <a:solidFill>
                            <a:schemeClr val="tx1"/>
                          </a:solidFill>
                          <a:effectLst/>
                          <a:latin typeface="Hyundai Sans Text KR"/>
                          <a:ea typeface="Hyundai Sans Text KR"/>
                          <a:cs typeface="+mn-cs"/>
                        </a:rPr>
                        <a:t>                                         utilization​</a:t>
                      </a:r>
                      <a:br>
                        <a:rPr lang="en-US" sz="800" b="0" i="0" kern="1200" dirty="0">
                          <a:solidFill>
                            <a:srgbClr val="000000"/>
                          </a:solidFill>
                          <a:effectLst/>
                          <a:latin typeface="Hyundai Sans Text KR"/>
                          <a:ea typeface="Hyundai Sans Text KR"/>
                          <a:cs typeface="+mn-cs"/>
                        </a:rPr>
                      </a:br>
                      <a:r>
                        <a:rPr lang="en-US" sz="800" b="0" i="0" kern="1200" dirty="0">
                          <a:solidFill>
                            <a:schemeClr val="tx1"/>
                          </a:solidFill>
                          <a:effectLst/>
                          <a:latin typeface="Hyundai Sans Text KR"/>
                          <a:ea typeface="Hyundai Sans Text KR"/>
                          <a:cs typeface="+mn-cs"/>
                        </a:rPr>
                        <a:t>② </a:t>
                      </a:r>
                      <a:r>
                        <a:rPr lang="en-US" sz="800" b="1" i="0" kern="1200" dirty="0">
                          <a:solidFill>
                            <a:schemeClr val="tx1"/>
                          </a:solidFill>
                          <a:effectLst/>
                          <a:latin typeface="Hyundai Sans Text KR"/>
                          <a:ea typeface="Hyundai Sans Text KR"/>
                          <a:cs typeface="+mn-cs"/>
                        </a:rPr>
                        <a:t>Inventory Optimization :</a:t>
                      </a:r>
                      <a:r>
                        <a:rPr lang="en-US" sz="800" b="0" i="0" kern="1200" dirty="0">
                          <a:solidFill>
                            <a:schemeClr val="tx1"/>
                          </a:solidFill>
                          <a:effectLst/>
                          <a:latin typeface="Hyundai Sans Text KR"/>
                          <a:ea typeface="Hyundai Sans Text KR"/>
                          <a:cs typeface="+mn-cs"/>
                        </a:rPr>
                        <a:t> Minimizing finished goods/WIP </a:t>
                      </a:r>
                    </a:p>
                    <a:p>
                      <a:pPr lvl="0" rtl="0">
                        <a:buNone/>
                      </a:pPr>
                      <a:r>
                        <a:rPr lang="en-US" sz="800" b="0" i="0" kern="1200" dirty="0">
                          <a:solidFill>
                            <a:schemeClr val="tx1"/>
                          </a:solidFill>
                          <a:effectLst/>
                          <a:latin typeface="Hyundai Sans Text KR" panose="020B0600000101010101" pitchFamily="34" charset="-127"/>
                          <a:ea typeface="Hyundai Sans Text KR"/>
                          <a:cs typeface="+mn-cs"/>
                        </a:rPr>
                        <a:t>                                                    storage costs​</a:t>
                      </a:r>
                      <a:br>
                        <a:rPr lang="en-US" sz="800" b="0" i="0" kern="1200" dirty="0">
                          <a:solidFill>
                            <a:srgbClr val="000000"/>
                          </a:solidFill>
                          <a:effectLst/>
                          <a:latin typeface="Hyundai Sans Text KR" panose="020B0600000101010101" pitchFamily="34" charset="-127"/>
                          <a:ea typeface="Hyundai Sans Text KR"/>
                          <a:cs typeface="+mn-cs"/>
                        </a:rPr>
                      </a:br>
                      <a:r>
                        <a:rPr lang="en-US" sz="800" b="0" i="0" kern="1200" dirty="0">
                          <a:solidFill>
                            <a:schemeClr val="tx1"/>
                          </a:solidFill>
                          <a:effectLst/>
                          <a:latin typeface="Hyundai Sans Text KR" panose="020B0600000101010101" pitchFamily="34" charset="-127"/>
                          <a:ea typeface="Hyundai Sans Text KR"/>
                          <a:cs typeface="+mn-cs"/>
                        </a:rPr>
                        <a:t>③ </a:t>
                      </a:r>
                      <a:r>
                        <a:rPr lang="en-US" sz="800" b="1" i="0" kern="1200" dirty="0">
                          <a:solidFill>
                            <a:schemeClr val="tx1"/>
                          </a:solidFill>
                          <a:effectLst/>
                          <a:latin typeface="Hyundai Sans Text KR" panose="020B0600000101010101" pitchFamily="34" charset="-127"/>
                          <a:ea typeface="Hyundai Sans Text KR"/>
                          <a:cs typeface="+mn-cs"/>
                        </a:rPr>
                        <a:t>BTO Optimization :</a:t>
                      </a:r>
                      <a:r>
                        <a:rPr lang="en-US" sz="800" b="0" i="0" kern="1200" dirty="0">
                          <a:solidFill>
                            <a:schemeClr val="tx1"/>
                          </a:solidFill>
                          <a:effectLst/>
                          <a:latin typeface="Hyundai Sans Text KR" panose="020B0600000101010101" pitchFamily="34" charset="-127"/>
                          <a:ea typeface="Hyundai Sans Text KR"/>
                          <a:cs typeface="+mn-cs"/>
                        </a:rPr>
                        <a:t> Prioritizing customer order On-Time </a:t>
                      </a:r>
                    </a:p>
                    <a:p>
                      <a:pPr lvl="0" rtl="0">
                        <a:buNone/>
                      </a:pPr>
                      <a:r>
                        <a:rPr lang="en-US" sz="800" b="0" i="0" kern="1200" dirty="0">
                          <a:solidFill>
                            <a:schemeClr val="tx1"/>
                          </a:solidFill>
                          <a:effectLst/>
                          <a:latin typeface="Hyundai Sans Text KR" panose="020B0600000101010101" pitchFamily="34" charset="-127"/>
                          <a:ea typeface="Hyundai Sans Text KR"/>
                          <a:cs typeface="+mn-cs"/>
                        </a:rPr>
                        <a:t>                                          In-Full (OTIF) delivery rate​</a:t>
                      </a:r>
                      <a:br>
                        <a:rPr lang="en-US" sz="800" b="0" i="0" kern="1200" dirty="0">
                          <a:solidFill>
                            <a:srgbClr val="000000"/>
                          </a:solidFill>
                          <a:effectLst/>
                          <a:latin typeface="Hyundai Sans Text KR" panose="020B0600000101010101" pitchFamily="34" charset="-127"/>
                          <a:ea typeface="Hyundai Sans Text KR"/>
                          <a:cs typeface="+mn-cs"/>
                        </a:rPr>
                      </a:br>
                      <a:r>
                        <a:rPr lang="en-US" sz="800" b="1" i="0" kern="1200" dirty="0">
                          <a:solidFill>
                            <a:schemeClr val="tx1"/>
                          </a:solidFill>
                          <a:effectLst/>
                          <a:latin typeface="Hyundai Sans Text KR" panose="020B0600000101010101" pitchFamily="34" charset="-127"/>
                          <a:ea typeface="Hyundai Sans Text KR"/>
                          <a:cs typeface="+mn-cs"/>
                        </a:rPr>
                        <a:t>[Virtual Validation for Scenario]</a:t>
                      </a:r>
                      <a:r>
                        <a:rPr lang="en-US" sz="800" b="0" i="0" kern="1200" dirty="0">
                          <a:solidFill>
                            <a:schemeClr val="tx1"/>
                          </a:solidFill>
                          <a:effectLst/>
                          <a:latin typeface="Hyundai Sans Text KR" panose="020B0600000101010101" pitchFamily="34" charset="-127"/>
                          <a:ea typeface="Hyundai Sans Text KR"/>
                          <a:cs typeface="+mn-cs"/>
                        </a:rPr>
                        <a:t> Pre-simulating line balancing,</a:t>
                      </a:r>
                    </a:p>
                    <a:p>
                      <a:pPr lvl="0" rtl="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bottlenecks, and  potential shortages by inputting the 3 </a:t>
                      </a:r>
                    </a:p>
                    <a:p>
                      <a:pPr lvl="0" rtl="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AI-proposed scenarios into a digital twin​</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[Decision Support UI]</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Developing a dashboard where managers can compare ​expected effects (KPI changes) by scenario and give final approval and decision​</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rtl="0" fontAlgn="base">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MES and ERP Integration </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Worker Terminal Interface</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Kafka (Event Streaming)</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MCP Gateway </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Edge Computing Nodes (Private 5G-connected)</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Digital Twin Integration - State Reader, Floor Topology</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Audit Log</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OPC UA/ MQTT Integration for equipment safety</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marR="0" lvl="0" indent="0" algn="l" rtl="0">
                        <a:lnSpc>
                          <a:spcPct val="100000"/>
                        </a:lnSpc>
                        <a:spcBef>
                          <a:spcPts val="0"/>
                        </a:spcBef>
                        <a:spcAft>
                          <a:spcPts val="0"/>
                        </a:spcAft>
                        <a:buClrTx/>
                        <a:buSzTx/>
                        <a:buFontTx/>
                        <a:buNone/>
                      </a:pPr>
                      <a:endParaRPr lang="en-US" sz="800" kern="120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ase"/>
                      <a:r>
                        <a:rPr lang="en-US" sz="800" b="1" i="0" kern="1200" dirty="0">
                          <a:solidFill>
                            <a:schemeClr val="tx1"/>
                          </a:solidFill>
                          <a:effectLst/>
                          <a:latin typeface="Hyundai Sans Text KR" panose="020B0600000101010101" pitchFamily="34" charset="-127"/>
                          <a:ea typeface="Hyundai Sans Text KR" panose="020B0600000101010101" pitchFamily="34" charset="-127"/>
                        </a:rPr>
                        <a:t>[P01.2 Real-time Schedule and Operation Rate Integration] </a:t>
                      </a:r>
                    </a:p>
                    <a:p>
                      <a:pPr rtl="0" fontAlgn="base"/>
                      <a:r>
                        <a:rPr lang="en-US" sz="800" b="0" i="0" kern="1200" dirty="0">
                          <a:solidFill>
                            <a:schemeClr val="tx1"/>
                          </a:solidFill>
                          <a:effectLst/>
                          <a:latin typeface="Hyundai Sans Text KR" panose="020B0600000101010101" pitchFamily="34" charset="-127"/>
                          <a:ea typeface="Hyundai Sans Text KR" panose="020B0600000101010101" pitchFamily="34" charset="-127"/>
                        </a:rPr>
                        <a:t>Manage production schedule and resources based on real-time data​</a:t>
                      </a:r>
                    </a:p>
                    <a:p>
                      <a:pPr lvl="0" rtl="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lvl="0" rtl="0">
                        <a:buNone/>
                      </a:pPr>
                      <a:r>
                        <a:rPr lang="en-US" sz="800" b="1" i="0" kern="1200" dirty="0">
                          <a:solidFill>
                            <a:schemeClr val="tx1"/>
                          </a:solidFill>
                          <a:effectLst/>
                          <a:latin typeface="Hyundai Sans Text KR" panose="020B0600000101010101" pitchFamily="34" charset="-127"/>
                          <a:ea typeface="Hyundai Sans Text KR" panose="020B0600000101010101" pitchFamily="34" charset="-127"/>
                        </a:rPr>
                        <a:t>[P01.3 Digital Twin Simulation]</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 Simulate line balancing, </a:t>
                      </a:r>
                    </a:p>
                    <a:p>
                      <a:pPr lvl="0" rtl="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bottlenecks, and potential shortages by inputting AI-generated scenarios into a virtual factory digital twin​</a:t>
                      </a:r>
                    </a:p>
                    <a:p>
                      <a:pPr lvl="0" rtl="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lvl="0" rtl="0">
                        <a:buNone/>
                      </a:pPr>
                      <a:r>
                        <a:rPr lang="en-US" sz="800" b="1" i="0" kern="1200" dirty="0">
                          <a:solidFill>
                            <a:schemeClr val="tx1"/>
                          </a:solidFill>
                          <a:effectLst/>
                          <a:latin typeface="Hyundai Sans Text KR" panose="020B0600000101010101" pitchFamily="34" charset="-127"/>
                          <a:ea typeface="Hyundai Sans Text KR" panose="020B0600000101010101" pitchFamily="34" charset="-127"/>
                        </a:rPr>
                        <a:t>[P01.4 </a:t>
                      </a:r>
                      <a:r>
                        <a:rPr lang="en-SG" sz="800" b="1" i="0" kern="1200" dirty="0">
                          <a:solidFill>
                            <a:schemeClr val="tx1"/>
                          </a:solidFill>
                          <a:effectLst/>
                          <a:latin typeface="Hyundai Sans Text KR" panose="020B0600000101010101" pitchFamily="34" charset="-127"/>
                          <a:ea typeface="Hyundai Sans Text KR" panose="020B0600000101010101" pitchFamily="34" charset="-127"/>
                        </a:rPr>
                        <a:t>AI-Assisted Troubleshoot and RCA with HITL]</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lvl="0" rtl="0">
                        <a:buNone/>
                      </a:pPr>
                      <a:r>
                        <a:rPr lang="en-SG" sz="800" b="0" i="0" kern="1200" dirty="0">
                          <a:solidFill>
                            <a:schemeClr val="tx1"/>
                          </a:solidFill>
                          <a:effectLst/>
                          <a:latin typeface="Hyundai Sans Text KR" panose="020B0600000101010101" pitchFamily="34" charset="-127"/>
                          <a:ea typeface="Hyundai Sans Text KR" panose="020B0600000101010101" pitchFamily="34" charset="-127"/>
                        </a:rPr>
                        <a:t>Guided troubleshooting and RCA investigation with support </a:t>
                      </a:r>
                    </a:p>
                    <a:p>
                      <a:pPr lvl="0" rtl="0">
                        <a:buNone/>
                      </a:pPr>
                      <a:r>
                        <a:rPr lang="en-SG" sz="800" b="0" i="0" kern="1200" dirty="0">
                          <a:solidFill>
                            <a:schemeClr val="tx1"/>
                          </a:solidFill>
                          <a:effectLst/>
                          <a:latin typeface="Hyundai Sans Text KR" panose="020B0600000101010101" pitchFamily="34" charset="-127"/>
                          <a:ea typeface="Hyundai Sans Text KR" panose="020B0600000101010101" pitchFamily="34" charset="-127"/>
                        </a:rPr>
                        <a:t>from human inputs and following steps defined by SMEs​</a:t>
                      </a:r>
                      <a:br>
                        <a:rPr lang="en-SG" sz="800" b="0" i="0" kern="1200" dirty="0">
                          <a:solidFill>
                            <a:srgbClr val="000000"/>
                          </a:solidFill>
                          <a:effectLst/>
                          <a:latin typeface="Hyundai Sans Text KR" panose="020B0600000101010101" pitchFamily="34" charset="-127"/>
                          <a:ea typeface="Hyundai Sans Text KR" panose="020B0600000101010101" pitchFamily="34" charset="-127"/>
                        </a:rPr>
                      </a:br>
                      <a:r>
                        <a:rPr lang="en-SG" sz="800" b="0" i="0" kern="1200" dirty="0">
                          <a:solidFill>
                            <a:schemeClr val="tx1"/>
                          </a:solidFill>
                          <a:effectLst/>
                          <a:latin typeface="Hyundai Sans Text KR" panose="020B0600000101010101" pitchFamily="34" charset="-127"/>
                          <a:ea typeface="Hyundai Sans Text KR" panose="020B0600000101010101" pitchFamily="34" charset="-127"/>
                        </a:rPr>
                        <a:t>​</a:t>
                      </a:r>
                    </a:p>
                    <a:p>
                      <a:pPr lvl="0" rtl="0">
                        <a:buNone/>
                      </a:pPr>
                      <a:r>
                        <a:rPr lang="en-US" sz="800" b="1" i="0" kern="1200" dirty="0">
                          <a:solidFill>
                            <a:schemeClr val="tx1"/>
                          </a:solidFill>
                          <a:effectLst/>
                          <a:latin typeface="Hyundai Sans Text KR" panose="020B0600000101010101" pitchFamily="34" charset="-127"/>
                          <a:ea typeface="Hyundai Sans Text KR" panose="020B0600000101010101" pitchFamily="34" charset="-127"/>
                        </a:rPr>
                        <a:t>[P01.5 Predictive Planning with HITL Audit and Override]</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Demand forecasting: to anticipate customer requirements.​</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Capacity prediction: to estimate available workforce and </a:t>
                      </a:r>
                    </a:p>
                    <a:p>
                      <a:pPr marL="0" lvl="0" indent="0" rtl="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equipment.​</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Constraint-aware scheduling: that considers materials, labor, </a:t>
                      </a:r>
                    </a:p>
                    <a:p>
                      <a:pPr marL="0" lvl="0" indent="0" rtl="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and machine availability.​</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Inventory Optimization: Minimize finished goods/WIP storage </a:t>
                      </a:r>
                    </a:p>
                    <a:p>
                      <a:pPr marL="0" lvl="0" indent="0" rtl="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costs​</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BTO Optimization: Prioritize customer order On Time In Full </a:t>
                      </a:r>
                    </a:p>
                    <a:p>
                      <a:pPr marL="0" lvl="0" indent="0" rtl="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(OTIF) delivery rate​</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Managers can compare expected effects (KPI changes) by </a:t>
                      </a:r>
                    </a:p>
                    <a:p>
                      <a:pPr marL="0" lvl="0" indent="0" rtl="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scenario. Governed approval UI for AI recommendations.​</a:t>
                      </a:r>
                    </a:p>
                    <a:p>
                      <a:pPr lvl="0" rtl="0">
                        <a:buNone/>
                      </a:pPr>
                      <a:endParaRPr lang="en-US" sz="800" b="0" i="0" kern="1200" dirty="0">
                        <a:solidFill>
                          <a:schemeClr val="tx1"/>
                        </a:solidFill>
                        <a:effectLst/>
                        <a:latin typeface="Hyundai Sans Text KR" panose="020B0600000101010101" pitchFamily="34" charset="-127"/>
                        <a:ea typeface="Hyundai Sans Text KR" panose="020B0600000101010101" pitchFamily="34" charset="-127"/>
                      </a:endParaRPr>
                    </a:p>
                    <a:p>
                      <a:pPr lvl="0" rtl="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Features required:​</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Enterprise Knowledge Graph for Production/Quality​</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Workforce Skill Matrix Service​</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Synthetic Data Generation Pipeline​</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Multi-Objective Optimization Agent (MOO)​</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High-Fidelity Digital Twin Platform​</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What-If Simulation Engine ​</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Plan-vs-Actual Comparison Engine ​</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Rollback Decision Logic Engine​</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Deviation detection and alert​</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RACS Integration​</a:t>
                      </a:r>
                    </a:p>
                    <a:p>
                      <a:pPr marL="0" lvl="0" indent="0" rtl="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Path planning and conflict resolution</a:t>
                      </a:r>
                    </a:p>
                    <a:p>
                      <a:pPr lvl="0" algn="l">
                        <a:buNone/>
                      </a:pPr>
                      <a:endParaRPr lang="en-US" sz="800" kern="120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a:buNone/>
                      </a:pPr>
                      <a:r>
                        <a:rPr lang="en-US" sz="800" dirty="0">
                          <a:latin typeface="Hyundai Sans Text KR" panose="020B0600000101010101" pitchFamily="34" charset="-127"/>
                          <a:ea typeface="Hyundai Sans Text KR"/>
                        </a:rPr>
                        <a:t>• Technical load of reflecting constantly changing dynamic variables into the real-time analysis model without latency</a:t>
                      </a:r>
                      <a:br>
                        <a:rPr lang="en-US" sz="800" dirty="0">
                          <a:latin typeface="Hyundai Sans Text KR" panose="020B0600000101010101" pitchFamily="34" charset="-127"/>
                          <a:ea typeface="Hyundai Sans Text KR"/>
                        </a:rPr>
                      </a:br>
                      <a:r>
                        <a:rPr lang="en-US" sz="800" dirty="0">
                          <a:latin typeface="Hyundai Sans Text KR" panose="020B0600000101010101" pitchFamily="34" charset="-127"/>
                          <a:ea typeface="Hyundai Sans Text KR"/>
                        </a:rPr>
                        <a:t>• High computational load of multi-objective optimization </a:t>
                      </a:r>
                    </a:p>
                    <a:p>
                      <a:pPr marL="0" marR="0" lvl="0">
                        <a:buNone/>
                      </a:pPr>
                      <a:r>
                        <a:rPr lang="en-US" sz="800" dirty="0">
                          <a:latin typeface="Hyundai Sans Text KR" panose="020B0600000101010101" pitchFamily="34" charset="-127"/>
                          <a:ea typeface="Hyundai Sans Text KR"/>
                        </a:rPr>
                        <a:t>• Difficult to synchronize 100% the physical and virtual model without error</a:t>
                      </a:r>
                    </a:p>
                    <a:p>
                      <a:pPr marL="0" marR="0" lvl="0">
                        <a:buNone/>
                      </a:pPr>
                      <a:r>
                        <a:rPr lang="en-US" sz="800" dirty="0">
                          <a:latin typeface="Hyundai Sans Text KR" panose="020B0600000101010101" pitchFamily="34" charset="-127"/>
                          <a:ea typeface="Hyundai Sans Text KR"/>
                        </a:rPr>
                        <a:t>• Interoperability of simulation systems and legacy systems</a:t>
                      </a:r>
                    </a:p>
                    <a:p>
                      <a:pPr lvl="0" algn="l">
                        <a:buNone/>
                      </a:pPr>
                      <a:endParaRPr lang="en-US" sz="800" dirty="0">
                        <a:effectLst/>
                        <a:latin typeface="Hyundai Sans Text KR" panose="020B0600000101010101" pitchFamily="34" charset="-127"/>
                        <a:ea typeface="Hyundai Sans Text KR"/>
                      </a:endParaRPr>
                    </a:p>
                  </a:txBody>
                  <a:tcPr marL="36000" marR="0" marT="8717" marB="8717">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61364911"/>
                  </a:ext>
                </a:extLst>
              </a:tr>
            </a:tbl>
          </a:graphicData>
        </a:graphic>
      </p:graphicFrame>
    </p:spTree>
    <p:extLst>
      <p:ext uri="{BB962C8B-B14F-4D97-AF65-F5344CB8AC3E}">
        <p14:creationId xmlns:p14="http://schemas.microsoft.com/office/powerpoint/2010/main" val="416918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3B960-1BEA-CF5A-9FF7-ED5FBACF6658}"/>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56FF3827-9358-9AF6-2F2D-2C35D3C8CD43}"/>
              </a:ext>
            </a:extLst>
          </p:cNvPr>
          <p:cNvSpPr>
            <a:spLocks noGrp="1"/>
          </p:cNvSpPr>
          <p:nvPr>
            <p:ph type="ctrTitle"/>
          </p:nvPr>
        </p:nvSpPr>
        <p:spPr>
          <a:xfrm>
            <a:off x="273049" y="179388"/>
            <a:ext cx="9569929"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①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production management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3674203E-65BE-1DFF-82DE-3509EA5D57A4}"/>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772BFBBB-ABF8-750C-A6B2-34BAE799976A}"/>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87E3C0AF-4951-5DEB-E02F-585D852D6883}"/>
              </a:ext>
            </a:extLst>
          </p:cNvPr>
          <p:cNvSpPr txBox="1"/>
          <p:nvPr/>
        </p:nvSpPr>
        <p:spPr>
          <a:xfrm>
            <a:off x="273049" y="845487"/>
            <a:ext cx="8474371"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Autonomous production management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Development Items</a:t>
            </a:r>
            <a:r>
              <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Required Technologies / Technical Pain Points</a:t>
            </a:r>
          </a:p>
        </p:txBody>
      </p:sp>
      <p:sp>
        <p:nvSpPr>
          <p:cNvPr id="5" name="Rectangle 1">
            <a:extLst>
              <a:ext uri="{FF2B5EF4-FFF2-40B4-BE49-F238E27FC236}">
                <a16:creationId xmlns:a16="http://schemas.microsoft.com/office/drawing/2014/main" id="{47217808-1C18-305D-3871-AC6244569492}"/>
              </a:ext>
            </a:extLst>
          </p:cNvPr>
          <p:cNvSpPr>
            <a:spLocks noChangeArrowheads="1"/>
          </p:cNvSpPr>
          <p:nvPr/>
        </p:nvSpPr>
        <p:spPr bwMode="auto">
          <a:xfrm>
            <a:off x="436324" y="1075071"/>
            <a:ext cx="949532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Establish an autonomous decision-making system that generates multi-perspective scenarios (Productivity / Inventory / BTO)</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while reflecting dynamic constraints (Supply Chain / Labor / Process)</a:t>
            </a:r>
          </a:p>
        </p:txBody>
      </p:sp>
      <p:graphicFrame>
        <p:nvGraphicFramePr>
          <p:cNvPr id="3" name="표 2">
            <a:extLst>
              <a:ext uri="{FF2B5EF4-FFF2-40B4-BE49-F238E27FC236}">
                <a16:creationId xmlns:a16="http://schemas.microsoft.com/office/drawing/2014/main" id="{72F5A599-08EB-F484-DAA3-576748BE8398}"/>
              </a:ext>
            </a:extLst>
          </p:cNvPr>
          <p:cNvGraphicFramePr>
            <a:graphicFrameLocks noGrp="1"/>
          </p:cNvGraphicFramePr>
          <p:nvPr/>
        </p:nvGraphicFramePr>
        <p:xfrm>
          <a:off x="333375" y="1562687"/>
          <a:ext cx="12484800" cy="5180400"/>
        </p:xfrm>
        <a:graphic>
          <a:graphicData uri="http://schemas.openxmlformats.org/drawingml/2006/table">
            <a:tbl>
              <a:tblPr/>
              <a:tblGrid>
                <a:gridCol w="751143">
                  <a:extLst>
                    <a:ext uri="{9D8B030D-6E8A-4147-A177-3AD203B41FA5}">
                      <a16:colId xmlns:a16="http://schemas.microsoft.com/office/drawing/2014/main" val="3515855418"/>
                    </a:ext>
                  </a:extLst>
                </a:gridCol>
                <a:gridCol w="2184241">
                  <a:extLst>
                    <a:ext uri="{9D8B030D-6E8A-4147-A177-3AD203B41FA5}">
                      <a16:colId xmlns:a16="http://schemas.microsoft.com/office/drawing/2014/main" val="2891931337"/>
                    </a:ext>
                  </a:extLst>
                </a:gridCol>
                <a:gridCol w="3013831">
                  <a:extLst>
                    <a:ext uri="{9D8B030D-6E8A-4147-A177-3AD203B41FA5}">
                      <a16:colId xmlns:a16="http://schemas.microsoft.com/office/drawing/2014/main" val="3002806275"/>
                    </a:ext>
                  </a:extLst>
                </a:gridCol>
                <a:gridCol w="3444590">
                  <a:extLst>
                    <a:ext uri="{9D8B030D-6E8A-4147-A177-3AD203B41FA5}">
                      <a16:colId xmlns:a16="http://schemas.microsoft.com/office/drawing/2014/main" val="386882460"/>
                    </a:ext>
                  </a:extLst>
                </a:gridCol>
                <a:gridCol w="304767">
                  <a:extLst>
                    <a:ext uri="{9D8B030D-6E8A-4147-A177-3AD203B41FA5}">
                      <a16:colId xmlns:a16="http://schemas.microsoft.com/office/drawing/2014/main" val="1834976390"/>
                    </a:ext>
                  </a:extLst>
                </a:gridCol>
                <a:gridCol w="2786228">
                  <a:extLst>
                    <a:ext uri="{9D8B030D-6E8A-4147-A177-3AD203B41FA5}">
                      <a16:colId xmlns:a16="http://schemas.microsoft.com/office/drawing/2014/main" val="3458429665"/>
                    </a:ext>
                  </a:extLst>
                </a:gridCol>
              </a:tblGrid>
              <a:tr h="169325">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sz="900" b="1" i="0" kern="120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3223985">
                <a:tc>
                  <a:txBody>
                    <a:bodyPr/>
                    <a:lstStyle/>
                    <a:p>
                      <a:pPr indent="0" algn="ctr">
                        <a:lnSpc>
                          <a:spcPct val="120000"/>
                        </a:lnSpc>
                        <a:spcBef>
                          <a:spcPts val="0"/>
                        </a:spcBef>
                        <a:spcAft>
                          <a:spcPts val="0"/>
                        </a:spcAft>
                        <a:buNone/>
                      </a:pPr>
                      <a:r>
                        <a:rPr lang="en-US" sz="900" b="1" i="0" kern="1200" dirty="0">
                          <a:solidFill>
                            <a:schemeClr val="tx1"/>
                          </a:solidFill>
                          <a:effectLst/>
                          <a:latin typeface="현대산스 Text" panose="020B0600000101010101" pitchFamily="50" charset="-127"/>
                          <a:ea typeface="현대산스 Text"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a:lnSpc>
                          <a:spcPct val="100000"/>
                        </a:lnSpc>
                        <a:spcBef>
                          <a:spcPts val="0"/>
                        </a:spcBef>
                        <a:spcAft>
                          <a:spcPts val="0"/>
                        </a:spcAft>
                        <a:buNone/>
                      </a:pPr>
                      <a:r>
                        <a:rPr lang="en-US" sz="800" b="1" i="0" u="none" strike="noStrike" noProof="0" dirty="0">
                          <a:solidFill>
                            <a:schemeClr val="tx1"/>
                          </a:solidFill>
                          <a:effectLst/>
                          <a:latin typeface="Hyundai Sans Text KR"/>
                          <a:ea typeface="Hyundai Sans Text KR"/>
                        </a:rPr>
                        <a:t>[Automated Work Dispatch]</a:t>
                      </a:r>
                      <a:r>
                        <a:rPr lang="en-US" sz="800" b="0" i="0" u="none" strike="noStrike" noProof="0" dirty="0">
                          <a:solidFill>
                            <a:schemeClr val="tx1"/>
                          </a:solidFill>
                          <a:effectLst/>
                          <a:latin typeface="Hyundai Sans Text KR"/>
                          <a:ea typeface="Hyundai Sans Text KR"/>
                        </a:rPr>
                        <a:t> Automated </a:t>
                      </a:r>
                    </a:p>
                    <a:p>
                      <a:pPr marL="0" marR="0" lvl="0" indent="0" algn="l">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transmission of updated production plan </a:t>
                      </a:r>
                    </a:p>
                    <a:p>
                      <a:pPr marL="0" marR="0" lvl="0" indent="0" algn="l">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sequence and work instructions to PLCs and </a:t>
                      </a:r>
                    </a:p>
                    <a:p>
                      <a:pPr marL="0" marR="0" lvl="0" indent="0" algn="l">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worker terminals based on the finalized </a:t>
                      </a:r>
                    </a:p>
                    <a:p>
                      <a:pPr marL="0" marR="0" lvl="0" indent="0" algn="l">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scenario</a:t>
                      </a:r>
                      <a:br>
                        <a:rPr lang="en-US" sz="800" b="0" i="0" u="none" strike="noStrike" noProof="0" dirty="0">
                          <a:solidFill>
                            <a:srgbClr val="000000"/>
                          </a:solidFill>
                          <a:effectLst/>
                          <a:latin typeface="Hyundai Sans Text KR"/>
                          <a:ea typeface="Hyundai Sans Text KR"/>
                        </a:rPr>
                      </a:br>
                      <a:r>
                        <a:rPr lang="en-US" sz="800" b="1" i="0" u="none" strike="noStrike" noProof="0" dirty="0">
                          <a:solidFill>
                            <a:schemeClr val="tx1"/>
                          </a:solidFill>
                          <a:effectLst/>
                          <a:latin typeface="Hyundai Sans Text KR"/>
                          <a:ea typeface="Hyundai Sans Text KR"/>
                        </a:rPr>
                        <a:t>[Adaptive Logistics]</a:t>
                      </a:r>
                      <a:r>
                        <a:rPr lang="en-US" sz="800" b="0" i="0" u="none" strike="noStrike" noProof="0" dirty="0">
                          <a:solidFill>
                            <a:schemeClr val="tx1"/>
                          </a:solidFill>
                          <a:effectLst/>
                          <a:latin typeface="Hyundai Sans Text KR"/>
                          <a:ea typeface="Hyundai Sans Text KR"/>
                        </a:rPr>
                        <a:t> Automated part delivery </a:t>
                      </a:r>
                    </a:p>
                    <a:p>
                      <a:pPr marL="0" marR="0" lvl="0" indent="0" algn="l">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(JIS/JIT) and Logistic path optimization </a:t>
                      </a:r>
                    </a:p>
                    <a:p>
                      <a:pPr marL="0" marR="0" lvl="0" indent="0" algn="l">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synchronized with updated production plan </a:t>
                      </a:r>
                    </a:p>
                    <a:p>
                      <a:pPr marL="0" marR="0" lvl="0" indent="0" algn="l">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sequence</a:t>
                      </a:r>
                      <a:endParaRPr lang="en-US" sz="800" b="0" i="0" u="none" strike="noStrike" noProof="0" dirty="0">
                        <a:solidFill>
                          <a:srgbClr val="000000"/>
                        </a:solidFill>
                        <a:effectLst/>
                        <a:latin typeface="Hyundai Sans Text KR"/>
                        <a:ea typeface="Hyundai Sans Text KR"/>
                      </a:endParaRPr>
                    </a:p>
                    <a:p>
                      <a:pPr marL="0" marR="0" lvl="0" indent="0" algn="l">
                        <a:lnSpc>
                          <a:spcPct val="100000"/>
                        </a:lnSpc>
                        <a:spcBef>
                          <a:spcPts val="0"/>
                        </a:spcBef>
                        <a:spcAft>
                          <a:spcPts val="0"/>
                        </a:spcAft>
                        <a:buNone/>
                      </a:pPr>
                      <a:r>
                        <a:rPr lang="en-US" sz="800" b="1" i="0" u="none" strike="noStrike" noProof="0" dirty="0">
                          <a:solidFill>
                            <a:schemeClr val="tx1"/>
                          </a:solidFill>
                          <a:effectLst/>
                          <a:latin typeface="Hyundai Sans Text KR"/>
                          <a:ea typeface="Hyundai Sans Text KR"/>
                        </a:rPr>
                        <a:t>[Digitalized Production Resource Plan] </a:t>
                      </a:r>
                    </a:p>
                    <a:p>
                      <a:pPr marL="0" marR="0" lvl="0" indent="0" algn="l">
                        <a:lnSpc>
                          <a:spcPct val="100000"/>
                        </a:lnSpc>
                        <a:spcBef>
                          <a:spcPts val="0"/>
                        </a:spcBef>
                        <a:spcAft>
                          <a:spcPts val="0"/>
                        </a:spcAft>
                        <a:buNone/>
                      </a:pPr>
                      <a:r>
                        <a:rPr lang="en-US" sz="800" b="0" i="0" u="none" strike="noStrike" noProof="0" dirty="0">
                          <a:solidFill>
                            <a:srgbClr val="000000"/>
                          </a:solidFill>
                          <a:effectLst/>
                          <a:latin typeface="Hyundai Sans Text KR"/>
                          <a:ea typeface="Hyundai Sans Text KR"/>
                        </a:rPr>
                        <a:t>Build-to-order plan </a:t>
                      </a:r>
                    </a:p>
                    <a:p>
                      <a:pPr lvl="0" algn="l">
                        <a:buNone/>
                      </a:pPr>
                      <a:endParaRPr lang="en-US" altLang="ko-KR" sz="800" b="1" dirty="0">
                        <a:solidFill>
                          <a:schemeClr val="tx1"/>
                        </a:solidFill>
                        <a:effectLst/>
                        <a:latin typeface="Hyundai Sans Text KR"/>
                        <a:ea typeface="Hyundai Sans Text KR"/>
                      </a:endParaRP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algn="l">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MES and ERP Integration (2-way) </a:t>
                      </a:r>
                      <a:endParaRPr lang="en-US" sz="800" b="0" i="0" u="none" strike="noStrike" kern="1200" noProof="0" dirty="0">
                        <a:solidFill>
                          <a:srgbClr val="000000"/>
                        </a:solidFill>
                        <a:effectLst/>
                        <a:latin typeface="Hyundai Sans Text KR"/>
                        <a:ea typeface="Hyundai Sans Text KR"/>
                        <a:cs typeface="+mn-cs"/>
                      </a:endParaRPr>
                    </a:p>
                    <a:p>
                      <a:pPr marL="0" lvl="0" indent="0" algn="l">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Worker Terminal Interface</a:t>
                      </a:r>
                      <a:endParaRPr lang="en-US" sz="800" b="0" i="0" u="none" strike="noStrike" kern="1200" noProof="0" dirty="0">
                        <a:solidFill>
                          <a:srgbClr val="000000"/>
                        </a:solidFill>
                        <a:effectLst/>
                        <a:latin typeface="Hyundai Sans Text KR"/>
                        <a:ea typeface="Hyundai Sans Text KR"/>
                        <a:cs typeface="+mn-cs"/>
                      </a:endParaRPr>
                    </a:p>
                    <a:p>
                      <a:pPr marL="0" lvl="0" indent="0" algn="l">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Kafka (Event Streaming)</a:t>
                      </a:r>
                      <a:endParaRPr lang="en-US" sz="800" b="0" i="0" u="none" strike="noStrike" kern="1200" noProof="0" dirty="0">
                        <a:solidFill>
                          <a:srgbClr val="000000"/>
                        </a:solidFill>
                        <a:effectLst/>
                        <a:latin typeface="Hyundai Sans Text KR"/>
                        <a:ea typeface="Hyundai Sans Text KR"/>
                        <a:cs typeface="+mn-cs"/>
                      </a:endParaRPr>
                    </a:p>
                    <a:p>
                      <a:pPr marL="0" lvl="0" indent="0" algn="l">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MCP Gateway </a:t>
                      </a:r>
                      <a:endParaRPr lang="en-US" sz="800" b="0" i="0" u="none" strike="noStrike" kern="1200" noProof="0" dirty="0">
                        <a:solidFill>
                          <a:srgbClr val="000000"/>
                        </a:solidFill>
                        <a:effectLst/>
                        <a:latin typeface="Hyundai Sans Text KR"/>
                        <a:ea typeface="Hyundai Sans Text KR"/>
                        <a:cs typeface="+mn-cs"/>
                      </a:endParaRPr>
                    </a:p>
                    <a:p>
                      <a:pPr marL="0" lvl="0" indent="0" algn="l">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Edge Computing Nodes (Private 5G-connected)</a:t>
                      </a:r>
                      <a:endParaRPr lang="en-US" sz="800" b="0" i="0" u="none" strike="noStrike" kern="1200" noProof="0" dirty="0">
                        <a:solidFill>
                          <a:srgbClr val="000000"/>
                        </a:solidFill>
                        <a:effectLst/>
                        <a:latin typeface="Hyundai Sans Text KR"/>
                        <a:ea typeface="Hyundai Sans Text KR"/>
                        <a:cs typeface="+mn-cs"/>
                      </a:endParaRPr>
                    </a:p>
                    <a:p>
                      <a:pPr marL="0" lvl="0" indent="0" algn="l">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OPC UA/ MQTT Integration for equipment safety</a:t>
                      </a:r>
                      <a:endParaRPr lang="en-US" sz="800" b="0" i="0" u="none" strike="noStrike" kern="1200" noProof="0" dirty="0">
                        <a:solidFill>
                          <a:srgbClr val="000000"/>
                        </a:solidFill>
                        <a:effectLst/>
                        <a:latin typeface="Hyundai Sans Text KR"/>
                        <a:ea typeface="Hyundai Sans Text KR"/>
                        <a:cs typeface="+mn-cs"/>
                      </a:endParaRPr>
                    </a:p>
                    <a:p>
                      <a:pPr lvl="0" algn="l">
                        <a:buNone/>
                      </a:pPr>
                      <a:endParaRPr lang="en-US" sz="800" kern="1200" dirty="0">
                        <a:solidFill>
                          <a:schemeClr val="tx1"/>
                        </a:solidFill>
                        <a:effectLst/>
                        <a:latin typeface="Hyundai Sans Text KR"/>
                        <a:ea typeface="Hyundai Sans Text KR"/>
                        <a:cs typeface="+mn-cs"/>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[P01.7 Plan Execution Monitoring &amp; Rollback]</a:t>
                      </a:r>
                      <a:r>
                        <a:rPr lang="en-US" sz="800" b="0" i="0" u="none" strike="noStrike" kern="1200" noProof="0">
                          <a:solidFill>
                            <a:schemeClr val="tx1"/>
                          </a:solidFill>
                          <a:effectLst/>
                          <a:latin typeface="Hyundai Sans Text KR"/>
                          <a:ea typeface="Hyundai Sans Text KR"/>
                          <a:cs typeface="+mn-cs"/>
                        </a:rPr>
                        <a:t> continuous plan-vs-actual </a:t>
                      </a:r>
                    </a:p>
                    <a:p>
                      <a:pPr marL="0" marR="0" lvl="0" indent="0" algn="l">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comparison with automated rollback triggers; without this the action layer </a:t>
                      </a:r>
                    </a:p>
                    <a:p>
                      <a:pPr marL="0" marR="0" lvl="0" indent="0" algn="l">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is open-loop</a:t>
                      </a:r>
                      <a:endParaRPr lang="en-US" sz="800" b="0" i="0" u="none" strike="noStrike" kern="1200" noProof="0">
                        <a:solidFill>
                          <a:srgbClr val="000000"/>
                        </a:solidFill>
                        <a:effectLst/>
                        <a:latin typeface="Hyundai Sans Text KR"/>
                        <a:ea typeface="Hyundai Sans Text KR"/>
                        <a:cs typeface="+mn-cs"/>
                      </a:endParaRPr>
                    </a:p>
                    <a:p>
                      <a:pPr marL="0" marR="0" lvl="0" indent="0" algn="l">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[P01.6 Constraint-Aware Dispatch Engine]</a:t>
                      </a:r>
                      <a:r>
                        <a:rPr lang="en-US" sz="800" b="0" i="0" u="none" strike="noStrike" kern="1200" noProof="0">
                          <a:solidFill>
                            <a:schemeClr val="tx1"/>
                          </a:solidFill>
                          <a:effectLst/>
                          <a:latin typeface="Hyundai Sans Text KR"/>
                          <a:ea typeface="Hyundai Sans Text KR"/>
                          <a:cs typeface="+mn-cs"/>
                        </a:rPr>
                        <a:t> validates AI instructions against hard safety/capacity constraints before execution</a:t>
                      </a:r>
                      <a:endParaRPr lang="en-US" sz="800" b="0" i="0" u="none" strike="noStrike" kern="1200" noProof="0">
                        <a:solidFill>
                          <a:srgbClr val="000000"/>
                        </a:solidFill>
                        <a:effectLst/>
                        <a:latin typeface="Hyundai Sans Text KR"/>
                        <a:ea typeface="Hyundai Sans Text KR"/>
                        <a:cs typeface="+mn-cs"/>
                      </a:endParaRPr>
                    </a:p>
                    <a:p>
                      <a:pPr marL="0" marR="0" lvl="0" indent="0" algn="l">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[P02.1 Operations Orchestrator]</a:t>
                      </a:r>
                      <a:r>
                        <a:rPr lang="en-US" sz="800" b="0" i="0" u="none" strike="noStrike" kern="1200" noProof="0">
                          <a:solidFill>
                            <a:schemeClr val="tx1"/>
                          </a:solidFill>
                          <a:effectLst/>
                          <a:latin typeface="Hyundai Sans Text KR"/>
                          <a:ea typeface="Hyundai Sans Text KR"/>
                          <a:cs typeface="+mn-cs"/>
                        </a:rPr>
                        <a:t> Manage real-time plan change by </a:t>
                      </a:r>
                    </a:p>
                    <a:p>
                      <a:pPr marL="0" marR="0" lvl="0" indent="0" algn="l">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matching currently available workforce (labor) and equipment status. </a:t>
                      </a:r>
                    </a:p>
                    <a:p>
                      <a:pPr marL="0" marR="0" lvl="0" indent="0" algn="l">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Make real-time seq adjustment to rebalance or debottleneck </a:t>
                      </a:r>
                    </a:p>
                    <a:p>
                      <a:pPr marL="0" marR="0" lvl="0" indent="0" algn="l">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(Including long-term CM)</a:t>
                      </a:r>
                      <a:r>
                        <a:rPr lang="en-US" sz="800" b="0" i="0" u="none" strike="noStrike" kern="1200" noProof="0">
                          <a:solidFill>
                            <a:srgbClr val="000000"/>
                          </a:solidFill>
                          <a:effectLst/>
                          <a:latin typeface="Hyundai Sans Text KR"/>
                          <a:ea typeface="Hyundai Sans Text KR"/>
                          <a:cs typeface="+mn-cs"/>
                        </a:rPr>
                        <a:t> </a:t>
                      </a:r>
                    </a:p>
                    <a:p>
                      <a:pPr marL="0" marR="0" lvl="0" indent="0" algn="l">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(refine with autonomous execution – system/apps)</a:t>
                      </a:r>
                      <a:endParaRPr lang="en-US" sz="800" b="0" i="0" u="none" strike="noStrike" kern="1200" noProof="0">
                        <a:solidFill>
                          <a:srgbClr val="000000"/>
                        </a:solidFill>
                        <a:effectLst/>
                        <a:latin typeface="Hyundai Sans Text KR"/>
                        <a:ea typeface="Hyundai Sans Text KR"/>
                        <a:cs typeface="+mn-cs"/>
                      </a:endParaRPr>
                    </a:p>
                    <a:p>
                      <a:pPr marL="0" lvl="0" indent="0" algn="l">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HITL Authority Matrix </a:t>
                      </a:r>
                      <a:endParaRPr lang="en-US" sz="800" b="0" i="0" u="none" strike="noStrike" kern="1200" noProof="0">
                        <a:solidFill>
                          <a:srgbClr val="000000"/>
                        </a:solidFill>
                        <a:effectLst/>
                        <a:latin typeface="Hyundai Sans Text KR"/>
                        <a:ea typeface="Hyundai Sans Text KR"/>
                        <a:cs typeface="+mn-cs"/>
                      </a:endParaRPr>
                    </a:p>
                    <a:p>
                      <a:pPr marL="0" lvl="0" indent="0" algn="l">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Tiered Authority Model Rules Engine </a:t>
                      </a:r>
                      <a:endParaRPr lang="en-US" sz="800" b="0" i="0" u="none" strike="noStrike" kern="1200" noProof="0">
                        <a:solidFill>
                          <a:srgbClr val="000000"/>
                        </a:solidFill>
                        <a:effectLst/>
                        <a:latin typeface="Hyundai Sans Text KR"/>
                        <a:ea typeface="Hyundai Sans Text KR"/>
                        <a:cs typeface="+mn-cs"/>
                      </a:endParaRPr>
                    </a:p>
                    <a:p>
                      <a:pPr marL="0" lvl="0" indent="0" algn="l">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Digital Twin Integration - State Reader, Floor Topology</a:t>
                      </a:r>
                      <a:endParaRPr lang="en-US" sz="800" b="0" i="0" u="none" strike="noStrike" kern="1200" noProof="0">
                        <a:solidFill>
                          <a:srgbClr val="000000"/>
                        </a:solidFill>
                        <a:effectLst/>
                        <a:latin typeface="Hyundai Sans Text KR"/>
                        <a:ea typeface="Hyundai Sans Text KR"/>
                        <a:cs typeface="+mn-cs"/>
                      </a:endParaRPr>
                    </a:p>
                    <a:p>
                      <a:pPr marL="0" lvl="0" indent="0" algn="l">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Audit Log</a:t>
                      </a:r>
                      <a:endParaRPr lang="en-US" sz="800" b="0" i="0" u="none" strike="noStrike" kern="1200" noProof="0">
                        <a:solidFill>
                          <a:srgbClr val="000000"/>
                        </a:solidFill>
                        <a:effectLst/>
                        <a:latin typeface="Hyundai Sans Text KR"/>
                        <a:ea typeface="Hyundai Sans Text KR"/>
                        <a:cs typeface="+mn-cs"/>
                      </a:endParaRPr>
                    </a:p>
                    <a:p>
                      <a:pPr marL="0" marR="0" lvl="0" indent="0" algn="l">
                        <a:lnSpc>
                          <a:spcPct val="100000"/>
                        </a:lnSpc>
                        <a:spcBef>
                          <a:spcPts val="0"/>
                        </a:spcBef>
                        <a:spcAft>
                          <a:spcPts val="0"/>
                        </a:spcAft>
                        <a:buNone/>
                      </a:pPr>
                      <a:r>
                        <a:rPr lang="en-US" sz="800" b="1" i="0" u="none" strike="noStrike" kern="1200" noProof="0">
                          <a:solidFill>
                            <a:schemeClr val="tx1"/>
                          </a:solidFill>
                          <a:effectLst/>
                          <a:latin typeface="Hyundai Sans Text KR"/>
                          <a:ea typeface="현대산스 Text"/>
                          <a:cs typeface="+mn-cs"/>
                        </a:rPr>
                        <a:t>[A71.3 Sales to delivery reporting, Test car inventory management] </a:t>
                      </a:r>
                      <a:r>
                        <a:rPr lang="en-US" sz="800" b="0" i="0" u="none" strike="noStrike" kern="1200" noProof="0">
                          <a:solidFill>
                            <a:schemeClr val="tx1"/>
                          </a:solidFill>
                          <a:effectLst/>
                          <a:latin typeface="Hyundai Sans Text KR"/>
                          <a:ea typeface="현대산스 Text"/>
                          <a:cs typeface="+mn-cs"/>
                        </a:rPr>
                        <a:t>provide visibility on vehicle status in factory from sales orders</a:t>
                      </a:r>
                      <a:endParaRPr lang="en-US" sz="800" b="0" i="0" u="none" strike="noStrike" kern="1200" noProof="0">
                        <a:solidFill>
                          <a:srgbClr val="000000"/>
                        </a:solidFill>
                        <a:effectLst/>
                        <a:latin typeface="Hyundai Sans Text KR"/>
                        <a:ea typeface="현대산스 Text"/>
                        <a:cs typeface="+mn-cs"/>
                      </a:endParaRPr>
                    </a:p>
                    <a:p>
                      <a:pPr marL="0" marR="0" lvl="0" indent="0" algn="l">
                        <a:lnSpc>
                          <a:spcPct val="100000"/>
                        </a:lnSpc>
                        <a:spcBef>
                          <a:spcPts val="0"/>
                        </a:spcBef>
                        <a:spcAft>
                          <a:spcPts val="0"/>
                        </a:spcAft>
                        <a:buNone/>
                      </a:pPr>
                      <a:r>
                        <a:rPr lang="en-US" sz="800" b="1" i="0" u="none" strike="noStrike" kern="1200" noProof="0">
                          <a:solidFill>
                            <a:schemeClr val="tx1"/>
                          </a:solidFill>
                          <a:effectLst/>
                          <a:latin typeface="Hyundai Sans Text KR"/>
                          <a:ea typeface="현대산스 Text"/>
                          <a:cs typeface="+mn-cs"/>
                        </a:rPr>
                        <a:t>[A71.4 Worker Availability Management] </a:t>
                      </a:r>
                      <a:r>
                        <a:rPr lang="en-US" sz="800" b="0" i="0" u="none" strike="noStrike" kern="1200" noProof="0">
                          <a:solidFill>
                            <a:schemeClr val="tx1"/>
                          </a:solidFill>
                          <a:effectLst/>
                          <a:latin typeface="Hyundai Sans Text KR"/>
                          <a:ea typeface="현대산스 Text"/>
                          <a:cs typeface="+mn-cs"/>
                        </a:rPr>
                        <a:t>provide visibility on worker </a:t>
                      </a:r>
                    </a:p>
                    <a:p>
                      <a:pPr marL="0" marR="0" lvl="0" indent="0" algn="l">
                        <a:lnSpc>
                          <a:spcPct val="100000"/>
                        </a:lnSpc>
                        <a:spcBef>
                          <a:spcPts val="0"/>
                        </a:spcBef>
                        <a:spcAft>
                          <a:spcPts val="0"/>
                        </a:spcAft>
                        <a:buNone/>
                      </a:pPr>
                      <a:r>
                        <a:rPr lang="en-US" sz="800" b="0" i="0" u="none" strike="noStrike" kern="1200" noProof="0">
                          <a:solidFill>
                            <a:schemeClr val="tx1"/>
                          </a:solidFill>
                          <a:effectLst/>
                          <a:latin typeface="Hyundai Sans Text KR"/>
                          <a:ea typeface="현대산스 Text"/>
                          <a:cs typeface="+mn-cs"/>
                        </a:rPr>
                        <a:t>availability by integrate SAP work order with worker attendance, and job </a:t>
                      </a:r>
                    </a:p>
                    <a:p>
                      <a:pPr marL="0" marR="0" lvl="0" indent="0" algn="l">
                        <a:lnSpc>
                          <a:spcPct val="100000"/>
                        </a:lnSpc>
                        <a:spcBef>
                          <a:spcPts val="0"/>
                        </a:spcBef>
                        <a:spcAft>
                          <a:spcPts val="0"/>
                        </a:spcAft>
                        <a:buNone/>
                      </a:pPr>
                      <a:r>
                        <a:rPr lang="en-US" sz="800" b="0" i="0" u="none" strike="noStrike" kern="1200" noProof="0">
                          <a:solidFill>
                            <a:schemeClr val="tx1"/>
                          </a:solidFill>
                          <a:effectLst/>
                          <a:latin typeface="Hyundai Sans Text KR"/>
                          <a:ea typeface="현대산스 Text"/>
                          <a:cs typeface="+mn-cs"/>
                        </a:rPr>
                        <a:t>allocation for NPI and other non-production </a:t>
                      </a:r>
                      <a:endParaRPr lang="en-US" sz="800" b="0" i="0" u="none" strike="noStrike" kern="1200" noProof="0">
                        <a:solidFill>
                          <a:srgbClr val="000000"/>
                        </a:solidFill>
                        <a:effectLst/>
                        <a:latin typeface="Hyundai Sans Text KR"/>
                        <a:ea typeface="현대산스 Text"/>
                        <a:cs typeface="+mn-cs"/>
                      </a:endParaRPr>
                    </a:p>
                    <a:p>
                      <a:pPr marL="0" marR="0" lvl="0" indent="0" algn="l">
                        <a:lnSpc>
                          <a:spcPct val="100000"/>
                        </a:lnSpc>
                        <a:spcBef>
                          <a:spcPts val="0"/>
                        </a:spcBef>
                        <a:spcAft>
                          <a:spcPts val="0"/>
                        </a:spcAft>
                        <a:buNone/>
                      </a:pPr>
                      <a:r>
                        <a:rPr lang="en-US" sz="800" b="1" i="0" u="none" strike="noStrike" kern="1200" noProof="0">
                          <a:solidFill>
                            <a:schemeClr val="tx1"/>
                          </a:solidFill>
                          <a:effectLst/>
                          <a:latin typeface="Hyundai Sans Text KR"/>
                          <a:ea typeface="현대산스 Text"/>
                          <a:cs typeface="+mn-cs"/>
                        </a:rPr>
                        <a:t>[A71.5 Integrated resource management hub] </a:t>
                      </a:r>
                      <a:r>
                        <a:rPr lang="en-US" sz="800" b="0" i="0" u="none" strike="noStrike" kern="1200" noProof="0">
                          <a:solidFill>
                            <a:schemeClr val="tx1"/>
                          </a:solidFill>
                          <a:effectLst/>
                          <a:latin typeface="Hyundai Sans Text KR"/>
                          <a:ea typeface="현대산스 Text"/>
                          <a:cs typeface="+mn-cs"/>
                        </a:rPr>
                        <a:t>integrated and change</a:t>
                      </a:r>
                    </a:p>
                    <a:p>
                      <a:pPr marL="0" marR="0" lvl="0" indent="0" algn="l">
                        <a:lnSpc>
                          <a:spcPct val="100000"/>
                        </a:lnSpc>
                        <a:spcBef>
                          <a:spcPts val="0"/>
                        </a:spcBef>
                        <a:spcAft>
                          <a:spcPts val="0"/>
                        </a:spcAft>
                        <a:buNone/>
                      </a:pPr>
                      <a:r>
                        <a:rPr lang="en-US" sz="800" b="0" i="0" u="none" strike="noStrike" kern="1200" noProof="0">
                          <a:solidFill>
                            <a:schemeClr val="tx1"/>
                          </a:solidFill>
                          <a:effectLst/>
                          <a:latin typeface="Hyundai Sans Text KR"/>
                          <a:ea typeface="현대산스 Text"/>
                          <a:cs typeface="+mn-cs"/>
                        </a:rPr>
                        <a:t> work order planning in SAP </a:t>
                      </a:r>
                      <a:endParaRPr lang="en-US" sz="800" b="0" i="0" u="none" strike="noStrike" kern="1200" noProof="0">
                        <a:solidFill>
                          <a:srgbClr val="000000"/>
                        </a:solidFill>
                        <a:effectLst/>
                        <a:latin typeface="Hyundai Sans Text KR"/>
                        <a:ea typeface="현대산스 Text"/>
                        <a:cs typeface="+mn-cs"/>
                      </a:endParaRPr>
                    </a:p>
                    <a:p>
                      <a:pPr marL="0" lvl="0" indent="0" algn="l">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APS API integration</a:t>
                      </a:r>
                      <a:endParaRPr lang="en-US" sz="800" b="0" i="0" u="none" strike="noStrike" kern="1200" noProof="0">
                        <a:solidFill>
                          <a:srgbClr val="000000"/>
                        </a:solidFill>
                        <a:effectLst/>
                        <a:latin typeface="Hyundai Sans Text KR"/>
                        <a:ea typeface="Hyundai Sans Text KR"/>
                        <a:cs typeface="+mn-cs"/>
                      </a:endParaRPr>
                    </a:p>
                    <a:p>
                      <a:pPr marL="0" lvl="0" indent="0" algn="l">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SucessFactors data ingestion</a:t>
                      </a:r>
                      <a:endParaRPr lang="en-US" sz="800" b="0" i="0" u="none" strike="noStrike" kern="1200" noProof="0">
                        <a:solidFill>
                          <a:srgbClr val="000000"/>
                        </a:solidFill>
                        <a:effectLst/>
                        <a:latin typeface="Hyundai Sans Text KR"/>
                        <a:ea typeface="Hyundai Sans Text KR"/>
                        <a:cs typeface="+mn-cs"/>
                      </a:endParaRPr>
                    </a:p>
                    <a:p>
                      <a:pPr lvl="0" algn="l">
                        <a:buNone/>
                      </a:pPr>
                      <a:endParaRPr lang="en-US" sz="800" kern="1200">
                        <a:solidFill>
                          <a:schemeClr val="tx1"/>
                        </a:solidFill>
                        <a:effectLst/>
                        <a:latin typeface="Hyundai Sans Text KR"/>
                        <a:ea typeface="Hyundai Sans Text KR"/>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780" kern="120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sz="780" dirty="0">
                          <a:effectLst/>
                          <a:latin typeface="Hyundai Sans Text KR" panose="020B0600000101010101" pitchFamily="34" charset="-127"/>
                          <a:ea typeface="Hyundai Sans Text KR" panose="020B0600000101010101" pitchFamily="34" charset="-127"/>
                        </a:rPr>
                        <a:t>• </a:t>
                      </a: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When the AI changes plans, control and physical </a:t>
                      </a:r>
                    </a:p>
                    <a:p>
                      <a:pPr algn="l">
                        <a:buNone/>
                      </a:pP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   control technologies are required to minimize </a:t>
                      </a:r>
                    </a:p>
                    <a:p>
                      <a:pPr algn="l">
                        <a:buNone/>
                      </a:pP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   lead time by re-routing in real time the work-in-</a:t>
                      </a:r>
                    </a:p>
                    <a:p>
                      <a:pPr algn="l">
                        <a:buNone/>
                      </a:pP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   process (WIP) already deployed on the line and </a:t>
                      </a:r>
                    </a:p>
                    <a:p>
                      <a:pPr algn="l">
                        <a:buNone/>
                      </a:pP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   logistics in transit.</a:t>
                      </a:r>
                    </a:p>
                  </a:txBody>
                  <a:tcPr marL="36000" marR="0" marT="0"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18653458"/>
                  </a:ext>
                </a:extLst>
              </a:tr>
              <a:tr h="1787090">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a:buNone/>
                      </a:pPr>
                      <a:r>
                        <a:rPr lang="en-US" sz="800" b="1" i="0" u="none" strike="noStrike" noProof="0">
                          <a:solidFill>
                            <a:srgbClr val="000000"/>
                          </a:solidFill>
                          <a:effectLst/>
                          <a:latin typeface="Hyundai Sans Text KR"/>
                          <a:ea typeface="Hyundai Sans Text KR"/>
                        </a:rPr>
                        <a:t>[Expert Imitation Learning]</a:t>
                      </a:r>
                      <a:r>
                        <a:rPr lang="en-US" sz="800" b="0" i="0" u="none" strike="noStrike" noProof="0">
                          <a:solidFill>
                            <a:srgbClr val="000000"/>
                          </a:solidFill>
                          <a:effectLst/>
                          <a:latin typeface="Hyundai Sans Text KR"/>
                          <a:ea typeface="Hyundai Sans Text KR"/>
                        </a:rPr>
                        <a:t> Collecting history of managers overriding </a:t>
                      </a:r>
                    </a:p>
                    <a:p>
                      <a:pPr lvl="0" algn="l">
                        <a:buNone/>
                      </a:pPr>
                      <a:r>
                        <a:rPr lang="en-US" sz="800" b="0" i="0" u="none" strike="noStrike" noProof="0">
                          <a:solidFill>
                            <a:srgbClr val="000000"/>
                          </a:solidFill>
                          <a:effectLst/>
                          <a:latin typeface="Hyundai Sans Text KR"/>
                          <a:ea typeface="Hyundai Sans Text KR"/>
                        </a:rPr>
                        <a:t>AI-established plans to retrain the AI on </a:t>
                      </a:r>
                    </a:p>
                    <a:p>
                      <a:pPr lvl="0" algn="l">
                        <a:buNone/>
                      </a:pPr>
                      <a:r>
                        <a:rPr lang="en-US" sz="800" b="0" i="0" u="none" strike="noStrike" noProof="0">
                          <a:solidFill>
                            <a:srgbClr val="000000"/>
                          </a:solidFill>
                          <a:effectLst/>
                          <a:latin typeface="Hyundai Sans Text KR"/>
                          <a:ea typeface="Hyundai Sans Text KR"/>
                        </a:rPr>
                        <a:t>managers’ decision-making patterns </a:t>
                      </a:r>
                    </a:p>
                    <a:p>
                      <a:pPr lvl="0" algn="l">
                        <a:buNone/>
                      </a:pPr>
                      <a:r>
                        <a:rPr lang="en-US" sz="800" b="0" i="0" u="none" strike="noStrike" noProof="0">
                          <a:solidFill>
                            <a:srgbClr val="000000"/>
                          </a:solidFill>
                          <a:effectLst/>
                          <a:latin typeface="Hyundai Sans Text KR"/>
                          <a:ea typeface="Hyundai Sans Text KR"/>
                        </a:rPr>
                        <a:t>(Behavioral Cloning)</a:t>
                      </a:r>
                      <a:br>
                        <a:rPr lang="en-US" sz="800" b="0" i="0" u="none" strike="noStrike" noProof="0">
                          <a:solidFill>
                            <a:srgbClr val="000000"/>
                          </a:solidFill>
                          <a:effectLst/>
                          <a:latin typeface="Hyundai Sans Text KR"/>
                          <a:ea typeface="Hyundai Sans Text KR"/>
                        </a:rPr>
                      </a:br>
                      <a:r>
                        <a:rPr lang="en-US" sz="800" b="0" i="0" u="none" strike="noStrike" noProof="0">
                          <a:solidFill>
                            <a:srgbClr val="000000"/>
                          </a:solidFill>
                          <a:effectLst/>
                          <a:latin typeface="Hyundai Sans Text KR"/>
                          <a:ea typeface="Hyundai Sans Text KR"/>
                        </a:rPr>
                        <a:t>[Perform.-based Reward Learning] </a:t>
                      </a:r>
                    </a:p>
                    <a:p>
                      <a:pPr lvl="0" algn="l">
                        <a:buNone/>
                      </a:pPr>
                      <a:r>
                        <a:rPr lang="en-US" sz="800" b="0" i="0" u="none" strike="noStrike" noProof="0">
                          <a:solidFill>
                            <a:srgbClr val="000000"/>
                          </a:solidFill>
                          <a:effectLst/>
                          <a:latin typeface="Hyundai Sans Text KR"/>
                          <a:ea typeface="Hyundai Sans Text KR"/>
                        </a:rPr>
                        <a:t>Automatically updating AI algorithm weightage by evaluating actual achievement rates </a:t>
                      </a:r>
                    </a:p>
                    <a:p>
                      <a:pPr lvl="0" algn="l">
                        <a:buNone/>
                      </a:pPr>
                      <a:r>
                        <a:rPr lang="en-US" sz="800" b="0" i="0" u="none" strike="noStrike" noProof="0">
                          <a:solidFill>
                            <a:srgbClr val="000000"/>
                          </a:solidFill>
                          <a:effectLst/>
                          <a:latin typeface="Hyundai Sans Text KR"/>
                          <a:ea typeface="Hyundai Sans Text KR"/>
                        </a:rPr>
                        <a:t>(productivity, delivery compliance) against the plan</a:t>
                      </a:r>
                    </a:p>
                    <a:p>
                      <a:pPr marL="0" marR="0" lvl="0" indent="0" algn="l">
                        <a:lnSpc>
                          <a:spcPct val="100000"/>
                        </a:lnSpc>
                        <a:spcBef>
                          <a:spcPts val="0"/>
                        </a:spcBef>
                        <a:spcAft>
                          <a:spcPts val="0"/>
                        </a:spcAft>
                        <a:buNone/>
                      </a:pPr>
                      <a:r>
                        <a:rPr lang="en-US" sz="800" b="1" i="0" u="none" strike="noStrike" noProof="0">
                          <a:solidFill>
                            <a:schemeClr val="tx1"/>
                          </a:solidFill>
                          <a:effectLst/>
                          <a:latin typeface="Hyundai Sans Text KR"/>
                          <a:ea typeface="Hyundai Sans Text KR"/>
                        </a:rPr>
                        <a:t>[Explainable AI (XAI)]</a:t>
                      </a:r>
                      <a:r>
                        <a:rPr lang="en-US" sz="800" b="0" i="0" u="none" strike="noStrike" noProof="0">
                          <a:solidFill>
                            <a:schemeClr val="tx1"/>
                          </a:solidFill>
                          <a:effectLst/>
                          <a:latin typeface="Hyundai Sans Text KR"/>
                          <a:ea typeface="Hyundai Sans Text KR"/>
                        </a:rPr>
                        <a:t> Generate explanations for people to gain trust and support of</a:t>
                      </a:r>
                      <a:r>
                        <a:rPr lang="en-US" sz="800" b="0" i="0" u="none" strike="noStrike" noProof="0">
                          <a:solidFill>
                            <a:srgbClr val="000000"/>
                          </a:solidFill>
                          <a:effectLst/>
                          <a:latin typeface="Hyundai Sans Text KR"/>
                          <a:ea typeface="Hyundai Sans Text KR"/>
                        </a:rPr>
                        <a:t> </a:t>
                      </a:r>
                      <a:r>
                        <a:rPr lang="en-US" sz="800" b="0" i="0" u="none" strike="noStrike" noProof="0">
                          <a:solidFill>
                            <a:schemeClr val="tx1"/>
                          </a:solidFill>
                          <a:effectLst/>
                          <a:latin typeface="Hyundai Sans Text KR"/>
                          <a:ea typeface="Hyundai Sans Text KR"/>
                        </a:rPr>
                        <a:t>AI decisions made</a:t>
                      </a:r>
                      <a:endParaRPr lang="en-US" sz="800" b="0" i="0" u="none" strike="noStrike" noProof="0">
                        <a:solidFill>
                          <a:srgbClr val="000000"/>
                        </a:solidFill>
                        <a:effectLst/>
                        <a:latin typeface="Hyundai Sans Text KR"/>
                        <a:ea typeface="Hyundai Sans Text KR"/>
                      </a:endParaRPr>
                    </a:p>
                    <a:p>
                      <a:pPr lvl="0" algn="l">
                        <a:buNone/>
                      </a:pPr>
                      <a:endParaRPr lang="en-US" sz="800">
                        <a:effectLst/>
                        <a:latin typeface="Hyundai Sans Text KR"/>
                        <a:ea typeface="Hyundai Sans Text KR"/>
                      </a:endParaRP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buNone/>
                      </a:pPr>
                      <a:r>
                        <a:rPr lang="en-US" sz="800" b="0" i="0" u="none" strike="noStrike" kern="1200" noProof="0">
                          <a:solidFill>
                            <a:schemeClr val="tx1"/>
                          </a:solidFill>
                          <a:effectLst/>
                          <a:latin typeface="Hyundai Sans Text KR"/>
                          <a:ea typeface="Hyundai Sans Text KR"/>
                          <a:cs typeface="+mn-cs"/>
                        </a:rPr>
                        <a:t>• MLOps Pipelines: </a:t>
                      </a:r>
                      <a:endParaRPr lang="en-US" sz="800" b="0" i="0" u="none" strike="noStrike" kern="1200" noProof="0">
                        <a:solidFill>
                          <a:srgbClr val="000000"/>
                        </a:solidFill>
                        <a:effectLst/>
                        <a:latin typeface="Hyundai Sans Text KR"/>
                        <a:ea typeface="Hyundai Sans Text KR"/>
                        <a:cs typeface="+mn-cs"/>
                      </a:endParaRPr>
                    </a:p>
                    <a:p>
                      <a:pPr lvl="0" algn="l">
                        <a:buNone/>
                      </a:pPr>
                      <a:r>
                        <a:rPr lang="en-US" sz="800" b="0" i="0" u="none" strike="noStrike" kern="1200" noProof="0">
                          <a:solidFill>
                            <a:schemeClr val="tx1"/>
                          </a:solidFill>
                          <a:effectLst/>
                          <a:latin typeface="Hyundai Sans Text KR"/>
                          <a:ea typeface="Hyundai Sans Text KR"/>
                          <a:cs typeface="+mn-cs"/>
                        </a:rPr>
                        <a:t>(continuous model deployment/Mgm.)</a:t>
                      </a:r>
                      <a:endParaRPr lang="en-US" sz="800" b="0" i="0" u="none" strike="noStrike" kern="1200" noProof="0">
                        <a:solidFill>
                          <a:srgbClr val="000000"/>
                        </a:solidFill>
                        <a:effectLst/>
                        <a:latin typeface="Hyundai Sans Text KR"/>
                        <a:ea typeface="Hyundai Sans Text KR"/>
                        <a:cs typeface="+mn-cs"/>
                      </a:endParaRPr>
                    </a:p>
                    <a:p>
                      <a:pPr lvl="0" algn="l">
                        <a:buNone/>
                      </a:pPr>
                      <a:endParaRPr lang="en-US" sz="800" b="0" i="0" u="none" strike="noStrike" kern="1200" noProof="0">
                        <a:solidFill>
                          <a:srgbClr val="000000"/>
                        </a:solidFill>
                        <a:effectLst/>
                        <a:latin typeface="Hyundai Sans Text KR"/>
                        <a:ea typeface="Hyundai Sans Text KR"/>
                        <a:cs typeface="+mn-cs"/>
                      </a:endParaRPr>
                    </a:p>
                    <a:p>
                      <a:pPr lvl="0" algn="l">
                        <a:buNone/>
                      </a:pPr>
                      <a:r>
                        <a:rPr lang="en-US" sz="800" b="0" i="0" u="none" strike="noStrike" kern="1200" noProof="0">
                          <a:solidFill>
                            <a:schemeClr val="tx1"/>
                          </a:solidFill>
                          <a:effectLst/>
                          <a:latin typeface="Hyundai Sans Text KR"/>
                          <a:ea typeface="Hyundai Sans Text KR"/>
                          <a:cs typeface="+mn-cs"/>
                        </a:rPr>
                        <a:t>• Hi-Fidelity Event Log: ‘Black Box’ recorder</a:t>
                      </a:r>
                      <a:endParaRPr lang="en-US" sz="800" b="0" i="0" u="none" strike="noStrike" kern="1200" noProof="0">
                        <a:solidFill>
                          <a:srgbClr val="000000"/>
                        </a:solidFill>
                        <a:effectLst/>
                        <a:latin typeface="Hyundai Sans Text KR"/>
                        <a:ea typeface="Hyundai Sans Text KR"/>
                        <a:cs typeface="+mn-cs"/>
                      </a:endParaRPr>
                    </a:p>
                    <a:p>
                      <a:pPr lvl="0" algn="l">
                        <a:buNone/>
                      </a:pPr>
                      <a:r>
                        <a:rPr lang="en-US" sz="800" b="0" i="0" u="none" strike="noStrike" kern="1200" noProof="0">
                          <a:solidFill>
                            <a:schemeClr val="tx1"/>
                          </a:solidFill>
                          <a:effectLst/>
                          <a:latin typeface="Hyundai Sans Text KR"/>
                          <a:ea typeface="Hyundai Sans Text KR"/>
                          <a:cs typeface="+mn-cs"/>
                        </a:rPr>
                        <a:t>• State-Action mapping engines</a:t>
                      </a:r>
                      <a:br>
                        <a:rPr lang="en-US" sz="800" b="0" i="0" u="none" strike="noStrike" kern="1200" noProof="0">
                          <a:solidFill>
                            <a:srgbClr val="000000"/>
                          </a:solidFill>
                          <a:effectLst/>
                          <a:latin typeface="Hyundai Sans Text KR"/>
                          <a:ea typeface="Hyundai Sans Text KR"/>
                          <a:cs typeface="+mn-cs"/>
                        </a:rPr>
                      </a:br>
                      <a:r>
                        <a:rPr lang="en-US" sz="800" b="0" i="0" u="none" strike="noStrike" kern="1200" noProof="0">
                          <a:solidFill>
                            <a:schemeClr val="tx1"/>
                          </a:solidFill>
                          <a:effectLst/>
                          <a:latin typeface="Hyundai Sans Text KR"/>
                          <a:ea typeface="Hyundai Sans Text KR"/>
                          <a:cs typeface="+mn-cs"/>
                        </a:rPr>
                        <a:t>• Contextual Metadata Tagging</a:t>
                      </a:r>
                      <a:endParaRPr lang="en-US" sz="800" b="0" i="0" u="none" strike="noStrike" kern="1200" noProof="0">
                        <a:solidFill>
                          <a:srgbClr val="000000"/>
                        </a:solidFill>
                        <a:effectLst/>
                        <a:latin typeface="Hyundai Sans Text KR"/>
                        <a:ea typeface="Hyundai Sans Text KR"/>
                        <a:cs typeface="+mn-cs"/>
                      </a:endParaRPr>
                    </a:p>
                    <a:p>
                      <a:pPr lvl="0" algn="l">
                        <a:buNone/>
                      </a:pPr>
                      <a:endParaRPr lang="en-US" sz="800" kern="1200">
                        <a:solidFill>
                          <a:schemeClr val="tx1"/>
                        </a:solidFill>
                        <a:effectLst/>
                        <a:latin typeface="Hyundai Sans Text KR"/>
                        <a:ea typeface="Hyundai Sans Text KR"/>
                        <a:cs typeface="+mn-cs"/>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a:buNone/>
                      </a:pPr>
                      <a:r>
                        <a:rPr lang="en-US" sz="800" b="1" i="0" u="none" strike="noStrike" kern="1200" noProof="0" dirty="0">
                          <a:solidFill>
                            <a:schemeClr val="tx1"/>
                          </a:solidFill>
                          <a:effectLst/>
                          <a:latin typeface="Hyundai Sans Text KR"/>
                          <a:ea typeface="Malgun Gothic"/>
                          <a:cs typeface="+mn-cs"/>
                        </a:rPr>
                        <a:t>[P02.3 Self-Optimizing operation orchestrator] </a:t>
                      </a:r>
                      <a:r>
                        <a:rPr lang="en-US" sz="800" b="0" i="0" u="none" strike="noStrike" kern="1200" noProof="0" dirty="0">
                          <a:solidFill>
                            <a:schemeClr val="tx1"/>
                          </a:solidFill>
                          <a:effectLst/>
                          <a:latin typeface="Hyundai Sans Text KR"/>
                          <a:ea typeface="Malgun Gothic"/>
                          <a:cs typeface="+mn-cs"/>
                        </a:rPr>
                        <a:t>Self-learning and optimizing </a:t>
                      </a:r>
                    </a:p>
                    <a:p>
                      <a:pPr lvl="0" algn="l">
                        <a:buNone/>
                      </a:pPr>
                      <a:r>
                        <a:rPr lang="en-US" sz="800" b="0" i="0" u="none" strike="noStrike" kern="1200" noProof="0" dirty="0">
                          <a:solidFill>
                            <a:schemeClr val="tx1"/>
                          </a:solidFill>
                          <a:effectLst/>
                          <a:latin typeface="Hyundai Sans Text KR"/>
                          <a:ea typeface="Malgun Gothic"/>
                          <a:cs typeface="+mn-cs"/>
                        </a:rPr>
                        <a:t>  dynamic planning and orchestration</a:t>
                      </a:r>
                      <a:endParaRPr lang="en-US" sz="800" b="0" i="0" u="none" strike="noStrike" kern="1200" noProof="0" dirty="0">
                        <a:solidFill>
                          <a:srgbClr val="000000"/>
                        </a:solidFill>
                        <a:effectLst/>
                        <a:latin typeface="Hyundai Sans Text KR"/>
                        <a:ea typeface="Malgun Gothic"/>
                        <a:cs typeface="+mn-cs"/>
                      </a:endParaRPr>
                    </a:p>
                    <a:p>
                      <a:pPr marL="0" lvl="0" indent="0" algn="l">
                        <a:buClr>
                          <a:srgbClr val="000000"/>
                        </a:buClr>
                        <a:buFont typeface="Arial,Sans-Serif"/>
                        <a:buChar char="•"/>
                      </a:pPr>
                      <a:r>
                        <a:rPr lang="en-US" sz="800" b="1" i="0" u="none" strike="noStrike" kern="1200" noProof="0" dirty="0">
                          <a:solidFill>
                            <a:schemeClr val="tx1"/>
                          </a:solidFill>
                          <a:effectLst/>
                          <a:latin typeface="Hyundai Sans Text KR"/>
                          <a:ea typeface="Hyundai Sans Text KR"/>
                          <a:cs typeface="+mn-cs"/>
                        </a:rPr>
                        <a:t> [Imitation Learning]</a:t>
                      </a:r>
                      <a:r>
                        <a:rPr lang="en-US" sz="800" b="0" i="0" u="none" strike="noStrike" kern="1200" noProof="0" dirty="0">
                          <a:solidFill>
                            <a:schemeClr val="tx1"/>
                          </a:solidFill>
                          <a:effectLst/>
                          <a:latin typeface="Hyundai Sans Text KR"/>
                          <a:ea typeface="Hyundai Sans Text KR"/>
                          <a:cs typeface="+mn-cs"/>
                        </a:rPr>
                        <a:t> AI model training by mimicking actions of a human </a:t>
                      </a:r>
                    </a:p>
                    <a:p>
                      <a:pPr marL="0" lvl="0" indent="0" algn="l">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expert based on historical state-action pairs (Behavioral Cloning) or by </a:t>
                      </a:r>
                    </a:p>
                    <a:p>
                      <a:pPr marL="0" lvl="0" indent="0" algn="l">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learning from human feedback or overrides to refine AI decision-making </a:t>
                      </a:r>
                    </a:p>
                    <a:p>
                      <a:pPr marL="0" lvl="0" indent="0" algn="l">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(Human-in-the-Loop)</a:t>
                      </a:r>
                      <a:endParaRPr lang="en-US" sz="800" b="0" i="0" u="none" strike="noStrike" kern="1200" noProof="0" dirty="0">
                        <a:solidFill>
                          <a:srgbClr val="000000"/>
                        </a:solidFill>
                        <a:effectLst/>
                        <a:latin typeface="Hyundai Sans Text KR"/>
                        <a:ea typeface="Hyundai Sans Text KR"/>
                        <a:cs typeface="+mn-cs"/>
                      </a:endParaRPr>
                    </a:p>
                    <a:p>
                      <a:pPr marL="0" lvl="0" indent="0" algn="l">
                        <a:buClr>
                          <a:srgbClr val="000000"/>
                        </a:buClr>
                        <a:buFont typeface="Arial,Sans-Serif"/>
                        <a:buChar char="•"/>
                      </a:pPr>
                      <a:r>
                        <a:rPr lang="en-US" sz="800" b="1" i="0" u="none" strike="noStrike" kern="1200" noProof="0" dirty="0">
                          <a:solidFill>
                            <a:schemeClr val="tx1"/>
                          </a:solidFill>
                          <a:effectLst/>
                          <a:latin typeface="Hyundai Sans Text KR"/>
                          <a:ea typeface="Hyundai Sans Text KR"/>
                          <a:cs typeface="+mn-cs"/>
                        </a:rPr>
                        <a:t> [Outcome-based Reinforcement Learning]</a:t>
                      </a:r>
                      <a:r>
                        <a:rPr lang="en-US" sz="800" b="0" i="0" u="none" strike="noStrike" kern="1200" noProof="0" dirty="0">
                          <a:solidFill>
                            <a:schemeClr val="tx1"/>
                          </a:solidFill>
                          <a:effectLst/>
                          <a:latin typeface="Hyundai Sans Text KR"/>
                          <a:ea typeface="Hyundai Sans Text KR"/>
                          <a:cs typeface="+mn-cs"/>
                        </a:rPr>
                        <a:t> AI model training by </a:t>
                      </a:r>
                    </a:p>
                    <a:p>
                      <a:pPr marL="0" lvl="0" indent="0" algn="l">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performing actions and receiving rewards/penalties based on outcome </a:t>
                      </a:r>
                    </a:p>
                    <a:p>
                      <a:pPr marL="0" lvl="0" indent="0" algn="l">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against the plan</a:t>
                      </a:r>
                      <a:endParaRPr lang="en-US" sz="800" b="0" i="0" u="none" strike="noStrike" kern="1200" noProof="0" dirty="0">
                        <a:solidFill>
                          <a:srgbClr val="000000"/>
                        </a:solidFill>
                        <a:effectLst/>
                        <a:latin typeface="Hyundai Sans Text KR"/>
                        <a:ea typeface="Hyundai Sans Text KR"/>
                        <a:cs typeface="+mn-cs"/>
                      </a:endParaRPr>
                    </a:p>
                    <a:p>
                      <a:pPr marL="0" lvl="0" indent="0" algn="l">
                        <a:buClr>
                          <a:srgbClr val="000000"/>
                        </a:buClr>
                        <a:buFont typeface="Arial,Sans-Serif"/>
                        <a:buChar char="•"/>
                      </a:pPr>
                      <a:r>
                        <a:rPr lang="en-US" sz="800" b="1" i="0" u="none" strike="noStrike" kern="1200" noProof="0" dirty="0">
                          <a:solidFill>
                            <a:schemeClr val="tx1"/>
                          </a:solidFill>
                          <a:effectLst/>
                          <a:latin typeface="Hyundai Sans Text KR"/>
                          <a:ea typeface="Hyundai Sans Text KR"/>
                          <a:cs typeface="+mn-cs"/>
                        </a:rPr>
                        <a:t> [Explainable AI (XAI)]</a:t>
                      </a:r>
                      <a:r>
                        <a:rPr lang="en-US" sz="800" b="0" i="0" u="none" strike="noStrike" kern="1200" noProof="0" dirty="0">
                          <a:solidFill>
                            <a:schemeClr val="tx1"/>
                          </a:solidFill>
                          <a:effectLst/>
                          <a:latin typeface="Hyundai Sans Text KR"/>
                          <a:ea typeface="Hyundai Sans Text KR"/>
                          <a:cs typeface="+mn-cs"/>
                        </a:rPr>
                        <a:t> Generate explanations for people to gain trust and </a:t>
                      </a:r>
                    </a:p>
                    <a:p>
                      <a:pPr marL="0" lvl="0" indent="0" algn="l">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support of AI decisions made</a:t>
                      </a:r>
                      <a:endParaRPr lang="en-US" sz="800" b="0" i="0" u="none" strike="noStrike" kern="1200" noProof="0" dirty="0">
                        <a:solidFill>
                          <a:srgbClr val="000000"/>
                        </a:solidFill>
                        <a:effectLst/>
                        <a:latin typeface="Hyundai Sans Text KR"/>
                        <a:ea typeface="Hyundai Sans Text KR"/>
                        <a:cs typeface="+mn-cs"/>
                      </a:endParaRPr>
                    </a:p>
                    <a:p>
                      <a:pPr lvl="0" algn="l">
                        <a:buNone/>
                      </a:pPr>
                      <a:endParaRPr lang="en-US" sz="800" kern="1200" dirty="0">
                        <a:solidFill>
                          <a:schemeClr val="tx1"/>
                        </a:solidFill>
                        <a:effectLst/>
                        <a:latin typeface="Hyundai Sans Text KR"/>
                        <a:ea typeface="Hyundai Sans Text KR"/>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780" kern="120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sz="780" dirty="0">
                          <a:effectLst/>
                          <a:latin typeface="Hyundai Sans Text KR" panose="020B0600000101010101" pitchFamily="34" charset="-127"/>
                          <a:ea typeface="Hyundai Sans Text KR" panose="020B0600000101010101" pitchFamily="34" charset="-127"/>
                        </a:rPr>
                        <a:t>• Decline in shop floor acceptance (Trust) that </a:t>
                      </a:r>
                    </a:p>
                    <a:p>
                      <a:pPr algn="l">
                        <a:buNone/>
                      </a:pPr>
                      <a:r>
                        <a:rPr lang="en-US" sz="780" dirty="0">
                          <a:effectLst/>
                          <a:latin typeface="Hyundai Sans Text KR" panose="020B0600000101010101" pitchFamily="34" charset="-127"/>
                          <a:ea typeface="Hyundai Sans Text KR" panose="020B0600000101010101" pitchFamily="34" charset="-127"/>
                        </a:rPr>
                        <a:t>   occurs when the AI cannot explain to field </a:t>
                      </a:r>
                    </a:p>
                    <a:p>
                      <a:pPr algn="l">
                        <a:buNone/>
                      </a:pPr>
                      <a:r>
                        <a:rPr lang="en-US" sz="780" dirty="0">
                          <a:effectLst/>
                          <a:latin typeface="Hyundai Sans Text KR" panose="020B0600000101010101" pitchFamily="34" charset="-127"/>
                          <a:ea typeface="Hyundai Sans Text KR" panose="020B0600000101010101" pitchFamily="34" charset="-127"/>
                        </a:rPr>
                        <a:t>   workers why it recommended a specific </a:t>
                      </a:r>
                    </a:p>
                    <a:p>
                      <a:pPr algn="l">
                        <a:buNone/>
                      </a:pPr>
                      <a:r>
                        <a:rPr lang="en-US" sz="780" dirty="0">
                          <a:effectLst/>
                          <a:latin typeface="Hyundai Sans Text KR" panose="020B0600000101010101" pitchFamily="34" charset="-127"/>
                          <a:ea typeface="Hyundai Sans Text KR" panose="020B0600000101010101" pitchFamily="34" charset="-127"/>
                        </a:rPr>
                        <a:t>   scenario (XAI limitation) </a:t>
                      </a: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 Need to learn logic </a:t>
                      </a:r>
                    </a:p>
                    <a:p>
                      <a:pPr algn="l">
                        <a:buNone/>
                      </a:pP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   applicable for communication with shop floor </a:t>
                      </a:r>
                    </a:p>
                    <a:p>
                      <a:pPr algn="l">
                        <a:buNone/>
                      </a:pP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   workers (e.g., new car events, process improvements)</a:t>
                      </a:r>
                    </a:p>
                  </a:txBody>
                  <a:tcPr marL="36000" marR="0" marT="8717" marB="8717">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204706191"/>
                  </a:ext>
                </a:extLst>
              </a:tr>
            </a:tbl>
          </a:graphicData>
        </a:graphic>
      </p:graphicFrame>
    </p:spTree>
    <p:extLst>
      <p:ext uri="{BB962C8B-B14F-4D97-AF65-F5344CB8AC3E}">
        <p14:creationId xmlns:p14="http://schemas.microsoft.com/office/powerpoint/2010/main" val="256755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4B76583-E30F-CE87-ACEC-F2B5B1B6016D}"/>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9158BDA-2D6E-F529-AA58-AF5EC999BCDD}"/>
              </a:ext>
            </a:extLst>
          </p:cNvPr>
          <p:cNvSpPr>
            <a:spLocks noGrp="1"/>
          </p:cNvSpPr>
          <p:nvPr>
            <p:ph type="ctrTitle"/>
          </p:nvPr>
        </p:nvSpPr>
        <p:spPr>
          <a:xfrm>
            <a:off x="273050" y="179388"/>
            <a:ext cx="6943538"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① 생산 관리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53CF005-DDF4-3055-28DE-8CD3F39C286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749EE79-75CC-9FEC-F1A5-FA1627C76B37}"/>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3D02807-DE5D-4F55-F7C9-BA021B3DC08B}"/>
              </a:ext>
            </a:extLst>
          </p:cNvPr>
          <p:cNvSpPr txBox="1"/>
          <p:nvPr/>
        </p:nvSpPr>
        <p:spPr>
          <a:xfrm>
            <a:off x="338778" y="935137"/>
            <a:ext cx="366446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생산 관리 자율화</a:t>
            </a:r>
            <a:r>
              <a:rPr kumimoji="0" lang="en-US" altLang="ko-KR"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graphicFrame>
        <p:nvGraphicFramePr>
          <p:cNvPr id="7" name="표 6">
            <a:extLst>
              <a:ext uri="{FF2B5EF4-FFF2-40B4-BE49-F238E27FC236}">
                <a16:creationId xmlns:a16="http://schemas.microsoft.com/office/drawing/2014/main" id="{FA70D9A7-9BF5-AF4C-D80A-6B2257530383}"/>
              </a:ext>
            </a:extLst>
          </p:cNvPr>
          <p:cNvGraphicFramePr>
            <a:graphicFrameLocks noGrp="1"/>
          </p:cNvGraphicFramePr>
          <p:nvPr/>
        </p:nvGraphicFramePr>
        <p:xfrm>
          <a:off x="411480" y="1602463"/>
          <a:ext cx="13190221" cy="5219484"/>
        </p:xfrm>
        <a:graphic>
          <a:graphicData uri="http://schemas.openxmlformats.org/drawingml/2006/table">
            <a:tbl>
              <a:tblPr/>
              <a:tblGrid>
                <a:gridCol w="745821">
                  <a:extLst>
                    <a:ext uri="{9D8B030D-6E8A-4147-A177-3AD203B41FA5}">
                      <a16:colId xmlns:a16="http://schemas.microsoft.com/office/drawing/2014/main" val="2849626013"/>
                    </a:ext>
                  </a:extLst>
                </a:gridCol>
                <a:gridCol w="3808738">
                  <a:extLst>
                    <a:ext uri="{9D8B030D-6E8A-4147-A177-3AD203B41FA5}">
                      <a16:colId xmlns:a16="http://schemas.microsoft.com/office/drawing/2014/main" val="3246794898"/>
                    </a:ext>
                  </a:extLst>
                </a:gridCol>
                <a:gridCol w="2400131">
                  <a:extLst>
                    <a:ext uri="{9D8B030D-6E8A-4147-A177-3AD203B41FA5}">
                      <a16:colId xmlns:a16="http://schemas.microsoft.com/office/drawing/2014/main" val="1211390470"/>
                    </a:ext>
                  </a:extLst>
                </a:gridCol>
                <a:gridCol w="2400131">
                  <a:extLst>
                    <a:ext uri="{9D8B030D-6E8A-4147-A177-3AD203B41FA5}">
                      <a16:colId xmlns:a16="http://schemas.microsoft.com/office/drawing/2014/main" val="1278921534"/>
                    </a:ext>
                  </a:extLst>
                </a:gridCol>
                <a:gridCol w="292100">
                  <a:extLst>
                    <a:ext uri="{9D8B030D-6E8A-4147-A177-3AD203B41FA5}">
                      <a16:colId xmlns:a16="http://schemas.microsoft.com/office/drawing/2014/main" val="3454662104"/>
                    </a:ext>
                  </a:extLst>
                </a:gridCol>
                <a:gridCol w="3543300">
                  <a:extLst>
                    <a:ext uri="{9D8B030D-6E8A-4147-A177-3AD203B41FA5}">
                      <a16:colId xmlns:a16="http://schemas.microsoft.com/office/drawing/2014/main" val="1082217511"/>
                    </a:ext>
                  </a:extLst>
                </a:gridCol>
              </a:tblGrid>
              <a:tr h="206277">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DX</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94862131"/>
                  </a:ext>
                </a:extLst>
              </a:tr>
              <a:tr h="645265">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a:t>
                      </a:r>
                      <a:r>
                        <a:rPr lang="en-US"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실시간 현황 연동</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라인별 실시간 공정 현황</a:t>
                      </a:r>
                      <a:r>
                        <a:rPr lang="en-US" altLang="ko-KR" sz="900" dirty="0">
                          <a:solidFill>
                            <a:schemeClr val="tx1"/>
                          </a:solidFill>
                          <a:effectLst/>
                          <a:latin typeface="현대산스 Text" panose="020B0600000101010101" pitchFamily="50" charset="-127"/>
                          <a:ea typeface="현대산스 Text" panose="020B0600000101010101" pitchFamily="50" charset="-127"/>
                        </a:rPr>
                        <a:t>(C/T, </a:t>
                      </a:r>
                      <a:r>
                        <a:rPr lang="ko-KR" altLang="en-US" sz="900" dirty="0">
                          <a:solidFill>
                            <a:schemeClr val="tx1"/>
                          </a:solidFill>
                          <a:effectLst/>
                          <a:latin typeface="현대산스 Text" panose="020B0600000101010101" pitchFamily="50" charset="-127"/>
                          <a:ea typeface="현대산스 Text" panose="020B0600000101010101" pitchFamily="50" charset="-127"/>
                        </a:rPr>
                        <a:t>불량</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정지</a:t>
                      </a:r>
                      <a:r>
                        <a:rPr lang="en-US" altLang="ko-KR" sz="900" dirty="0">
                          <a:solidFill>
                            <a:schemeClr val="tx1"/>
                          </a:solidFill>
                          <a:effectLst/>
                          <a:latin typeface="현대산스 Text" panose="020B0600000101010101" pitchFamily="50" charset="-127"/>
                          <a:ea typeface="현대산스 Text" panose="020B0600000101010101" pitchFamily="50" charset="-127"/>
                        </a:rPr>
                        <a:t>) API </a:t>
                      </a:r>
                      <a:r>
                        <a:rPr lang="ko-KR" altLang="en-US" sz="900" dirty="0">
                          <a:solidFill>
                            <a:schemeClr val="tx1"/>
                          </a:solidFill>
                          <a:effectLst/>
                          <a:latin typeface="현대산스 Text" panose="020B0600000101010101" pitchFamily="50" charset="-127"/>
                          <a:ea typeface="현대산스 Text" panose="020B0600000101010101" pitchFamily="50" charset="-127"/>
                        </a:rPr>
                        <a:t>연동</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리스크 데이터 수집</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협력사 부품 결품 위험</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물류 지연 등 외부 공급망 리스크 및</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노드별 진행현황에 대해 데이터 실시간 </a:t>
                      </a:r>
                      <a:r>
                        <a:rPr lang="ko-KR" altLang="en-US" sz="900" dirty="0" err="1">
                          <a:solidFill>
                            <a:schemeClr val="tx1"/>
                          </a:solidFill>
                          <a:effectLst/>
                          <a:latin typeface="현대산스 Text" panose="020B0600000101010101" pitchFamily="50" charset="-127"/>
                          <a:ea typeface="현대산스 Text" panose="020B0600000101010101" pitchFamily="50" charset="-127"/>
                        </a:rPr>
                        <a:t>크롤링</a:t>
                      </a:r>
                      <a:r>
                        <a:rPr lang="ko-KR" altLang="en-US" sz="900" dirty="0">
                          <a:solidFill>
                            <a:schemeClr val="tx1"/>
                          </a:solidFill>
                          <a:effectLst/>
                          <a:latin typeface="현대산스 Text" panose="020B0600000101010101" pitchFamily="50" charset="-127"/>
                          <a:ea typeface="현대산스 Text" panose="020B0600000101010101" pitchFamily="50" charset="-127"/>
                        </a:rPr>
                        <a:t> 및 연동</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IIoT</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Gateways: sensors, PLC, etc.</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Time-series DBs: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InfluxDB</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etc.</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EAI / ESB: Enterprise system integration</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Web Scraping, API Aggregators, NLP</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ETL pipelines &amp; Semantic Middleware</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endParaRPr lang="en-US" sz="850" kern="1200" dirty="0">
                        <a:solidFill>
                          <a:srgbClr val="FF0000"/>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altLang="ko-KR"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실시간 라인 문제들은 사람이 아닌</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명확히 분류된 카테고리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에 </a:t>
                      </a:r>
                      <a:r>
                        <a:rPr lang="ko-KR" altLang="en-US" sz="900" dirty="0" err="1">
                          <a:solidFill>
                            <a:schemeClr val="tx1"/>
                          </a:solidFill>
                          <a:effectLst/>
                          <a:latin typeface="현대산스 Text" panose="020B0600000101010101" pitchFamily="50" charset="-127"/>
                          <a:ea typeface="현대산스 Text" panose="020B0600000101010101" pitchFamily="50" charset="-127"/>
                        </a:rPr>
                        <a:t>얼라인된</a:t>
                      </a:r>
                      <a:r>
                        <a:rPr lang="ko-KR" altLang="en-US" sz="900" dirty="0">
                          <a:solidFill>
                            <a:schemeClr val="tx1"/>
                          </a:solidFill>
                          <a:effectLst/>
                          <a:latin typeface="현대산스 Text" panose="020B0600000101010101" pitchFamily="50" charset="-127"/>
                          <a:ea typeface="현대산스 Text" panose="020B0600000101010101" pitchFamily="50" charset="-127"/>
                        </a:rPr>
                        <a:t> 알람으로 자동 수집되고 분석되어야 함</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수많은 협력사의 공급망 데이터를 실시간 투명하게 확보</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필요 </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en-US" altLang="ko-KR" sz="900" dirty="0" err="1">
                          <a:solidFill>
                            <a:schemeClr val="tx1"/>
                          </a:solidFill>
                          <a:effectLst/>
                          <a:latin typeface="현대산스 Text" panose="020B0600000101010101" pitchFamily="50" charset="-127"/>
                          <a:ea typeface="현대산스 Text" panose="020B0600000101010101" pitchFamily="50" charset="-127"/>
                        </a:rPr>
                        <a:t>Vattz</a:t>
                      </a:r>
                      <a:r>
                        <a:rPr lang="ko-KR" altLang="en-US" sz="900" dirty="0">
                          <a:solidFill>
                            <a:schemeClr val="tx1"/>
                          </a:solidFill>
                          <a:effectLst/>
                          <a:latin typeface="현대산스 Text" panose="020B0600000101010101" pitchFamily="50" charset="-127"/>
                          <a:ea typeface="현대산스 Text" panose="020B0600000101010101" pitchFamily="50" charset="-127"/>
                        </a:rPr>
                        <a:t> 시스템 활용 전 협력사 </a:t>
                      </a:r>
                      <a:r>
                        <a:rPr lang="en-US" altLang="ko-KR" sz="900" dirty="0">
                          <a:solidFill>
                            <a:schemeClr val="tx1"/>
                          </a:solidFill>
                          <a:effectLst/>
                          <a:latin typeface="현대산스 Text" panose="020B0600000101010101" pitchFamily="50" charset="-127"/>
                          <a:ea typeface="현대산스 Text" panose="020B0600000101010101" pitchFamily="50" charset="-127"/>
                        </a:rPr>
                        <a:t>data</a:t>
                      </a:r>
                      <a:r>
                        <a:rPr lang="ko-KR" altLang="en-US" sz="900" dirty="0">
                          <a:solidFill>
                            <a:schemeClr val="tx1"/>
                          </a:solidFill>
                          <a:effectLst/>
                          <a:latin typeface="현대산스 Text" panose="020B0600000101010101" pitchFamily="50" charset="-127"/>
                          <a:ea typeface="현대산스 Text" panose="020B0600000101010101" pitchFamily="50" charset="-127"/>
                        </a:rPr>
                        <a:t> 연계 필요</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endParaRPr lang="ko-KR" altLang="en-US" sz="90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46573300"/>
                  </a:ext>
                </a:extLst>
              </a:tr>
              <a:tr h="645265">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도메인 지식 데이터화</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공장 관리자의 </a:t>
                      </a:r>
                      <a:r>
                        <a:rPr lang="ko-KR" altLang="en-US" sz="900" dirty="0" err="1">
                          <a:solidFill>
                            <a:schemeClr val="tx1"/>
                          </a:solidFill>
                          <a:effectLst/>
                          <a:latin typeface="현대산스 Text" panose="020B0600000101010101" pitchFamily="50" charset="-127"/>
                          <a:ea typeface="현대산스 Text" panose="020B0600000101010101" pitchFamily="50" charset="-127"/>
                        </a:rPr>
                        <a:t>암묵지</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노하우</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노무 제약 </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근로시간</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스킬 매트릭스</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공정 특이사항</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설비 제약</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의 룰</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데이터화</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기준 정보 통합</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en-US" altLang="ko-KR" sz="900" dirty="0">
                          <a:solidFill>
                            <a:schemeClr val="tx1"/>
                          </a:solidFill>
                          <a:effectLst/>
                          <a:latin typeface="현대산스 Text" panose="020B0600000101010101" pitchFamily="50" charset="-127"/>
                          <a:ea typeface="현대산스 Text" panose="020B0600000101010101" pitchFamily="50" charset="-127"/>
                        </a:rPr>
                        <a:t>SCM, WMS(</a:t>
                      </a:r>
                      <a:r>
                        <a:rPr lang="ko-KR" altLang="en-US" sz="900" dirty="0">
                          <a:solidFill>
                            <a:schemeClr val="tx1"/>
                          </a:solidFill>
                          <a:effectLst/>
                          <a:latin typeface="현대산스 Text" panose="020B0600000101010101" pitchFamily="50" charset="-127"/>
                          <a:ea typeface="현대산스 Text" panose="020B0600000101010101" pitchFamily="50" charset="-127"/>
                        </a:rPr>
                        <a:t>재고</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IQIS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품질</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en-US" altLang="ko-KR" sz="900" dirty="0">
                          <a:solidFill>
                            <a:schemeClr val="tx1"/>
                          </a:solidFill>
                          <a:effectLst/>
                          <a:latin typeface="현대산스 Text" panose="020B0600000101010101" pitchFamily="50" charset="-127"/>
                          <a:ea typeface="현대산스 Text" panose="020B0600000101010101" pitchFamily="50" charset="-127"/>
                        </a:rPr>
                        <a:t> MES(</a:t>
                      </a:r>
                      <a:r>
                        <a:rPr lang="ko-KR" altLang="en-US" sz="900" dirty="0">
                          <a:solidFill>
                            <a:schemeClr val="tx1"/>
                          </a:solidFill>
                          <a:effectLst/>
                          <a:latin typeface="현대산스 Text" panose="020B0600000101010101" pitchFamily="50" charset="-127"/>
                          <a:ea typeface="현대산스 Text" panose="020B0600000101010101" pitchFamily="50" charset="-127"/>
                        </a:rPr>
                        <a:t>공정</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데이터 포맷 표준화</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MDM (Master Data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Mgmt</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SDM (Single Data Model) &amp; Data Catalogs</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Workforce Skill Matrices</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DataLake</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(Un/Structured data integration)</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Big Data Analytics (Spark, etc.)</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endParaRPr lang="en-US" sz="85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altLang="ko-KR"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베테랑 관리자의 직관적 판단</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err="1">
                          <a:solidFill>
                            <a:schemeClr val="tx1"/>
                          </a:solidFill>
                          <a:effectLst/>
                          <a:latin typeface="현대산스 Text" panose="020B0600000101010101" pitchFamily="50" charset="-127"/>
                          <a:ea typeface="현대산스 Text" panose="020B0600000101010101" pitchFamily="50" charset="-127"/>
                        </a:rPr>
                        <a:t>암묵지</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을 정량적 데이터와</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 알고리즘 룰로 변환하는 과정의 난해함</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공장별 특이사항에 대한 조사 및 프로세스 표준화 고려 필요</a:t>
                      </a: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26434180"/>
                  </a:ext>
                </a:extLst>
              </a:tr>
              <a:tr h="2285696">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리스크 예측 분석</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실시간 재고 및 공급망 데이터를 바탕으로 특정 라인의</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결품 예상 시점</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사전 분석</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제약 조건 종합</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현재 가용한 인력</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노무</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과 설비 상태를 매칭하여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실시간 생산 가능 </a:t>
                      </a:r>
                      <a:r>
                        <a:rPr lang="en-US" altLang="ko-KR" sz="900" dirty="0">
                          <a:solidFill>
                            <a:schemeClr val="tx1"/>
                          </a:solidFill>
                          <a:effectLst/>
                          <a:latin typeface="현대산스 Text" panose="020B0600000101010101" pitchFamily="50" charset="-127"/>
                          <a:ea typeface="현대산스 Text" panose="020B0600000101010101" pitchFamily="50" charset="-127"/>
                        </a:rPr>
                        <a:t>CAPA </a:t>
                      </a:r>
                      <a:r>
                        <a:rPr lang="ko-KR" altLang="en-US" sz="900" dirty="0">
                          <a:solidFill>
                            <a:schemeClr val="tx1"/>
                          </a:solidFill>
                          <a:effectLst/>
                          <a:latin typeface="현대산스 Text" panose="020B0600000101010101" pitchFamily="50" charset="-127"/>
                          <a:ea typeface="현대산스 Text" panose="020B0600000101010101" pitchFamily="50" charset="-127"/>
                        </a:rPr>
                        <a:t>산출</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오케스트레이션 </a:t>
                      </a:r>
                      <a:r>
                        <a:rPr lang="en-US" altLang="ko-KR" sz="900" b="1" dirty="0">
                          <a:solidFill>
                            <a:schemeClr val="tx1"/>
                          </a:solidFill>
                          <a:effectLst/>
                          <a:latin typeface="현대산스 Text" panose="020B0600000101010101" pitchFamily="50" charset="-127"/>
                          <a:ea typeface="현대산스 Text" panose="020B0600000101010101" pitchFamily="50" charset="-127"/>
                        </a:rPr>
                        <a:t>AI </a:t>
                      </a:r>
                      <a:r>
                        <a:rPr lang="ko-KR" altLang="en-US" sz="900" b="1" dirty="0">
                          <a:solidFill>
                            <a:schemeClr val="tx1"/>
                          </a:solidFill>
                          <a:effectLst/>
                          <a:latin typeface="현대산스 Text" panose="020B0600000101010101" pitchFamily="50" charset="-127"/>
                          <a:ea typeface="현대산스 Text" panose="020B0600000101010101" pitchFamily="50" charset="-127"/>
                        </a:rPr>
                        <a:t>엔진 개발</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관리자 수준의 서열</a:t>
                      </a:r>
                      <a:r>
                        <a:rPr lang="en-US" altLang="ko-KR" sz="900" dirty="0">
                          <a:solidFill>
                            <a:schemeClr val="tx1"/>
                          </a:solidFill>
                          <a:effectLst/>
                          <a:latin typeface="현대산스 Text" panose="020B0600000101010101" pitchFamily="50" charset="-127"/>
                          <a:ea typeface="현대산스 Text" panose="020B0600000101010101" pitchFamily="50" charset="-127"/>
                        </a:rPr>
                        <a:t>(Sequence) </a:t>
                      </a:r>
                      <a:r>
                        <a:rPr lang="ko-KR" altLang="en-US" sz="900" dirty="0">
                          <a:solidFill>
                            <a:schemeClr val="tx1"/>
                          </a:solidFill>
                          <a:effectLst/>
                          <a:latin typeface="현대산스 Text" panose="020B0600000101010101" pitchFamily="50" charset="-127"/>
                          <a:ea typeface="현대산스 Text" panose="020B0600000101010101" pitchFamily="50" charset="-127"/>
                        </a:rPr>
                        <a:t>단위</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미세 생산 계획 자동 수립 알고리즘 개발</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다각적 시나리오 도출 로직</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목적 함수에 따른 복수 대안 생성</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ko-KR" altLang="en-US" sz="900" dirty="0">
                          <a:solidFill>
                            <a:schemeClr val="tx1"/>
                          </a:solidFill>
                          <a:effectLst/>
                          <a:latin typeface="현대산스 Text" panose="020B0600000101010101" pitchFamily="50" charset="-127"/>
                          <a:ea typeface="현대산스 Text" panose="020B0600000101010101" pitchFamily="50" charset="-127"/>
                        </a:rPr>
                        <a:t>                                               ① </a:t>
                      </a:r>
                      <a:r>
                        <a:rPr lang="ko-KR" altLang="en-US" sz="900" b="1" dirty="0">
                          <a:solidFill>
                            <a:schemeClr val="tx1"/>
                          </a:solidFill>
                          <a:effectLst/>
                          <a:latin typeface="현대산스 Text" panose="020B0600000101010101" pitchFamily="50" charset="-127"/>
                          <a:ea typeface="현대산스 Text" panose="020B0600000101010101" pitchFamily="50" charset="-127"/>
                        </a:rPr>
                        <a:t>생산성 우선</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en-US" altLang="ko-KR" sz="900" dirty="0">
                          <a:solidFill>
                            <a:schemeClr val="tx1"/>
                          </a:solidFill>
                          <a:effectLst/>
                          <a:latin typeface="현대산스 Text" panose="020B0600000101010101" pitchFamily="50" charset="-127"/>
                          <a:ea typeface="현대산스 Text" panose="020B0600000101010101" pitchFamily="50" charset="-127"/>
                        </a:rPr>
                        <a:t>UPH </a:t>
                      </a:r>
                      <a:r>
                        <a:rPr lang="ko-KR" altLang="en-US" sz="900" dirty="0">
                          <a:solidFill>
                            <a:schemeClr val="tx1"/>
                          </a:solidFill>
                          <a:effectLst/>
                          <a:latin typeface="현대산스 Text" panose="020B0600000101010101" pitchFamily="50" charset="-127"/>
                          <a:ea typeface="현대산스 Text" panose="020B0600000101010101" pitchFamily="50" charset="-127"/>
                        </a:rPr>
                        <a:t>극대화 및 설비 가동률 중심</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ko-KR" altLang="en-US" sz="900" dirty="0">
                          <a:solidFill>
                            <a:schemeClr val="tx1"/>
                          </a:solidFill>
                          <a:effectLst/>
                          <a:latin typeface="현대산스 Text" panose="020B0600000101010101" pitchFamily="50" charset="-127"/>
                          <a:ea typeface="현대산스 Text" panose="020B0600000101010101" pitchFamily="50" charset="-127"/>
                        </a:rPr>
                        <a:t>                                               ② </a:t>
                      </a:r>
                      <a:r>
                        <a:rPr lang="ko-KR" altLang="en-US" sz="900" b="1" dirty="0">
                          <a:solidFill>
                            <a:schemeClr val="tx1"/>
                          </a:solidFill>
                          <a:effectLst/>
                          <a:latin typeface="현대산스 Text" panose="020B0600000101010101" pitchFamily="50" charset="-127"/>
                          <a:ea typeface="현대산스 Text" panose="020B0600000101010101" pitchFamily="50" charset="-127"/>
                        </a:rPr>
                        <a:t>재고 최적화 </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err="1">
                          <a:solidFill>
                            <a:schemeClr val="tx1"/>
                          </a:solidFill>
                          <a:effectLst/>
                          <a:latin typeface="현대산스 Text" panose="020B0600000101010101" pitchFamily="50" charset="-127"/>
                          <a:ea typeface="현대산스 Text" panose="020B0600000101010101" pitchFamily="50" charset="-127"/>
                        </a:rPr>
                        <a:t>완성차</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재공품</a:t>
                      </a:r>
                      <a:r>
                        <a:rPr lang="en-US" altLang="ko-KR" sz="900" dirty="0">
                          <a:solidFill>
                            <a:schemeClr val="tx1"/>
                          </a:solidFill>
                          <a:effectLst/>
                          <a:latin typeface="현대산스 Text" panose="020B0600000101010101" pitchFamily="50" charset="-127"/>
                          <a:ea typeface="현대산스 Text" panose="020B0600000101010101" pitchFamily="50" charset="-127"/>
                        </a:rPr>
                        <a:t>(WIP) </a:t>
                      </a:r>
                      <a:r>
                        <a:rPr lang="ko-KR" altLang="en-US" sz="900" dirty="0">
                          <a:solidFill>
                            <a:schemeClr val="tx1"/>
                          </a:solidFill>
                          <a:effectLst/>
                          <a:latin typeface="현대산스 Text" panose="020B0600000101010101" pitchFamily="50" charset="-127"/>
                          <a:ea typeface="현대산스 Text" panose="020B0600000101010101" pitchFamily="50" charset="-127"/>
                        </a:rPr>
                        <a:t>보관 비용 최소화 </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ko-KR" altLang="en-US" sz="900" dirty="0">
                          <a:solidFill>
                            <a:schemeClr val="tx1"/>
                          </a:solidFill>
                          <a:effectLst/>
                          <a:latin typeface="현대산스 Text" panose="020B0600000101010101" pitchFamily="50" charset="-127"/>
                          <a:ea typeface="현대산스 Text" panose="020B0600000101010101" pitchFamily="50" charset="-127"/>
                        </a:rPr>
                        <a:t>                                               ③ </a:t>
                      </a:r>
                      <a:r>
                        <a:rPr lang="en-US" altLang="ko-KR" sz="900" b="1" dirty="0">
                          <a:solidFill>
                            <a:schemeClr val="tx1"/>
                          </a:solidFill>
                          <a:effectLst/>
                          <a:latin typeface="현대산스 Text" panose="020B0600000101010101" pitchFamily="50" charset="-127"/>
                          <a:ea typeface="현대산스 Text" panose="020B0600000101010101" pitchFamily="50" charset="-127"/>
                        </a:rPr>
                        <a:t>BTO </a:t>
                      </a:r>
                      <a:r>
                        <a:rPr lang="ko-KR" altLang="en-US" sz="900" b="1" dirty="0">
                          <a:solidFill>
                            <a:schemeClr val="tx1"/>
                          </a:solidFill>
                          <a:effectLst/>
                          <a:latin typeface="현대산스 Text" panose="020B0600000101010101" pitchFamily="50" charset="-127"/>
                          <a:ea typeface="현대산스 Text" panose="020B0600000101010101" pitchFamily="50" charset="-127"/>
                        </a:rPr>
                        <a:t>최적화</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고객 주문 납기 </a:t>
                      </a:r>
                      <a:r>
                        <a:rPr lang="ko-KR" altLang="en-US" sz="900" dirty="0" err="1">
                          <a:solidFill>
                            <a:schemeClr val="tx1"/>
                          </a:solidFill>
                          <a:effectLst/>
                          <a:latin typeface="현대산스 Text" panose="020B0600000101010101" pitchFamily="50" charset="-127"/>
                          <a:ea typeface="현대산스 Text" panose="020B0600000101010101" pitchFamily="50" charset="-127"/>
                        </a:rPr>
                        <a:t>준수율</a:t>
                      </a:r>
                      <a:r>
                        <a:rPr lang="en-US" altLang="ko-KR" sz="900" dirty="0">
                          <a:solidFill>
                            <a:schemeClr val="tx1"/>
                          </a:solidFill>
                          <a:effectLst/>
                          <a:latin typeface="현대산스 Text" panose="020B0600000101010101" pitchFamily="50" charset="-127"/>
                          <a:ea typeface="현대산스 Text" panose="020B0600000101010101" pitchFamily="50" charset="-127"/>
                        </a:rPr>
                        <a:t>(OTIF) </a:t>
                      </a:r>
                      <a:r>
                        <a:rPr lang="ko-KR" altLang="en-US" sz="900" dirty="0">
                          <a:solidFill>
                            <a:schemeClr val="tx1"/>
                          </a:solidFill>
                          <a:effectLst/>
                          <a:latin typeface="현대산스 Text" panose="020B0600000101010101" pitchFamily="50" charset="-127"/>
                          <a:ea typeface="현대산스 Text" panose="020B0600000101010101" pitchFamily="50" charset="-127"/>
                        </a:rPr>
                        <a:t>최우선</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시나리오 가상 검증</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en-US" altLang="ko-KR" sz="900" dirty="0">
                          <a:solidFill>
                            <a:schemeClr val="tx1"/>
                          </a:solidFill>
                          <a:effectLst/>
                          <a:latin typeface="현대산스 Text" panose="020B0600000101010101" pitchFamily="50" charset="-127"/>
                          <a:ea typeface="현대산스 Text" panose="020B0600000101010101" pitchFamily="50" charset="-127"/>
                        </a:rPr>
                        <a:t>AI</a:t>
                      </a:r>
                      <a:r>
                        <a:rPr lang="ko-KR" altLang="en-US" sz="900" dirty="0">
                          <a:solidFill>
                            <a:schemeClr val="tx1"/>
                          </a:solidFill>
                          <a:effectLst/>
                          <a:latin typeface="현대산스 Text" panose="020B0600000101010101" pitchFamily="50" charset="-127"/>
                          <a:ea typeface="현대산스 Text" panose="020B0600000101010101" pitchFamily="50" charset="-127"/>
                        </a:rPr>
                        <a:t>가 제안한 </a:t>
                      </a:r>
                      <a:r>
                        <a:rPr lang="en-US" altLang="ko-KR" sz="900" dirty="0">
                          <a:solidFill>
                            <a:schemeClr val="tx1"/>
                          </a:solidFill>
                          <a:effectLst/>
                          <a:latin typeface="현대산스 Text" panose="020B0600000101010101" pitchFamily="50" charset="-127"/>
                          <a:ea typeface="현대산스 Text" panose="020B0600000101010101" pitchFamily="50" charset="-127"/>
                        </a:rPr>
                        <a:t>3</a:t>
                      </a:r>
                      <a:r>
                        <a:rPr lang="ko-KR" altLang="en-US" sz="900" dirty="0">
                          <a:solidFill>
                            <a:schemeClr val="tx1"/>
                          </a:solidFill>
                          <a:effectLst/>
                          <a:latin typeface="현대산스 Text" panose="020B0600000101010101" pitchFamily="50" charset="-127"/>
                          <a:ea typeface="현대산스 Text" panose="020B0600000101010101" pitchFamily="50" charset="-127"/>
                        </a:rPr>
                        <a:t>가지 시나리오를 디지털 트윈에 입력하여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라인 </a:t>
                      </a:r>
                      <a:r>
                        <a:rPr lang="ko-KR" altLang="en-US" sz="900" dirty="0" err="1">
                          <a:solidFill>
                            <a:schemeClr val="tx1"/>
                          </a:solidFill>
                          <a:effectLst/>
                          <a:latin typeface="현대산스 Text" panose="020B0600000101010101" pitchFamily="50" charset="-127"/>
                          <a:ea typeface="현대산스 Text" panose="020B0600000101010101" pitchFamily="50" charset="-127"/>
                        </a:rPr>
                        <a:t>밸런싱</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병목</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결품 여부 사전 시뮬레이션</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의사결정 지원 </a:t>
                      </a:r>
                      <a:r>
                        <a:rPr lang="en-US" altLang="ko-KR" sz="900" b="1" dirty="0">
                          <a:solidFill>
                            <a:schemeClr val="tx1"/>
                          </a:solidFill>
                          <a:effectLst/>
                          <a:latin typeface="현대산스 Text" panose="020B0600000101010101" pitchFamily="50" charset="-127"/>
                          <a:ea typeface="현대산스 Text" panose="020B0600000101010101" pitchFamily="50" charset="-127"/>
                        </a:rPr>
                        <a:t>UI]</a:t>
                      </a:r>
                      <a:r>
                        <a:rPr lang="ko-KR" altLang="en-US" sz="900" dirty="0">
                          <a:solidFill>
                            <a:schemeClr val="tx1"/>
                          </a:solidFill>
                          <a:effectLst/>
                          <a:latin typeface="현대산스 Text" panose="020B0600000101010101" pitchFamily="50" charset="-127"/>
                          <a:ea typeface="현대산스 Text" panose="020B0600000101010101" pitchFamily="50" charset="-127"/>
                        </a:rPr>
                        <a:t> 관리자가 시나리오별 기대 효과</a:t>
                      </a:r>
                      <a:r>
                        <a:rPr lang="en-US" altLang="ko-KR" sz="900" dirty="0">
                          <a:solidFill>
                            <a:schemeClr val="tx1"/>
                          </a:solidFill>
                          <a:effectLst/>
                          <a:latin typeface="현대산스 Text" panose="020B0600000101010101" pitchFamily="50" charset="-127"/>
                          <a:ea typeface="현대산스 Text" panose="020B0600000101010101" pitchFamily="50" charset="-127"/>
                        </a:rPr>
                        <a:t>(KPI </a:t>
                      </a:r>
                      <a:r>
                        <a:rPr lang="ko-KR" altLang="en-US" sz="900" dirty="0">
                          <a:solidFill>
                            <a:schemeClr val="tx1"/>
                          </a:solidFill>
                          <a:effectLst/>
                          <a:latin typeface="현대산스 Text" panose="020B0600000101010101" pitchFamily="50" charset="-127"/>
                          <a:ea typeface="현대산스 Text" panose="020B0600000101010101" pitchFamily="50" charset="-127"/>
                        </a:rPr>
                        <a:t>변화</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를 비교하고</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최종 승인할 수 있는 대시보드 개발</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altLang="ko-KR" sz="850" kern="1200" dirty="0">
                          <a:solidFill>
                            <a:schemeClr val="tx1"/>
                          </a:solidFill>
                          <a:effectLst/>
                          <a:latin typeface="Hyundai Sans Text KR" panose="020B0600000101010101" pitchFamily="34" charset="-127"/>
                          <a:ea typeface="Hyundai Sans Text KR" panose="020B0600000101010101" pitchFamily="34" charset="-127"/>
                          <a:cs typeface="+mn-cs"/>
                        </a:rPr>
                        <a:t>• Knowledge Graph &amp; Rule </a:t>
                      </a:r>
                      <a:r>
                        <a:rPr lang="en-US" altLang="ko-KR" sz="850" kern="1200" dirty="0" err="1">
                          <a:solidFill>
                            <a:schemeClr val="tx1"/>
                          </a:solidFill>
                          <a:effectLst/>
                          <a:latin typeface="Hyundai Sans Text KR" panose="020B0600000101010101" pitchFamily="34" charset="-127"/>
                          <a:ea typeface="Hyundai Sans Text KR" panose="020B0600000101010101" pitchFamily="34" charset="-127"/>
                          <a:cs typeface="+mn-cs"/>
                        </a:rPr>
                        <a:t>Mgmt</a:t>
                      </a:r>
                      <a:r>
                        <a:rPr lang="en-US" altLang="ko-KR" sz="850" kern="1200" dirty="0">
                          <a:solidFill>
                            <a:schemeClr val="tx1"/>
                          </a:solidFill>
                          <a:effectLst/>
                          <a:latin typeface="Hyundai Sans Text KR" panose="020B0600000101010101" pitchFamily="34" charset="-127"/>
                          <a:ea typeface="Hyundai Sans Text KR" panose="020B0600000101010101" pitchFamily="34" charset="-127"/>
                          <a:cs typeface="+mn-cs"/>
                        </a:rPr>
                        <a:t> System</a:t>
                      </a:r>
                      <a:endParaRPr lang="en-US" sz="85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marL="0" marR="0" lvl="0" indent="0" algn="l" defTabSz="742950" rtl="0" eaLnBrk="1" fontAlgn="auto" latinLnBrk="0" hangingPunct="1">
                        <a:lnSpc>
                          <a:spcPct val="100000"/>
                        </a:lnSpc>
                        <a:spcBef>
                          <a:spcPts val="0"/>
                        </a:spcBef>
                        <a:spcAft>
                          <a:spcPts val="0"/>
                        </a:spcAft>
                        <a:buClrTx/>
                        <a:buSzTx/>
                        <a:buFontTx/>
                        <a:buNone/>
                        <a:tabLst/>
                        <a:defRPr/>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Next-gen SCM</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Time-Series Foundation Models:</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(shortage/delay prediction)</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Cloud-Scale Parallel Computing</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CEP (Complex Event Processing)</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Multi-Objective Optimization (MOO) Algorithms (MILP, heuristic optimization)</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Agentic AI &amp; LLM Reasoning</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Reinforcement Learning </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(RL-based sequence optimization)</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Scenario Planning Module</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High-Fidelity Digital Twin Platform </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What-If Analysis Dashboard</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lang="en-US" sz="85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시시각각 변하는 동적 변수</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갑작스러운 결근</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설비 고장</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부품 지연</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를 실시간 분석 모델에 지연 없이 반영하는</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기술적 부하 </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err="1">
                          <a:solidFill>
                            <a:schemeClr val="tx1"/>
                          </a:solidFill>
                          <a:effectLst/>
                          <a:latin typeface="현대산스 Text" panose="020B0600000101010101" pitchFamily="50" charset="-127"/>
                          <a:ea typeface="현대산스 Text" panose="020B0600000101010101" pitchFamily="50" charset="-127"/>
                        </a:rPr>
                        <a:t>리던던시</a:t>
                      </a:r>
                      <a:r>
                        <a:rPr lang="ko-KR" altLang="en-US" sz="900" dirty="0">
                          <a:solidFill>
                            <a:schemeClr val="tx1"/>
                          </a:solidFill>
                          <a:effectLst/>
                          <a:latin typeface="현대산스 Text" panose="020B0600000101010101" pitchFamily="50" charset="-127"/>
                          <a:ea typeface="현대산스 Text" panose="020B0600000101010101" pitchFamily="50" charset="-127"/>
                        </a:rPr>
                        <a:t> 고려한 안정적인 기본 룰베이스</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운영 원칙과 연계 필요성 검증</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상충 목표 </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예</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생산 안정화 </a:t>
                      </a:r>
                      <a:r>
                        <a:rPr lang="en-US" altLang="ko-KR" sz="900" dirty="0">
                          <a:solidFill>
                            <a:schemeClr val="tx1"/>
                          </a:solidFill>
                          <a:effectLst/>
                          <a:latin typeface="현대산스 Text" panose="020B0600000101010101" pitchFamily="50" charset="-127"/>
                          <a:ea typeface="현대산스 Text" panose="020B0600000101010101" pitchFamily="50" charset="-127"/>
                        </a:rPr>
                        <a:t>vs </a:t>
                      </a:r>
                      <a:r>
                        <a:rPr lang="ko-KR" altLang="en-US" sz="900" dirty="0">
                          <a:solidFill>
                            <a:schemeClr val="tx1"/>
                          </a:solidFill>
                          <a:effectLst/>
                          <a:latin typeface="현대산스 Text" panose="020B0600000101010101" pitchFamily="50" charset="-127"/>
                          <a:ea typeface="현대산스 Text" panose="020B0600000101010101" pitchFamily="50" charset="-127"/>
                        </a:rPr>
                        <a:t>재고 최소화</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사이에서</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최적의 타협점</a:t>
                      </a:r>
                      <a:r>
                        <a:rPr lang="en-US" altLang="ko-KR" sz="900" dirty="0">
                          <a:solidFill>
                            <a:schemeClr val="tx1"/>
                          </a:solidFill>
                          <a:effectLst/>
                          <a:latin typeface="현대산스 Text" panose="020B0600000101010101" pitchFamily="50" charset="-127"/>
                          <a:ea typeface="현대산스 Text" panose="020B0600000101010101" pitchFamily="50" charset="-127"/>
                        </a:rPr>
                        <a:t>(Trade-off)</a:t>
                      </a:r>
                      <a:r>
                        <a:rPr lang="ko-KR" altLang="en-US" sz="900" dirty="0">
                          <a:solidFill>
                            <a:schemeClr val="tx1"/>
                          </a:solidFill>
                          <a:effectLst/>
                          <a:latin typeface="현대산스 Text" panose="020B0600000101010101" pitchFamily="50" charset="-127"/>
                          <a:ea typeface="현대산스 Text" panose="020B0600000101010101" pitchFamily="50" charset="-127"/>
                        </a:rPr>
                        <a:t>을 찾는 복합적인 의사결정</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가능한 최적화 알고리즘의 높은 연산 복잡도</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현실 라인의 물리적 제약 </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컨베이어 속도</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버퍼 공간 등</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을   </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가상 공간에 오차 없이 </a:t>
                      </a:r>
                      <a:r>
                        <a:rPr lang="en-US" altLang="ko-KR" sz="900" dirty="0">
                          <a:solidFill>
                            <a:schemeClr val="tx1"/>
                          </a:solidFill>
                          <a:effectLst/>
                          <a:latin typeface="현대산스 Text" panose="020B0600000101010101" pitchFamily="50" charset="-127"/>
                          <a:ea typeface="현대산스 Text" panose="020B0600000101010101" pitchFamily="50" charset="-127"/>
                        </a:rPr>
                        <a:t>100% </a:t>
                      </a:r>
                      <a:r>
                        <a:rPr lang="ko-KR" altLang="en-US" sz="900" dirty="0">
                          <a:solidFill>
                            <a:schemeClr val="tx1"/>
                          </a:solidFill>
                          <a:effectLst/>
                          <a:latin typeface="현대산스 Text" panose="020B0600000101010101" pitchFamily="50" charset="-127"/>
                          <a:ea typeface="현대산스 Text" panose="020B0600000101010101" pitchFamily="50" charset="-127"/>
                        </a:rPr>
                        <a:t>동기화하는 모델링 어려움</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  </a:t>
                      </a:r>
                      <a:r>
                        <a:rPr lang="ko-KR" altLang="en-US" sz="900" dirty="0">
                          <a:solidFill>
                            <a:schemeClr val="tx1"/>
                          </a:solidFill>
                          <a:effectLst/>
                          <a:latin typeface="현대산스 Text" panose="020B0600000101010101" pitchFamily="50" charset="-127"/>
                          <a:ea typeface="현대산스 Text" panose="020B0600000101010101" pitchFamily="50" charset="-127"/>
                        </a:rPr>
                        <a:t>과거 </a:t>
                      </a:r>
                      <a:r>
                        <a:rPr lang="en-US" altLang="ko-KR" sz="900" dirty="0">
                          <a:solidFill>
                            <a:schemeClr val="tx1"/>
                          </a:solidFill>
                          <a:effectLst/>
                          <a:latin typeface="현대산스 Text" panose="020B0600000101010101" pitchFamily="50" charset="-127"/>
                          <a:ea typeface="현대산스 Text" panose="020B0600000101010101" pitchFamily="50" charset="-127"/>
                        </a:rPr>
                        <a:t>data </a:t>
                      </a:r>
                      <a:r>
                        <a:rPr lang="ko-KR" altLang="en-US" sz="900" dirty="0">
                          <a:solidFill>
                            <a:schemeClr val="tx1"/>
                          </a:solidFill>
                          <a:effectLst/>
                          <a:latin typeface="현대산스 Text" panose="020B0600000101010101" pitchFamily="50" charset="-127"/>
                          <a:ea typeface="현대산스 Text" panose="020B0600000101010101" pitchFamily="50" charset="-127"/>
                        </a:rPr>
                        <a:t>활용하여 순차적으로 오차 축소 가능 예상</a:t>
                      </a: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980332924"/>
                  </a:ext>
                </a:extLst>
              </a:tr>
              <a:tr h="569407">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라인별 지시 하달</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확정된 시나리오를 바탕으로 각 현장 라인의 </a:t>
                      </a:r>
                      <a:r>
                        <a:rPr lang="en-US" altLang="ko-KR" sz="900" dirty="0">
                          <a:solidFill>
                            <a:schemeClr val="tx1"/>
                          </a:solidFill>
                          <a:effectLst/>
                          <a:latin typeface="현대산스 Text" panose="020B0600000101010101" pitchFamily="50" charset="-127"/>
                          <a:ea typeface="현대산스 Text" panose="020B0600000101010101" pitchFamily="50" charset="-127"/>
                        </a:rPr>
                        <a:t>PLC </a:t>
                      </a:r>
                      <a:r>
                        <a:rPr lang="ko-KR" altLang="en-US" sz="900" dirty="0">
                          <a:solidFill>
                            <a:schemeClr val="tx1"/>
                          </a:solidFill>
                          <a:effectLst/>
                          <a:latin typeface="현대산스 Text" panose="020B0600000101010101" pitchFamily="50" charset="-127"/>
                          <a:ea typeface="현대산스 Text" panose="020B0600000101010101" pitchFamily="50" charset="-127"/>
                        </a:rPr>
                        <a:t>및</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작업자 단말기에 서열 지시서 자동 전송</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물류 동기화</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생산 서열에 맞춘 부품 불출</a:t>
                      </a:r>
                      <a:r>
                        <a:rPr lang="en-US" altLang="ko-KR" sz="900" dirty="0">
                          <a:solidFill>
                            <a:schemeClr val="tx1"/>
                          </a:solidFill>
                          <a:effectLst/>
                          <a:latin typeface="현대산스 Text" panose="020B0600000101010101" pitchFamily="50" charset="-127"/>
                          <a:ea typeface="현대산스 Text" panose="020B0600000101010101" pitchFamily="50" charset="-127"/>
                        </a:rPr>
                        <a:t>(JIS/JIT) </a:t>
                      </a:r>
                      <a:r>
                        <a:rPr lang="ko-KR" altLang="en-US" sz="900" dirty="0">
                          <a:solidFill>
                            <a:schemeClr val="tx1"/>
                          </a:solidFill>
                          <a:effectLst/>
                          <a:latin typeface="현대산스 Text" panose="020B0600000101010101" pitchFamily="50" charset="-127"/>
                          <a:ea typeface="현대산스 Text" panose="020B0600000101010101" pitchFamily="50" charset="-127"/>
                        </a:rPr>
                        <a:t>및 </a:t>
                      </a:r>
                      <a:r>
                        <a:rPr lang="en-US" altLang="ko-KR" sz="900" dirty="0">
                          <a:solidFill>
                            <a:schemeClr val="tx1"/>
                          </a:solidFill>
                          <a:effectLst/>
                          <a:latin typeface="현대산스 Text" panose="020B0600000101010101" pitchFamily="50" charset="-127"/>
                          <a:ea typeface="현대산스 Text" panose="020B0600000101010101" pitchFamily="50" charset="-127"/>
                        </a:rPr>
                        <a:t>AGV </a:t>
                      </a:r>
                      <a:r>
                        <a:rPr lang="ko-KR" altLang="en-US" sz="900" dirty="0">
                          <a:solidFill>
                            <a:schemeClr val="tx1"/>
                          </a:solidFill>
                          <a:effectLst/>
                          <a:latin typeface="현대산스 Text" panose="020B0600000101010101" pitchFamily="50" charset="-127"/>
                          <a:ea typeface="현대산스 Text" panose="020B0600000101010101" pitchFamily="50" charset="-127"/>
                        </a:rPr>
                        <a:t>이송 지시 자동화</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Smart MES / WMS / Worker Terminals</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Private 5G / Edge Computing</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Smart Fleet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Mgmt</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System &amp; Navigation</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RCS (Robot/AGV Control Systems)</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endParaRPr lang="en-US" sz="85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altLang="ko-KR"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AI</a:t>
                      </a:r>
                      <a:r>
                        <a:rPr lang="ko-KR" altLang="en-US" sz="900" dirty="0">
                          <a:solidFill>
                            <a:schemeClr val="tx1"/>
                          </a:solidFill>
                          <a:effectLst/>
                          <a:latin typeface="현대산스 Text" panose="020B0600000101010101" pitchFamily="50" charset="-127"/>
                          <a:ea typeface="현대산스 Text" panose="020B0600000101010101" pitchFamily="50" charset="-127"/>
                        </a:rPr>
                        <a:t>의 계획 변경 시</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이미 라인에 투입된 재공품</a:t>
                      </a:r>
                      <a:r>
                        <a:rPr lang="en-US" altLang="ko-KR" sz="900" dirty="0">
                          <a:solidFill>
                            <a:schemeClr val="tx1"/>
                          </a:solidFill>
                          <a:effectLst/>
                          <a:latin typeface="현대산스 Text" panose="020B0600000101010101" pitchFamily="50" charset="-127"/>
                          <a:ea typeface="현대산스 Text" panose="020B0600000101010101" pitchFamily="50" charset="-127"/>
                        </a:rPr>
                        <a:t>(WIP)</a:t>
                      </a:r>
                      <a:r>
                        <a:rPr lang="ko-KR" altLang="en-US" sz="900" dirty="0">
                          <a:solidFill>
                            <a:schemeClr val="tx1"/>
                          </a:solidFill>
                          <a:effectLst/>
                          <a:latin typeface="현대산스 Text" panose="020B0600000101010101" pitchFamily="50" charset="-127"/>
                          <a:ea typeface="현대산스 Text" panose="020B0600000101010101" pitchFamily="50" charset="-127"/>
                        </a:rPr>
                        <a:t>과</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이동 중인 물류의 동선을 실시간으로 재조정 </a:t>
                      </a:r>
                      <a:r>
                        <a:rPr lang="en-US" altLang="ko-KR" sz="900" dirty="0">
                          <a:solidFill>
                            <a:schemeClr val="tx1"/>
                          </a:solidFill>
                          <a:effectLst/>
                          <a:latin typeface="현대산스 Text" panose="020B0600000101010101" pitchFamily="50" charset="-127"/>
                          <a:ea typeface="현대산스 Text" panose="020B0600000101010101" pitchFamily="50" charset="-127"/>
                        </a:rPr>
                        <a:t>(Re-routing)</a:t>
                      </a: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하여 리드타임을 최소화 하는 관제 및</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물리적 제어 기술 필요</a:t>
                      </a: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684136130"/>
                  </a:ext>
                </a:extLst>
              </a:tr>
              <a:tr h="791724">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전문가 모방 학습</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en-US" altLang="ko-KR" sz="900" dirty="0">
                          <a:solidFill>
                            <a:schemeClr val="tx1"/>
                          </a:solidFill>
                          <a:effectLst/>
                          <a:latin typeface="현대산스 Text" panose="020B0600000101010101" pitchFamily="50" charset="-127"/>
                          <a:ea typeface="현대산스 Text" panose="020B0600000101010101" pitchFamily="50" charset="-127"/>
                        </a:rPr>
                        <a:t>AI</a:t>
                      </a:r>
                      <a:r>
                        <a:rPr lang="ko-KR" altLang="en-US" sz="900" dirty="0">
                          <a:solidFill>
                            <a:schemeClr val="tx1"/>
                          </a:solidFill>
                          <a:effectLst/>
                          <a:latin typeface="현대산스 Text" panose="020B0600000101010101" pitchFamily="50" charset="-127"/>
                          <a:ea typeface="현대산스 Text" panose="020B0600000101010101" pitchFamily="50" charset="-127"/>
                        </a:rPr>
                        <a:t>가 수립한 계획을 관리자가 수정</a:t>
                      </a:r>
                      <a:r>
                        <a:rPr lang="en-US" altLang="ko-KR" sz="900" dirty="0">
                          <a:solidFill>
                            <a:schemeClr val="tx1"/>
                          </a:solidFill>
                          <a:effectLst/>
                          <a:latin typeface="현대산스 Text" panose="020B0600000101010101" pitchFamily="50" charset="-127"/>
                          <a:ea typeface="현대산스 Text" panose="020B0600000101010101" pitchFamily="50" charset="-127"/>
                        </a:rPr>
                        <a:t>(Override)</a:t>
                      </a:r>
                      <a:r>
                        <a:rPr lang="ko-KR" altLang="en-US" sz="900" dirty="0">
                          <a:solidFill>
                            <a:schemeClr val="tx1"/>
                          </a:solidFill>
                          <a:effectLst/>
                          <a:latin typeface="현대산스 Text" panose="020B0600000101010101" pitchFamily="50" charset="-127"/>
                          <a:ea typeface="현대산스 Text" panose="020B0600000101010101" pitchFamily="50" charset="-127"/>
                        </a:rPr>
                        <a:t>한 이력을</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수집하여</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관리자의 의사결정 패턴을 </a:t>
                      </a:r>
                      <a:r>
                        <a:rPr lang="en-US" altLang="ko-KR" sz="900" dirty="0">
                          <a:solidFill>
                            <a:schemeClr val="tx1"/>
                          </a:solidFill>
                          <a:effectLst/>
                          <a:latin typeface="현대산스 Text" panose="020B0600000101010101" pitchFamily="50" charset="-127"/>
                          <a:ea typeface="현대산스 Text" panose="020B0600000101010101" pitchFamily="50" charset="-127"/>
                        </a:rPr>
                        <a:t>AI</a:t>
                      </a:r>
                      <a:r>
                        <a:rPr lang="ko-KR" altLang="en-US" sz="900" dirty="0">
                          <a:solidFill>
                            <a:schemeClr val="tx1"/>
                          </a:solidFill>
                          <a:effectLst/>
                          <a:latin typeface="현대산스 Text" panose="020B0600000101010101" pitchFamily="50" charset="-127"/>
                          <a:ea typeface="현대산스 Text" panose="020B0600000101010101" pitchFamily="50" charset="-127"/>
                        </a:rPr>
                        <a:t>에 </a:t>
                      </a:r>
                      <a:r>
                        <a:rPr lang="ko-KR" altLang="en-US" sz="900" dirty="0" err="1">
                          <a:solidFill>
                            <a:schemeClr val="tx1"/>
                          </a:solidFill>
                          <a:effectLst/>
                          <a:latin typeface="현대산스 Text" panose="020B0600000101010101" pitchFamily="50" charset="-127"/>
                          <a:ea typeface="현대산스 Text" panose="020B0600000101010101" pitchFamily="50" charset="-127"/>
                        </a:rPr>
                        <a:t>재학습</a:t>
                      </a:r>
                      <a:br>
                        <a:rPr lang="en-US" altLang="ko-KR"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실적 기반 보상 학습</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계획 대비 실제 </a:t>
                      </a:r>
                      <a:r>
                        <a:rPr lang="ko-KR" altLang="en-US" sz="900" dirty="0" err="1">
                          <a:solidFill>
                            <a:schemeClr val="tx1"/>
                          </a:solidFill>
                          <a:effectLst/>
                          <a:latin typeface="현대산스 Text" panose="020B0600000101010101" pitchFamily="50" charset="-127"/>
                          <a:ea typeface="현대산스 Text" panose="020B0600000101010101" pitchFamily="50" charset="-127"/>
                        </a:rPr>
                        <a:t>달성률</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생산성</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납기 </a:t>
                      </a:r>
                      <a:r>
                        <a:rPr lang="ko-KR" altLang="en-US" sz="900" dirty="0" err="1">
                          <a:solidFill>
                            <a:schemeClr val="tx1"/>
                          </a:solidFill>
                          <a:effectLst/>
                          <a:latin typeface="현대산스 Text" panose="020B0600000101010101" pitchFamily="50" charset="-127"/>
                          <a:ea typeface="현대산스 Text" panose="020B0600000101010101" pitchFamily="50" charset="-127"/>
                        </a:rPr>
                        <a:t>준수율</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을 평가하여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AI </a:t>
                      </a:r>
                      <a:r>
                        <a:rPr lang="ko-KR" altLang="en-US" sz="900" dirty="0">
                          <a:solidFill>
                            <a:schemeClr val="tx1"/>
                          </a:solidFill>
                          <a:effectLst/>
                          <a:latin typeface="현대산스 Text" panose="020B0600000101010101" pitchFamily="50" charset="-127"/>
                          <a:ea typeface="현대산스 Text" panose="020B0600000101010101" pitchFamily="50" charset="-127"/>
                        </a:rPr>
                        <a:t>알고리즘의 가중치 자동 업데이트</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ko-KR" altLang="ko-KR" sz="900" b="1" kern="1200" dirty="0">
                          <a:solidFill>
                            <a:schemeClr val="tx1"/>
                          </a:solidFill>
                          <a:effectLst/>
                          <a:latin typeface="현대산스 Text" panose="020B0600000101010101" pitchFamily="50" charset="-127"/>
                          <a:ea typeface="현대산스 Text" panose="020B0600000101010101" pitchFamily="50" charset="-127"/>
                          <a:cs typeface="+mn-cs"/>
                        </a:rPr>
                        <a:t>[설명 가능한 AI(XAI)] </a:t>
                      </a:r>
                      <a:r>
                        <a:rPr lang="ko-KR" altLang="ko-KR" sz="900" kern="1200" dirty="0" err="1">
                          <a:solidFill>
                            <a:schemeClr val="tx1"/>
                          </a:solidFill>
                          <a:effectLst/>
                          <a:latin typeface="현대산스 Text" panose="020B0600000101010101" pitchFamily="50" charset="-127"/>
                          <a:ea typeface="현대산스 Text" panose="020B0600000101010101" pitchFamily="50" charset="-127"/>
                          <a:cs typeface="+mn-cs"/>
                        </a:rPr>
                        <a:t>AI의</a:t>
                      </a:r>
                      <a:r>
                        <a:rPr lang="ko-KR" altLang="ko-KR" sz="900" kern="1200" dirty="0">
                          <a:solidFill>
                            <a:schemeClr val="tx1"/>
                          </a:solidFill>
                          <a:effectLst/>
                          <a:latin typeface="현대산스 Text" panose="020B0600000101010101" pitchFamily="50" charset="-127"/>
                          <a:ea typeface="현대산스 Text" panose="020B0600000101010101" pitchFamily="50" charset="-127"/>
                          <a:cs typeface="+mn-cs"/>
                        </a:rPr>
                        <a:t> 결정에 대한 설명을 제공하여 사람들이 신뢰</a:t>
                      </a:r>
                      <a:r>
                        <a:rPr lang="ko-KR" altLang="en-US" sz="900" kern="1200" dirty="0">
                          <a:solidFill>
                            <a:schemeClr val="tx1"/>
                          </a:solidFill>
                          <a:effectLst/>
                          <a:latin typeface="현대산스 Text" panose="020B0600000101010101" pitchFamily="50" charset="-127"/>
                          <a:ea typeface="현대산스 Text" panose="020B0600000101010101" pitchFamily="50" charset="-127"/>
                          <a:cs typeface="+mn-cs"/>
                        </a:rPr>
                        <a:t>를 얻음</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MLOps</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Pipelines: </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(continuous model deployment/</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Mgm</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Hi-Fidelity Event Log: ‘Black Box’ recorder</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State-Action mapping engines</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Contextual Metadata Tagging</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Attention and Saliency maps</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endParaRPr lang="en-US" sz="850" kern="1200" dirty="0">
                        <a:solidFill>
                          <a:srgbClr val="FF0000"/>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altLang="ko-KR"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AI</a:t>
                      </a:r>
                      <a:r>
                        <a:rPr lang="ko-KR" altLang="en-US" sz="900" dirty="0">
                          <a:solidFill>
                            <a:schemeClr val="tx1"/>
                          </a:solidFill>
                          <a:effectLst/>
                          <a:latin typeface="현대산스 Text" panose="020B0600000101010101" pitchFamily="50" charset="-127"/>
                          <a:ea typeface="현대산스 Text" panose="020B0600000101010101" pitchFamily="50" charset="-127"/>
                        </a:rPr>
                        <a:t>가 왜 특정 시나리오를 추천했는지 현장 작업자에게</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설명</a:t>
                      </a:r>
                      <a:r>
                        <a:rPr lang="en-US" altLang="ko-KR" sz="900" dirty="0">
                          <a:solidFill>
                            <a:schemeClr val="tx1"/>
                          </a:solidFill>
                          <a:effectLst/>
                          <a:latin typeface="현대산스 Text" panose="020B0600000101010101" pitchFamily="50" charset="-127"/>
                          <a:ea typeface="현대산스 Text" panose="020B0600000101010101" pitchFamily="50" charset="-127"/>
                        </a:rPr>
                        <a:t>(XAI)</a:t>
                      </a:r>
                      <a:r>
                        <a:rPr lang="ko-KR" altLang="en-US" sz="900" dirty="0">
                          <a:solidFill>
                            <a:schemeClr val="tx1"/>
                          </a:solidFill>
                          <a:effectLst/>
                          <a:latin typeface="현대산스 Text" panose="020B0600000101010101" pitchFamily="50" charset="-127"/>
                          <a:ea typeface="현대산스 Text" panose="020B0600000101010101" pitchFamily="50" charset="-127"/>
                        </a:rPr>
                        <a:t>하지 못할 경우 발생하는 현장의 수용성</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(Trust) </a:t>
                      </a:r>
                      <a:r>
                        <a:rPr lang="ko-KR" altLang="en-US" sz="900" dirty="0">
                          <a:solidFill>
                            <a:schemeClr val="tx1"/>
                          </a:solidFill>
                          <a:effectLst/>
                          <a:latin typeface="현대산스 Text" panose="020B0600000101010101" pitchFamily="50" charset="-127"/>
                          <a:ea typeface="현대산스 Text" panose="020B0600000101010101" pitchFamily="50" charset="-127"/>
                        </a:rPr>
                        <a:t>저하 문제 </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현장 작업자와 소통 가능한 논리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신차 이벤트</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프로세스 개선 등</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학습 필요</a:t>
                      </a: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48779735"/>
                  </a:ext>
                </a:extLst>
              </a:tr>
            </a:tbl>
          </a:graphicData>
        </a:graphic>
      </p:graphicFrame>
      <p:sp>
        <p:nvSpPr>
          <p:cNvPr id="3" name="Rectangle 1">
            <a:extLst>
              <a:ext uri="{FF2B5EF4-FFF2-40B4-BE49-F238E27FC236}">
                <a16:creationId xmlns:a16="http://schemas.microsoft.com/office/drawing/2014/main" id="{900A0467-A36E-B8D8-0862-B0A2EC645CC9}"/>
              </a:ext>
            </a:extLst>
          </p:cNvPr>
          <p:cNvSpPr>
            <a:spLocks noChangeArrowheads="1"/>
          </p:cNvSpPr>
          <p:nvPr/>
        </p:nvSpPr>
        <p:spPr bwMode="auto">
          <a:xfrm>
            <a:off x="436324" y="1220265"/>
            <a:ext cx="94953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목표</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동적 제약 조건</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(공급망 / 노무 / 공정)</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을 실시간으로 반영하</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며</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다각적 관점</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(생산성 / 재고 / BTO)</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의 최적화 시나리오를 생성하는 자율 의사결정 체계</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구축</a:t>
            </a:r>
            <a:endPar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p:txBody>
      </p:sp>
      <p:sp>
        <p:nvSpPr>
          <p:cNvPr id="6" name="직사각형 5">
            <a:extLst>
              <a:ext uri="{FF2B5EF4-FFF2-40B4-BE49-F238E27FC236}">
                <a16:creationId xmlns:a16="http://schemas.microsoft.com/office/drawing/2014/main" id="{616D7AE7-41C2-AC22-C997-7233301CA335}"/>
              </a:ext>
            </a:extLst>
          </p:cNvPr>
          <p:cNvSpPr/>
          <p:nvPr/>
        </p:nvSpPr>
        <p:spPr>
          <a:xfrm rot="20700000">
            <a:off x="2734236" y="3594845"/>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rPr>
              <a:t>Need to translate KR Ver later</a:t>
            </a:r>
            <a:endParaRPr kumimoji="0" lang="ko-KR" altLang="en-US"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endParaRPr>
          </a:p>
        </p:txBody>
      </p:sp>
    </p:spTree>
    <p:extLst>
      <p:ext uri="{BB962C8B-B14F-4D97-AF65-F5344CB8AC3E}">
        <p14:creationId xmlns:p14="http://schemas.microsoft.com/office/powerpoint/2010/main" val="1202121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76583-E30F-CE87-ACEC-F2B5B1B6016D}"/>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9158BDA-2D6E-F529-AA58-AF5EC999BCDD}"/>
              </a:ext>
            </a:extLst>
          </p:cNvPr>
          <p:cNvSpPr>
            <a:spLocks noGrp="1"/>
          </p:cNvSpPr>
          <p:nvPr>
            <p:ph type="ctrTitle"/>
          </p:nvPr>
        </p:nvSpPr>
        <p:spPr>
          <a:xfrm>
            <a:off x="273049" y="179388"/>
            <a:ext cx="11661776"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②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parts supply and inventory </a:t>
            </a:r>
            <a:r>
              <a:rPr kumimoji="1" lang="en-US" altLang="ko-KR" sz="2400" b="1" kern="400" dirty="0" err="1">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mgmt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53CF005-DDF4-3055-28DE-8CD3F39C286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749EE79-75CC-9FEC-F1A5-FA1627C76B37}"/>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3D02807-DE5D-4F55-F7C9-BA021B3DC08B}"/>
              </a:ext>
            </a:extLst>
          </p:cNvPr>
          <p:cNvSpPr txBox="1"/>
          <p:nvPr/>
        </p:nvSpPr>
        <p:spPr>
          <a:xfrm>
            <a:off x="338778" y="809627"/>
            <a:ext cx="9495326" cy="224549"/>
          </a:xfrm>
          <a:prstGeom prst="rect">
            <a:avLst/>
          </a:prstGeom>
          <a:noFill/>
        </p:spPr>
        <p:txBody>
          <a:bodyPr wrap="squar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SG"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Autonomous parts supply / inventory management </a:t>
            </a:r>
            <a:r>
              <a:rPr kumimoji="0" lang="en-SG"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Development items / Required technologies / Technical pain points</a:t>
            </a:r>
            <a:endPar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E94F4817-5CC1-EF7E-AB3C-C708B016E8FC}"/>
              </a:ext>
            </a:extLst>
          </p:cNvPr>
          <p:cNvSpPr>
            <a:spLocks noChangeArrowheads="1"/>
          </p:cNvSpPr>
          <p:nvPr/>
        </p:nvSpPr>
        <p:spPr bwMode="auto">
          <a:xfrm>
            <a:off x="436324" y="1049635"/>
            <a:ext cx="9495327"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Establish end-to-end visibility from global suppliers (VDR) to final assembly line, and build an autonomous ordering</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and inventory optimization system that accounts for logistic, and operational</a:t>
            </a:r>
            <a:r>
              <a:rPr kumimoji="0" lang="ko-KR" altLang="en-US"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risks</a:t>
            </a:r>
          </a:p>
        </p:txBody>
      </p:sp>
      <p:graphicFrame>
        <p:nvGraphicFramePr>
          <p:cNvPr id="9" name="표 8">
            <a:extLst>
              <a:ext uri="{FF2B5EF4-FFF2-40B4-BE49-F238E27FC236}">
                <a16:creationId xmlns:a16="http://schemas.microsoft.com/office/drawing/2014/main" id="{7FE8ECFC-7028-2BC1-2CCC-4728F3663781}"/>
              </a:ext>
            </a:extLst>
          </p:cNvPr>
          <p:cNvGraphicFramePr>
            <a:graphicFrameLocks noGrp="1"/>
          </p:cNvGraphicFramePr>
          <p:nvPr/>
        </p:nvGraphicFramePr>
        <p:xfrm>
          <a:off x="355726" y="1557736"/>
          <a:ext cx="12369669" cy="5264040"/>
        </p:xfrm>
        <a:graphic>
          <a:graphicData uri="http://schemas.openxmlformats.org/drawingml/2006/table">
            <a:tbl>
              <a:tblPr/>
              <a:tblGrid>
                <a:gridCol w="758364">
                  <a:extLst>
                    <a:ext uri="{9D8B030D-6E8A-4147-A177-3AD203B41FA5}">
                      <a16:colId xmlns:a16="http://schemas.microsoft.com/office/drawing/2014/main" val="3515855418"/>
                    </a:ext>
                  </a:extLst>
                </a:gridCol>
                <a:gridCol w="2478542">
                  <a:extLst>
                    <a:ext uri="{9D8B030D-6E8A-4147-A177-3AD203B41FA5}">
                      <a16:colId xmlns:a16="http://schemas.microsoft.com/office/drawing/2014/main" val="2891931337"/>
                    </a:ext>
                  </a:extLst>
                </a:gridCol>
                <a:gridCol w="3633794">
                  <a:extLst>
                    <a:ext uri="{9D8B030D-6E8A-4147-A177-3AD203B41FA5}">
                      <a16:colId xmlns:a16="http://schemas.microsoft.com/office/drawing/2014/main" val="3002806275"/>
                    </a:ext>
                  </a:extLst>
                </a:gridCol>
                <a:gridCol w="2555744">
                  <a:extLst>
                    <a:ext uri="{9D8B030D-6E8A-4147-A177-3AD203B41FA5}">
                      <a16:colId xmlns:a16="http://schemas.microsoft.com/office/drawing/2014/main" val="224423425"/>
                    </a:ext>
                  </a:extLst>
                </a:gridCol>
                <a:gridCol w="247650">
                  <a:extLst>
                    <a:ext uri="{9D8B030D-6E8A-4147-A177-3AD203B41FA5}">
                      <a16:colId xmlns:a16="http://schemas.microsoft.com/office/drawing/2014/main" val="150988279"/>
                    </a:ext>
                  </a:extLst>
                </a:gridCol>
                <a:gridCol w="2695575">
                  <a:extLst>
                    <a:ext uri="{9D8B030D-6E8A-4147-A177-3AD203B41FA5}">
                      <a16:colId xmlns:a16="http://schemas.microsoft.com/office/drawing/2014/main" val="3458429665"/>
                    </a:ext>
                  </a:extLst>
                </a:gridCol>
              </a:tblGrid>
              <a:tr h="148813">
                <a:tc>
                  <a:txBody>
                    <a:bodyPr/>
                    <a:lstStyle/>
                    <a:p>
                      <a:pPr algn="ctr">
                        <a:buNone/>
                      </a:pPr>
                      <a:r>
                        <a:rPr lang="en-US" sz="900" b="1" i="0" kern="1200" dirty="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sz="90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2529824">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latinLnBrk="0">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[End-to-End Supply Chain Data </a:t>
                      </a: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Connectivity</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Integration of Tier 1 VDR production/inventory status and issues (fire, fatalities, labor disputes, etc.), and real-time location (GPS) tracking for vessel/air/inland transport.</a:t>
                      </a:r>
                    </a:p>
                    <a:p>
                      <a:pPr lvl="0" algn="l" latinLnBrk="0">
                        <a:buNone/>
                      </a:pPr>
                      <a:endPar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[Logistics Supply Delay Risk Data Collection] </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Collection of data on logistics supply delay risks caused by global wars, port strikes, extreme weather events, etc.</a:t>
                      </a:r>
                      <a:endParaRPr lang="en-US" sz="800" dirty="0">
                        <a:latin typeface="Hyundai Sans Text KR" panose="020B0600000101010101" pitchFamily="34" charset="-127"/>
                        <a:ea typeface="Hyundai Sans Text KR" panose="020B0600000101010101" pitchFamily="34" charset="-127"/>
                      </a:endParaRPr>
                    </a:p>
                    <a:p>
                      <a:pPr lvl="0" algn="l" latinLnBrk="0">
                        <a:buNone/>
                      </a:pPr>
                      <a:endPar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[Intra-factory logistics Connectivity] </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Integration of logistics hardware within HMGICS to other logistics processes</a:t>
                      </a:r>
                      <a:endParaRPr lang="en-US" sz="800" dirty="0">
                        <a:latin typeface="Hyundai Sans Text KR" panose="020B0600000101010101" pitchFamily="34" charset="-127"/>
                        <a:ea typeface="Hyundai Sans Text KR" panose="020B0600000101010101" pitchFamily="34" charset="-127"/>
                      </a:endParaRPr>
                    </a:p>
                    <a:p>
                      <a:pPr marL="0" marR="0" lvl="0" indent="0" algn="l" defTabSz="742950">
                        <a:lnSpc>
                          <a:spcPct val="100000"/>
                        </a:lnSpc>
                        <a:spcBef>
                          <a:spcPts val="0"/>
                        </a:spcBef>
                        <a:spcAft>
                          <a:spcPts val="0"/>
                        </a:spcAft>
                        <a:buClrTx/>
                        <a:buSzTx/>
                        <a:buFontTx/>
                        <a:buNone/>
                        <a:tabLst/>
                        <a:defRPr/>
                      </a:pPr>
                      <a:endParaRPr lang="en-US" sz="800" b="0" dirty="0">
                        <a:effectLst/>
                        <a:latin typeface="Hyundai Sans Text KR" panose="020B0600000101010101" pitchFamily="34" charset="-127"/>
                        <a:ea typeface="Hyundai Sans Text KR" panose="020B0600000101010101" pitchFamily="34" charset="-127"/>
                      </a:endParaRPr>
                    </a:p>
                  </a:txBody>
                  <a:tcPr marL="36000" marR="9651" marT="9651" marB="96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a:buNone/>
                      </a:pPr>
                      <a:r>
                        <a:rPr lang="en-US" sz="800" dirty="0">
                          <a:latin typeface="Hyundai Sans Text KR" panose="020B0600000101010101" pitchFamily="34" charset="-127"/>
                          <a:ea typeface="Hyundai Sans Text KR" panose="020B0600000101010101" pitchFamily="34" charset="-127"/>
                        </a:rPr>
                        <a:t>[S/W] </a:t>
                      </a:r>
                    </a:p>
                    <a:p>
                      <a:pPr lvl="0" algn="l">
                        <a:buNone/>
                      </a:pPr>
                      <a:r>
                        <a:rPr lang="en-US" sz="800" dirty="0">
                          <a:latin typeface="Hyundai Sans Text KR" panose="020B0600000101010101" pitchFamily="34" charset="-127"/>
                          <a:ea typeface="Hyundai Sans Text KR" panose="020B0600000101010101" pitchFamily="34" charset="-127"/>
                        </a:rPr>
                        <a:t>• EDI platforms for supplier inventory and order status visibility</a:t>
                      </a:r>
                    </a:p>
                    <a:p>
                      <a:pPr lvl="0" algn="l">
                        <a:buNone/>
                      </a:pPr>
                      <a:r>
                        <a:rPr lang="en-US" sz="800" dirty="0">
                          <a:latin typeface="Hyundai Sans Text KR" panose="020B0600000101010101" pitchFamily="34" charset="-127"/>
                          <a:ea typeface="Hyundai Sans Text KR" panose="020B0600000101010101" pitchFamily="34" charset="-127"/>
                        </a:rPr>
                        <a:t>• S&amp;OP solution for Planning, </a:t>
                      </a:r>
                    </a:p>
                    <a:p>
                      <a:pPr lvl="0" algn="l">
                        <a:buNone/>
                      </a:pPr>
                      <a:r>
                        <a:rPr lang="en-US" sz="800" dirty="0">
                          <a:latin typeface="Hyundai Sans Text KR" panose="020B0600000101010101" pitchFamily="34" charset="-127"/>
                          <a:ea typeface="Hyundai Sans Text KR" panose="020B0600000101010101" pitchFamily="34" charset="-127"/>
                        </a:rPr>
                        <a:t>• Shipment cost and status tracking solutions</a:t>
                      </a:r>
                    </a:p>
                    <a:p>
                      <a:pPr marL="0" lvl="0" algn="l">
                        <a:buNone/>
                      </a:pPr>
                      <a:r>
                        <a:rPr lang="en-US" sz="800" dirty="0">
                          <a:latin typeface="Hyundai Sans Text KR" panose="020B0600000101010101" pitchFamily="34" charset="-127"/>
                          <a:ea typeface="Hyundai Sans Text KR" panose="020B0600000101010101" pitchFamily="34" charset="-127"/>
                        </a:rPr>
                        <a:t>• </a:t>
                      </a:r>
                      <a:r>
                        <a:rPr lang="en-US" sz="800" dirty="0" err="1">
                          <a:latin typeface="Hyundai Sans Text KR" panose="020B0600000101010101" pitchFamily="34" charset="-127"/>
                          <a:ea typeface="Hyundai Sans Text KR" panose="020B0600000101010101" pitchFamily="34" charset="-127"/>
                        </a:rPr>
                        <a:t>IIoT</a:t>
                      </a:r>
                      <a:r>
                        <a:rPr lang="en-US" sz="800" dirty="0">
                          <a:latin typeface="Hyundai Sans Text KR" panose="020B0600000101010101" pitchFamily="34" charset="-127"/>
                          <a:ea typeface="Hyundai Sans Text KR" panose="020B0600000101010101" pitchFamily="34" charset="-127"/>
                        </a:rPr>
                        <a:t> connectivity for logistics hardware</a:t>
                      </a:r>
                    </a:p>
                    <a:p>
                      <a:pPr lvl="0" algn="l">
                        <a:buNone/>
                      </a:pPr>
                      <a:endParaRPr lang="en-US" sz="800" dirty="0">
                        <a:effectLst/>
                        <a:latin typeface="Hyundai Sans Text KR" panose="020B0600000101010101" pitchFamily="34" charset="-127"/>
                        <a:ea typeface="Hyundai Sans Text KR" panose="020B0600000101010101" pitchFamily="34" charset="-127"/>
                      </a:endParaRPr>
                    </a:p>
                  </a:txBody>
                  <a:tcPr marL="36000" marR="36000"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[End-to-End Supply Chain Connectivity]</a:t>
                      </a:r>
                      <a:b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br>
                      <a:endPar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lvl="0" indent="-57150" algn="l" latinLnBrk="0">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Inventory data across all locations within scope </a:t>
                      </a: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 </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Container Yard, Depot &amp; HMGICS across all levels</a:t>
                      </a:r>
                    </a:p>
                    <a:p>
                      <a:pPr marL="57150" lvl="0" indent="-57150" algn="l" latinLnBrk="0">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Inventory movement data from different legacy and ERP systems with no information leakages (including timestamps of transactions)</a:t>
                      </a:r>
                      <a:endParaRPr lang="en-US" sz="800" dirty="0">
                        <a:latin typeface="Hyundai Sans Text KR" panose="020B0600000101010101" pitchFamily="34" charset="-127"/>
                        <a:ea typeface="Hyundai Sans Text KR" panose="020B0600000101010101" pitchFamily="34" charset="-127"/>
                      </a:endParaRPr>
                    </a:p>
                    <a:p>
                      <a:pPr marL="57150" lvl="0" indent="-57150" algn="l" latinLnBrk="0">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Planning data – Demand &amp; Supply plan, Production plan</a:t>
                      </a:r>
                      <a:endParaRPr lang="en-US" sz="800" dirty="0">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[Logistics Supply Delay Risk Data Collection]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marR="0" lvl="0" indent="-5715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Procurement data – Supplier stock positions, PO quantities</a:t>
                      </a:r>
                    </a:p>
                    <a:p>
                      <a:pPr marL="57150" marR="0" lvl="0" indent="-5715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Logistics data – Inbound shipment tracking with delay alerts</a:t>
                      </a:r>
                      <a:endParaRPr lang="en-US" sz="800" dirty="0">
                        <a:latin typeface="Hyundai Sans Text KR" panose="020B0600000101010101" pitchFamily="34" charset="-127"/>
                        <a:ea typeface="Hyundai Sans Text KR" panose="020B0600000101010101" pitchFamily="34" charset="-127"/>
                      </a:endParaRPr>
                    </a:p>
                    <a:p>
                      <a:pPr marL="57150" marR="0" lvl="0" indent="-5715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Logistics &amp; Procurement cost benchmarks</a:t>
                      </a:r>
                      <a:endParaRPr lang="en-US" sz="800" dirty="0">
                        <a:latin typeface="Hyundai Sans Text KR" panose="020B0600000101010101" pitchFamily="34" charset="-127"/>
                        <a:ea typeface="Hyundai Sans Text KR" panose="020B0600000101010101" pitchFamily="34" charset="-127"/>
                      </a:endParaRPr>
                    </a:p>
                    <a:p>
                      <a:pPr marL="57150" marR="0" lvl="0" indent="-5715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Parts QC data</a:t>
                      </a:r>
                      <a:endParaRPr lang="en-US" sz="800" dirty="0">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[Intra-factory logistics Connectivity] </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lvl="0" indent="-57150" algn="l" latinLnBrk="0">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Connectivity of logistics process flow with hard</a:t>
                      </a:r>
                      <a:endParaRPr lang="en-US" sz="800" dirty="0">
                        <a:latin typeface="Hyundai Sans Text KR" panose="020B0600000101010101" pitchFamily="34" charset="-127"/>
                        <a:ea typeface="Hyundai Sans Text KR" panose="020B0600000101010101" pitchFamily="34" charset="-127"/>
                      </a:endParaRPr>
                    </a:p>
                  </a:txBody>
                  <a:tcPr marL="36000" marR="36000"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a:effectLst/>
                        <a:latin typeface="Hyundai Sans Text KR" panose="020B0600000101010101" pitchFamily="34" charset="-127"/>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a:buFont typeface="Arial"/>
                        <a:buChar char="•"/>
                      </a:pPr>
                      <a:r>
                        <a:rPr lang="en-US" sz="800" b="0">
                          <a:effectLst/>
                          <a:latin typeface="Hyundai Sans Text KR" panose="020B0600000101010101" pitchFamily="34" charset="-127"/>
                          <a:ea typeface="Hyundai Sans Text KR"/>
                        </a:rPr>
                        <a:t>Data sharing (Visibility) avoidance by Tier 1due to lack </a:t>
                      </a:r>
                    </a:p>
                    <a:p>
                      <a:pPr algn="l">
                        <a:buNone/>
                      </a:pPr>
                      <a:r>
                        <a:rPr lang="en-US" sz="800" b="0">
                          <a:effectLst/>
                          <a:latin typeface="Hyundai Sans Text KR" panose="020B0600000101010101" pitchFamily="34" charset="-127"/>
                          <a:ea typeface="Hyundai Sans Text KR" panose="020B0600000101010101" pitchFamily="34" charset="-127"/>
                        </a:rPr>
                        <a:t>   of IT infrastructure and fear of trade secret leaks</a:t>
                      </a:r>
                    </a:p>
                    <a:p>
                      <a:pPr marL="171450" indent="-171450" algn="l">
                        <a:buFont typeface="Arial"/>
                        <a:buChar char="•"/>
                      </a:pPr>
                      <a:r>
                        <a:rPr lang="en-US" sz="800" b="0" kern="1200">
                          <a:solidFill>
                            <a:schemeClr val="tx1"/>
                          </a:solidFill>
                          <a:effectLst/>
                          <a:latin typeface="Hyundai Sans Text KR" panose="020B0600000101010101" pitchFamily="34" charset="-127"/>
                          <a:ea typeface="Hyundai Sans Text KR"/>
                          <a:cs typeface="+mn-cs"/>
                        </a:rPr>
                        <a:t>Cost of building and maintaining a real-time data </a:t>
                      </a:r>
                    </a:p>
                    <a:p>
                      <a:pPr marL="171450" indent="-171450" algn="l">
                        <a:buFont typeface="Arial"/>
                        <a:buChar char="•"/>
                      </a:pPr>
                      <a:r>
                        <a:rPr lang="en-US" sz="800" b="0" kern="1200">
                          <a:solidFill>
                            <a:schemeClr val="tx1"/>
                          </a:solidFill>
                          <a:effectLst/>
                          <a:latin typeface="Hyundai Sans Text KR" panose="020B0600000101010101" pitchFamily="34" charset="-127"/>
                          <a:ea typeface="Hyundai Sans Text KR"/>
                          <a:cs typeface="+mn-cs"/>
                        </a:rPr>
                        <a:t>   network for each logistics node</a:t>
                      </a:r>
                      <a:br>
                        <a:rPr lang="en-US" sz="800" b="0">
                          <a:effectLst/>
                          <a:latin typeface="Hyundai Sans Text KR" panose="020B0600000101010101" pitchFamily="34" charset="-127"/>
                          <a:ea typeface="Hyundai Sans Text KR"/>
                        </a:rPr>
                      </a:br>
                      <a:r>
                        <a:rPr lang="en-US" sz="800" b="0">
                          <a:effectLst/>
                          <a:latin typeface="Hyundai Sans Text KR" panose="020B0600000101010101" pitchFamily="34" charset="-127"/>
                          <a:ea typeface="Hyundai Sans Text KR"/>
                        </a:rPr>
                        <a:t>Limitations in real-time collection of unstructured data </a:t>
                      </a:r>
                    </a:p>
                    <a:p>
                      <a:pPr algn="l">
                        <a:buNone/>
                      </a:pPr>
                      <a:r>
                        <a:rPr lang="en-US" sz="800" b="0">
                          <a:effectLst/>
                          <a:latin typeface="Hyundai Sans Text KR" panose="020B0600000101010101" pitchFamily="34" charset="-127"/>
                          <a:ea typeface="Hyundai Sans Text KR" panose="020B0600000101010101" pitchFamily="34" charset="-127"/>
                        </a:rPr>
                        <a:t>   (news, policies)</a:t>
                      </a: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56956695"/>
                  </a:ext>
                </a:extLst>
              </a:tr>
              <a:tr h="2519900">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[Global </a:t>
                      </a:r>
                      <a:r>
                        <a:rPr lang="en-US" sz="800" b="1" i="0" u="none" strike="noStrike" noProof="0" dirty="0" err="1">
                          <a:solidFill>
                            <a:srgbClr val="000000"/>
                          </a:solidFill>
                          <a:effectLst/>
                          <a:latin typeface="Hyundai Sans Text KR" panose="020B0600000101010101" pitchFamily="34" charset="-127"/>
                          <a:ea typeface="Hyundai Sans Text KR" panose="020B0600000101010101" pitchFamily="34" charset="-127"/>
                        </a:rPr>
                        <a:t>Logsitics</a:t>
                      </a: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 Control Tower Unified View]</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Definition of All Node / Data (transportation &amp; Inventory):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VDR Warehouse ➔ Port ➔ Ocean ➔ CC (Consolidation Center) ➔ Factory Warehouse ➔ Line-side</a:t>
                      </a:r>
                      <a:b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b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[BOM-based Data Standardization]</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Mapping and standardizing different VDR part numbers into the internal OEM BOM (Bill of Materials) structure</a:t>
                      </a:r>
                    </a:p>
                    <a:p>
                      <a:pPr lvl="0" algn="l">
                        <a:buNone/>
                      </a:pPr>
                      <a:endParaRPr lang="en-US" sz="800" dirty="0">
                        <a:effectLst/>
                        <a:latin typeface="Hyundai Sans Text KR" panose="020B0600000101010101" pitchFamily="34" charset="-127"/>
                        <a:ea typeface="Hyundai Sans Text KR" panose="020B0600000101010101" pitchFamily="34" charset="-127"/>
                      </a:endParaRPr>
                    </a:p>
                  </a:txBody>
                  <a:tcPr marL="36000" marR="9651" marT="9651" marB="96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Integrated logistics data warehouse – Planning, Inventory (end-to-end), orders, Transportation (Ocean, Air, Land), QC Records</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Single Data Model for end-to-end logistics</a:t>
                      </a:r>
                    </a:p>
                    <a:p>
                      <a:pPr marL="57150" marR="0" lvl="0" indent="-57150" algn="l" latinLnBrk="0">
                        <a:lnSpc>
                          <a:spcPct val="100000"/>
                        </a:lnSpc>
                        <a:spcBef>
                          <a:spcPts val="0"/>
                        </a:spcBef>
                        <a:spcAft>
                          <a:spcPts val="0"/>
                        </a:spcAft>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Enterprise Knowledge Graph Supply Chain</a:t>
                      </a:r>
                    </a:p>
                    <a:p>
                      <a:pPr marL="57150" lvl="0" indent="-57150" algn="l" latinLnBrk="0">
                        <a:buClr>
                          <a:srgbClr val="000000"/>
                        </a:buClr>
                        <a:buFont typeface="Arial,Sans-Serif"/>
                        <a:buChar char="•"/>
                      </a:pPr>
                      <a:r>
                        <a:rPr lang="en-US" sz="800" dirty="0" err="1">
                          <a:latin typeface="Hyundai Sans Text KR" panose="020B0600000101010101" pitchFamily="34" charset="-127"/>
                          <a:ea typeface="Hyundai Sans Text KR" panose="020B0600000101010101" pitchFamily="34" charset="-127"/>
                        </a:rPr>
                        <a:t>IIoT</a:t>
                      </a:r>
                      <a:r>
                        <a:rPr lang="en-US" sz="800" dirty="0">
                          <a:latin typeface="Hyundai Sans Text KR" panose="020B0600000101010101" pitchFamily="34" charset="-127"/>
                          <a:ea typeface="Hyundai Sans Text KR" panose="020B0600000101010101" pitchFamily="34" charset="-127"/>
                        </a:rPr>
                        <a:t>: Data Ingestion from sensors, PLC, etc.</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Connector and Data pipeline to systems/app DB: MES, IQIS, GPTIS, HALO</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Relational DB (</a:t>
                      </a:r>
                      <a:r>
                        <a:rPr lang="en-US" sz="800" dirty="0" err="1">
                          <a:latin typeface="Hyundai Sans Text KR" panose="020B0600000101010101" pitchFamily="34" charset="-127"/>
                          <a:ea typeface="Hyundai Sans Text KR" panose="020B0600000101010101" pitchFamily="34" charset="-127"/>
                        </a:rPr>
                        <a:t>postgres</a:t>
                      </a:r>
                      <a:r>
                        <a:rPr lang="en-US" sz="800" dirty="0">
                          <a:latin typeface="Hyundai Sans Text KR" panose="020B0600000101010101" pitchFamily="34" charset="-127"/>
                          <a:ea typeface="Hyundai Sans Text KR" panose="020B0600000101010101" pitchFamily="34" charset="-127"/>
                        </a:rPr>
                        <a:t>) for app data and factory historian e.g. issue tickets, repair ticket, inspection records. This should be common for all apps to allow app to have access to data from other apps</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Data platform to enable ETL, analysis and development of data products</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Need Data Platform to facilitate the creation of “data products” to enable daily advanced analytics, as well as advanced use-cases (AI/ML </a:t>
                      </a:r>
                      <a:r>
                        <a:rPr lang="en-US" sz="800" dirty="0" err="1">
                          <a:latin typeface="Hyundai Sans Text KR" panose="020B0600000101010101" pitchFamily="34" charset="-127"/>
                          <a:ea typeface="Hyundai Sans Text KR" panose="020B0600000101010101" pitchFamily="34" charset="-127"/>
                        </a:rPr>
                        <a:t>etc</a:t>
                      </a:r>
                      <a:r>
                        <a:rPr lang="en-US" sz="800" dirty="0">
                          <a:latin typeface="Hyundai Sans Text KR" panose="020B0600000101010101" pitchFamily="34" charset="-127"/>
                          <a:ea typeface="Hyundai Sans Text KR" panose="020B0600000101010101" pitchFamily="34" charset="-127"/>
                        </a:rPr>
                        <a:t>)</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MCP Server exposes tools, data, or capabilities that AI assistants can use. </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MCP Gateway to bridge between AI agents and MCP servers</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UNS for Digital Twin</a:t>
                      </a: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36000"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latinLnBrk="0">
                        <a:lnSpc>
                          <a:spcPct val="100000"/>
                        </a:lnSpc>
                        <a:spcBef>
                          <a:spcPts val="0"/>
                        </a:spcBef>
                        <a:spcAft>
                          <a:spcPts val="0"/>
                        </a:spcAft>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[SX Supply Chain Knowledge Graph]</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Unified System of Records </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Integration of operational and planning data for (autonomous) planning</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Data integration across layers including tier 1 suppliers</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Integrate inventory data for autonomous ordering and planning</a:t>
                      </a:r>
                    </a:p>
                    <a:p>
                      <a:pPr marL="0" marR="0" lvl="0" indent="0" algn="l" latinLnBrk="0">
                        <a:lnSpc>
                          <a:spcPct val="100000"/>
                        </a:lnSpc>
                        <a:spcBef>
                          <a:spcPts val="0"/>
                        </a:spcBef>
                        <a:spcAft>
                          <a:spcPts val="0"/>
                        </a:spcAft>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[DT01 Digital Twin based on 4M1S Single Data Model]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Full virtual representation of physical asset, process and events with continuous update from real-world data</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Digital Model of 4M1S in factory replicating property, behavior and performance</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Enterprise level Master Data Management and Process standardization across value streams – Design, Production, Workforce, Supply Chain, Logistics, Quality, Maintenance and Factory Operations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endParaRPr lang="en-US" sz="800" b="0" dirty="0">
                        <a:effectLst/>
                        <a:latin typeface="Hyundai Sans Text KR" panose="020B0600000101010101" pitchFamily="34" charset="-127"/>
                        <a:ea typeface="Hyundai Sans Text KR" panose="020B0600000101010101" pitchFamily="34" charset="-127"/>
                      </a:endParaRPr>
                    </a:p>
                  </a:txBody>
                  <a:tcPr marL="36000" marR="36000"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b="0" dirty="0">
                        <a:effectLst/>
                        <a:latin typeface="Hyundai Sans Text KR" panose="020B0600000101010101" pitchFamily="34" charset="-127"/>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a:buFont typeface="Arial"/>
                        <a:buChar char="•"/>
                      </a:pPr>
                      <a:r>
                        <a:rPr lang="en-US" sz="800" b="0" dirty="0">
                          <a:effectLst/>
                          <a:latin typeface="Hyundai Sans Text KR" panose="020B0600000101010101" pitchFamily="34" charset="-127"/>
                          <a:ea typeface="Hyundai Sans Text KR"/>
                        </a:rPr>
                        <a:t>Participation required in VDR part data standardization </a:t>
                      </a:r>
                    </a:p>
                    <a:p>
                      <a:pPr algn="l">
                        <a:buNone/>
                      </a:pPr>
                      <a:r>
                        <a:rPr lang="en-US" sz="800" b="0" dirty="0">
                          <a:effectLst/>
                          <a:latin typeface="Hyundai Sans Text KR" panose="020B0600000101010101" pitchFamily="34" charset="-127"/>
                          <a:ea typeface="Hyundai Sans Text KR" panose="020B0600000101010101" pitchFamily="34" charset="-127"/>
                        </a:rPr>
                        <a:t>   (or automatic mapping) based on the global part data </a:t>
                      </a:r>
                    </a:p>
                    <a:p>
                      <a:pPr algn="l">
                        <a:buNone/>
                      </a:pPr>
                      <a:r>
                        <a:rPr lang="en-US" sz="800" b="0" dirty="0">
                          <a:effectLst/>
                          <a:latin typeface="Hyundai Sans Text KR" panose="020B0600000101010101" pitchFamily="34" charset="-127"/>
                          <a:ea typeface="Hyundai Sans Text KR" panose="020B0600000101010101" pitchFamily="34" charset="-127"/>
                        </a:rPr>
                        <a:t>   standardization policy</a:t>
                      </a: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66333179"/>
                  </a:ext>
                </a:extLst>
              </a:tr>
            </a:tbl>
          </a:graphicData>
        </a:graphic>
      </p:graphicFrame>
    </p:spTree>
    <p:extLst>
      <p:ext uri="{BB962C8B-B14F-4D97-AF65-F5344CB8AC3E}">
        <p14:creationId xmlns:p14="http://schemas.microsoft.com/office/powerpoint/2010/main" val="3882465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253C-7601-C33C-4549-80DB36736753}"/>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38A31069-BDB9-604C-2337-E3A81E6242E6}"/>
              </a:ext>
            </a:extLst>
          </p:cNvPr>
          <p:cNvSpPr>
            <a:spLocks noGrp="1"/>
          </p:cNvSpPr>
          <p:nvPr>
            <p:ph type="ctrTitle"/>
          </p:nvPr>
        </p:nvSpPr>
        <p:spPr>
          <a:xfrm>
            <a:off x="273049" y="179388"/>
            <a:ext cx="11661776"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②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parts supply and inventory </a:t>
            </a:r>
            <a:r>
              <a:rPr kumimoji="1" lang="en-US" altLang="ko-KR" sz="2400" b="1" kern="400" dirty="0" err="1">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mgmt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3D5F7B51-1DD6-DC94-FCB2-794EEE78929E}"/>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7376535F-CA4C-163D-C49F-4A7FD5E95A11}"/>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08180EA3-8764-FA2D-56DE-9656AB395F2A}"/>
              </a:ext>
            </a:extLst>
          </p:cNvPr>
          <p:cNvSpPr txBox="1"/>
          <p:nvPr/>
        </p:nvSpPr>
        <p:spPr>
          <a:xfrm>
            <a:off x="338778" y="809627"/>
            <a:ext cx="9495326" cy="224549"/>
          </a:xfrm>
          <a:prstGeom prst="rect">
            <a:avLst/>
          </a:prstGeom>
          <a:noFill/>
        </p:spPr>
        <p:txBody>
          <a:bodyPr wrap="squar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SG"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Autonomous parts supply / inventory management </a:t>
            </a:r>
            <a:r>
              <a:rPr kumimoji="0" lang="en-SG"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Development items / Required technologies / Technical pain points</a:t>
            </a:r>
            <a:endPar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6EFAAC50-0902-36E6-946B-9671EDA31EA5}"/>
              </a:ext>
            </a:extLst>
          </p:cNvPr>
          <p:cNvSpPr>
            <a:spLocks noChangeArrowheads="1"/>
          </p:cNvSpPr>
          <p:nvPr/>
        </p:nvSpPr>
        <p:spPr bwMode="auto">
          <a:xfrm>
            <a:off x="436324" y="1049635"/>
            <a:ext cx="9495327"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Establish end-to-end visibility from global suppliers (VDR) to final assembly line, and build an autonomous ordering</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and inventory optimization system that accounts for logistic, and operational</a:t>
            </a:r>
            <a:r>
              <a:rPr kumimoji="0" lang="ko-KR" altLang="en-US"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risks</a:t>
            </a:r>
          </a:p>
        </p:txBody>
      </p:sp>
      <p:graphicFrame>
        <p:nvGraphicFramePr>
          <p:cNvPr id="9" name="표 8">
            <a:extLst>
              <a:ext uri="{FF2B5EF4-FFF2-40B4-BE49-F238E27FC236}">
                <a16:creationId xmlns:a16="http://schemas.microsoft.com/office/drawing/2014/main" id="{4A6336C3-852D-D655-B80C-48F795BA9EC6}"/>
              </a:ext>
            </a:extLst>
          </p:cNvPr>
          <p:cNvGraphicFramePr>
            <a:graphicFrameLocks noGrp="1"/>
          </p:cNvGraphicFramePr>
          <p:nvPr/>
        </p:nvGraphicFramePr>
        <p:xfrm>
          <a:off x="355726" y="1557736"/>
          <a:ext cx="12369661" cy="3982179"/>
        </p:xfrm>
        <a:graphic>
          <a:graphicData uri="http://schemas.openxmlformats.org/drawingml/2006/table">
            <a:tbl>
              <a:tblPr/>
              <a:tblGrid>
                <a:gridCol w="758364">
                  <a:extLst>
                    <a:ext uri="{9D8B030D-6E8A-4147-A177-3AD203B41FA5}">
                      <a16:colId xmlns:a16="http://schemas.microsoft.com/office/drawing/2014/main" val="3515855418"/>
                    </a:ext>
                  </a:extLst>
                </a:gridCol>
                <a:gridCol w="3066670">
                  <a:extLst>
                    <a:ext uri="{9D8B030D-6E8A-4147-A177-3AD203B41FA5}">
                      <a16:colId xmlns:a16="http://schemas.microsoft.com/office/drawing/2014/main" val="2891931337"/>
                    </a:ext>
                  </a:extLst>
                </a:gridCol>
                <a:gridCol w="2720091">
                  <a:extLst>
                    <a:ext uri="{9D8B030D-6E8A-4147-A177-3AD203B41FA5}">
                      <a16:colId xmlns:a16="http://schemas.microsoft.com/office/drawing/2014/main" val="3002806275"/>
                    </a:ext>
                  </a:extLst>
                </a:gridCol>
                <a:gridCol w="2881311">
                  <a:extLst>
                    <a:ext uri="{9D8B030D-6E8A-4147-A177-3AD203B41FA5}">
                      <a16:colId xmlns:a16="http://schemas.microsoft.com/office/drawing/2014/main" val="224423425"/>
                    </a:ext>
                  </a:extLst>
                </a:gridCol>
                <a:gridCol w="247650">
                  <a:extLst>
                    <a:ext uri="{9D8B030D-6E8A-4147-A177-3AD203B41FA5}">
                      <a16:colId xmlns:a16="http://schemas.microsoft.com/office/drawing/2014/main" val="150988279"/>
                    </a:ext>
                  </a:extLst>
                </a:gridCol>
                <a:gridCol w="2695575">
                  <a:extLst>
                    <a:ext uri="{9D8B030D-6E8A-4147-A177-3AD203B41FA5}">
                      <a16:colId xmlns:a16="http://schemas.microsoft.com/office/drawing/2014/main" val="3458429665"/>
                    </a:ext>
                  </a:extLst>
                </a:gridCol>
              </a:tblGrid>
              <a:tr h="210045">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sz="90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2045952">
                <a:tc>
                  <a:txBody>
                    <a:bodyPr/>
                    <a:lstStyle/>
                    <a:p>
                      <a:pPr indent="0" algn="ctr">
                        <a:lnSpc>
                          <a:spcPct val="120000"/>
                        </a:lnSpc>
                        <a:spcBef>
                          <a:spcPts val="0"/>
                        </a:spcBef>
                        <a:spcAft>
                          <a:spcPts val="0"/>
                        </a:spcAft>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Decision</a:t>
                      </a:r>
                      <a:endParaRPr lang="ko-KR" alt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latinLnBrk="0">
                        <a:buNone/>
                      </a:pPr>
                      <a:r>
                        <a:rPr lang="en-US" sz="800" b="1" i="0" u="none" strike="noStrike" kern="1200" noProof="0" dirty="0">
                          <a:solidFill>
                            <a:srgbClr val="000000"/>
                          </a:solidFill>
                          <a:effectLst/>
                          <a:latin typeface="Hyundai Sans Text KR"/>
                          <a:ea typeface="Hyundai Sans Text KR"/>
                          <a:cs typeface="+mn-cs"/>
                        </a:rPr>
                        <a:t>[Risk-based Lead Time (L/T) Prediction]</a:t>
                      </a:r>
                      <a:r>
                        <a:rPr lang="en-US" sz="800" b="0" i="0" u="none" strike="noStrike" kern="1200" noProof="0" dirty="0">
                          <a:solidFill>
                            <a:srgbClr val="000000"/>
                          </a:solidFill>
                          <a:effectLst/>
                          <a:latin typeface="Hyundai Sans Text KR"/>
                          <a:ea typeface="Hyundai Sans Text KR"/>
                          <a:cs typeface="+mn-cs"/>
                        </a:rPr>
                        <a:t> </a:t>
                      </a:r>
                      <a:r>
                        <a:rPr lang="en-US" sz="800" b="0" i="0" u="none" strike="noStrike" kern="1200" noProof="0" dirty="0">
                          <a:solidFill>
                            <a:schemeClr val="tx1"/>
                          </a:solidFill>
                          <a:effectLst/>
                          <a:latin typeface="Hyundai Sans Text KR"/>
                          <a:ea typeface="Hyundai Sans Text KR"/>
                          <a:cs typeface="+mn-cs"/>
                        </a:rPr>
                        <a:t>Calculating the probability of arrival delays and estimated lead time (L/T) for each part by </a:t>
                      </a:r>
                    </a:p>
                    <a:p>
                      <a:pPr lvl="0" latinLnBrk="0">
                        <a:buNone/>
                      </a:pPr>
                      <a:r>
                        <a:rPr lang="en-US" sz="800" b="0" i="0" u="none" strike="noStrike" kern="1200" noProof="0" dirty="0">
                          <a:solidFill>
                            <a:schemeClr val="tx1"/>
                          </a:solidFill>
                          <a:effectLst/>
                          <a:latin typeface="Hyundai Sans Text KR"/>
                          <a:ea typeface="Hyundai Sans Text KR"/>
                          <a:cs typeface="+mn-cs"/>
                        </a:rPr>
                        <a:t>analyzing risks such as transit time by transportation mode, </a:t>
                      </a:r>
                    </a:p>
                    <a:p>
                      <a:pPr lvl="0" latinLnBrk="0">
                        <a:buNone/>
                      </a:pPr>
                      <a:r>
                        <a:rPr lang="en-US" sz="800" b="0" i="0" u="none" strike="noStrike" kern="1200" noProof="0" dirty="0">
                          <a:solidFill>
                            <a:schemeClr val="tx1"/>
                          </a:solidFill>
                          <a:effectLst/>
                          <a:latin typeface="Hyundai Sans Text KR"/>
                          <a:ea typeface="Hyundai Sans Text KR"/>
                          <a:cs typeface="+mn-cs"/>
                        </a:rPr>
                        <a:t>weather, and strikes</a:t>
                      </a:r>
                      <a:endParaRPr lang="en-US" sz="800" b="0" i="0" u="none" strike="noStrike" kern="1200" noProof="0" dirty="0">
                        <a:solidFill>
                          <a:srgbClr val="000000"/>
                        </a:solidFill>
                        <a:effectLst/>
                        <a:latin typeface="Hyundai Sans Text KR"/>
                        <a:ea typeface="Hyundai Sans Text KR"/>
                        <a:cs typeface="+mn-cs"/>
                      </a:endParaRPr>
                    </a:p>
                    <a:p>
                      <a:pPr lvl="0" algn="l" latinLnBrk="0">
                        <a:buNone/>
                      </a:pPr>
                      <a:r>
                        <a:rPr lang="en-US" sz="800" b="1" i="0" u="none" strike="noStrike" kern="1200" noProof="0" dirty="0">
                          <a:solidFill>
                            <a:srgbClr val="000000"/>
                          </a:solidFill>
                          <a:effectLst/>
                          <a:latin typeface="Hyundai Sans Text KR"/>
                          <a:ea typeface="Hyundai Sans Text KR"/>
                          <a:cs typeface="+mn-cs"/>
                        </a:rPr>
                        <a:t>[Multi-Echelon Inventory Optimization (MEIO)]</a:t>
                      </a:r>
                      <a:r>
                        <a:rPr lang="en-US" sz="800" b="0" i="0" u="none" strike="noStrike" kern="1200" noProof="0" dirty="0">
                          <a:solidFill>
                            <a:srgbClr val="000000"/>
                          </a:solidFill>
                          <a:effectLst/>
                          <a:latin typeface="Hyundai Sans Text KR"/>
                          <a:ea typeface="Hyundai Sans Text KR"/>
                          <a:cs typeface="+mn-cs"/>
                        </a:rPr>
                        <a:t> Autonomous </a:t>
                      </a:r>
                    </a:p>
                    <a:p>
                      <a:pPr lvl="0" algn="l" latinLnBrk="0">
                        <a:buNone/>
                      </a:pPr>
                      <a:r>
                        <a:rPr lang="en-US" sz="800" b="0" i="0" u="none" strike="noStrike" kern="1200" noProof="0" dirty="0">
                          <a:solidFill>
                            <a:srgbClr val="000000"/>
                          </a:solidFill>
                          <a:effectLst/>
                          <a:latin typeface="Hyundai Sans Text KR"/>
                          <a:ea typeface="Hyundai Sans Text KR"/>
                          <a:cs typeface="+mn-cs"/>
                        </a:rPr>
                        <a:t>calculation of optimal Safety Stock, Shortage Risk and </a:t>
                      </a:r>
                      <a:r>
                        <a:rPr lang="en-US" sz="800" b="0" i="0" u="none" strike="noStrike" kern="1200" noProof="0" dirty="0">
                          <a:solidFill>
                            <a:schemeClr val="tx1"/>
                          </a:solidFill>
                          <a:effectLst/>
                          <a:latin typeface="Hyundai Sans Text KR"/>
                          <a:ea typeface="Hyundai Sans Text KR"/>
                          <a:cs typeface="+mn-cs"/>
                        </a:rPr>
                        <a:t>Review of </a:t>
                      </a:r>
                    </a:p>
                    <a:p>
                      <a:pPr lvl="0" algn="l" latinLnBrk="0">
                        <a:buNone/>
                      </a:pPr>
                      <a:r>
                        <a:rPr lang="en-US" sz="800" b="0" i="0" u="none" strike="noStrike" kern="1200" noProof="0" dirty="0">
                          <a:solidFill>
                            <a:schemeClr val="tx1"/>
                          </a:solidFill>
                          <a:effectLst/>
                          <a:latin typeface="Hyundai Sans Text KR"/>
                          <a:ea typeface="Hyundai Sans Text KR"/>
                          <a:cs typeface="+mn-cs"/>
                        </a:rPr>
                        <a:t>optimal order quantity </a:t>
                      </a:r>
                      <a:r>
                        <a:rPr lang="en-US" sz="800" b="0" i="0" u="none" strike="noStrike" kern="1200" noProof="0" dirty="0">
                          <a:solidFill>
                            <a:srgbClr val="000000"/>
                          </a:solidFill>
                          <a:effectLst/>
                          <a:latin typeface="Hyundai Sans Text KR"/>
                          <a:ea typeface="Hyundai Sans Text KR"/>
                          <a:cs typeface="+mn-cs"/>
                        </a:rPr>
                        <a:t>at each  logistics node</a:t>
                      </a:r>
                      <a:br>
                        <a:rPr lang="en-US" sz="800" b="0" i="0" u="none" strike="noStrike" kern="1200" noProof="0" dirty="0">
                          <a:solidFill>
                            <a:srgbClr val="000000"/>
                          </a:solidFill>
                          <a:effectLst/>
                          <a:latin typeface="Hyundai Sans Text KR"/>
                          <a:ea typeface="Hyundai Sans Text KR"/>
                          <a:cs typeface="+mn-cs"/>
                        </a:rPr>
                      </a:br>
                      <a:r>
                        <a:rPr lang="en-US" sz="800" b="1" i="0" u="none" strike="noStrike" kern="1200" noProof="0" dirty="0">
                          <a:solidFill>
                            <a:srgbClr val="000000"/>
                          </a:solidFill>
                          <a:effectLst/>
                          <a:latin typeface="Hyundai Sans Text KR"/>
                          <a:ea typeface="Hyundai Sans Text KR"/>
                          <a:cs typeface="+mn-cs"/>
                        </a:rPr>
                        <a:t>[Autonomous Ordering &amp; Sourcing Alternative Countermeasure</a:t>
                      </a:r>
                      <a:r>
                        <a:rPr lang="en-US" sz="800" b="0" i="0" u="none" strike="noStrike" kern="1200" noProof="0" dirty="0">
                          <a:solidFill>
                            <a:srgbClr val="000000"/>
                          </a:solidFill>
                          <a:effectLst/>
                          <a:latin typeface="Hyundai Sans Text KR"/>
                          <a:ea typeface="Hyundai Sans Text KR"/>
                          <a:cs typeface="+mn-cs"/>
                        </a:rPr>
                        <a:t>] </a:t>
                      </a:r>
                    </a:p>
                    <a:p>
                      <a:pPr lvl="0" algn="l" latinLnBrk="0">
                        <a:buNone/>
                      </a:pPr>
                      <a:r>
                        <a:rPr lang="en-US" sz="800" b="0" i="0" u="none" strike="noStrike" kern="1200" noProof="0" dirty="0">
                          <a:solidFill>
                            <a:srgbClr val="000000"/>
                          </a:solidFill>
                          <a:effectLst/>
                          <a:latin typeface="Hyundai Sans Text KR"/>
                          <a:ea typeface="Hyundai Sans Text KR"/>
                          <a:cs typeface="+mn-cs"/>
                        </a:rPr>
                        <a:t>Calculating optimal additional order quantities and deriving </a:t>
                      </a:r>
                    </a:p>
                    <a:p>
                      <a:pPr lvl="0" algn="l" latinLnBrk="0">
                        <a:buNone/>
                      </a:pPr>
                      <a:r>
                        <a:rPr lang="en-US" sz="800" b="0" i="0" u="none" strike="noStrike" kern="1200" noProof="0" dirty="0">
                          <a:solidFill>
                            <a:srgbClr val="000000"/>
                          </a:solidFill>
                          <a:effectLst/>
                          <a:latin typeface="Hyundai Sans Text KR"/>
                          <a:ea typeface="Hyundai Sans Text KR"/>
                          <a:cs typeface="+mn-cs"/>
                        </a:rPr>
                        <a:t>alternative routing scenarios  (e.g., switching from ocean to air freight) when shortages are expected</a:t>
                      </a:r>
                      <a:br>
                        <a:rPr lang="en-US" sz="800" b="0" i="0" u="none" strike="noStrike" kern="1200" noProof="0" dirty="0">
                          <a:solidFill>
                            <a:srgbClr val="000000"/>
                          </a:solidFill>
                          <a:effectLst/>
                          <a:latin typeface="Hyundai Sans Text KR"/>
                          <a:ea typeface="Hyundai Sans Text KR"/>
                          <a:cs typeface="+mn-cs"/>
                        </a:rPr>
                      </a:br>
                      <a:r>
                        <a:rPr lang="en-US" sz="800" b="1" i="0" u="none" strike="noStrike" kern="1200" noProof="0" dirty="0">
                          <a:solidFill>
                            <a:srgbClr val="000000"/>
                          </a:solidFill>
                          <a:effectLst/>
                          <a:latin typeface="Hyundai Sans Text KR"/>
                          <a:ea typeface="Hyundai Sans Text KR"/>
                          <a:cs typeface="+mn-cs"/>
                        </a:rPr>
                        <a:t>[What-If Simulation]</a:t>
                      </a:r>
                      <a:r>
                        <a:rPr lang="en-US" sz="800" b="0" i="0" u="none" strike="noStrike" kern="1200" noProof="0" dirty="0">
                          <a:solidFill>
                            <a:srgbClr val="000000"/>
                          </a:solidFill>
                          <a:effectLst/>
                          <a:latin typeface="Hyundai Sans Text KR"/>
                          <a:ea typeface="Hyundai Sans Text KR"/>
                          <a:cs typeface="+mn-cs"/>
                        </a:rPr>
                        <a:t> ex: Providing supply chain disruption </a:t>
                      </a:r>
                    </a:p>
                    <a:p>
                      <a:pPr lvl="0" algn="l" latinLnBrk="0">
                        <a:buNone/>
                      </a:pPr>
                      <a:r>
                        <a:rPr lang="en-US" sz="800" b="0" i="0" u="none" strike="noStrike" kern="1200" noProof="0" dirty="0">
                          <a:solidFill>
                            <a:srgbClr val="000000"/>
                          </a:solidFill>
                          <a:effectLst/>
                          <a:latin typeface="Hyundai Sans Text KR"/>
                          <a:ea typeface="Hyundai Sans Text KR"/>
                          <a:cs typeface="+mn-cs"/>
                        </a:rPr>
                        <a:t>simulations  Considering global geopolitical risks, such as </a:t>
                      </a:r>
                    </a:p>
                    <a:p>
                      <a:pPr lvl="0" algn="l" latinLnBrk="0">
                        <a:buNone/>
                      </a:pPr>
                      <a:r>
                        <a:rPr lang="en-US" sz="800" b="0" i="0" u="none" strike="noStrike" kern="1200" noProof="0" dirty="0">
                          <a:solidFill>
                            <a:srgbClr val="000000"/>
                          </a:solidFill>
                          <a:effectLst/>
                          <a:latin typeface="Hyundai Sans Text KR"/>
                          <a:ea typeface="Hyundai Sans Text KR"/>
                          <a:cs typeface="+mn-cs"/>
                        </a:rPr>
                        <a:t>‘the impact on the assembly line 3 weeks after the Suez Canal is </a:t>
                      </a:r>
                    </a:p>
                    <a:p>
                      <a:pPr lvl="0" algn="l" latinLnBrk="0">
                        <a:buNone/>
                      </a:pPr>
                      <a:r>
                        <a:rPr lang="en-US" sz="800" b="0" i="0" u="none" strike="noStrike" kern="1200" noProof="0" dirty="0">
                          <a:solidFill>
                            <a:srgbClr val="000000"/>
                          </a:solidFill>
                          <a:effectLst/>
                          <a:latin typeface="Hyundai Sans Text KR"/>
                          <a:ea typeface="Hyundai Sans Text KR"/>
                          <a:cs typeface="+mn-cs"/>
                        </a:rPr>
                        <a:t>blocked’</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rowSpan="2">
                  <a:txBody>
                    <a:bodyPr/>
                    <a:lstStyle/>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ML Ops pipeline</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err="1">
                          <a:solidFill>
                            <a:schemeClr val="tx1"/>
                          </a:solidFill>
                          <a:effectLst/>
                          <a:latin typeface="Hyundai Sans Text KR"/>
                          <a:ea typeface="Hyundai Sans Text KR"/>
                        </a:rPr>
                        <a:t>IIoT</a:t>
                      </a:r>
                      <a:r>
                        <a:rPr lang="en-US" sz="800" b="0" i="0" u="none" strike="noStrike" noProof="0" dirty="0">
                          <a:solidFill>
                            <a:schemeClr val="tx1"/>
                          </a:solidFill>
                          <a:effectLst/>
                          <a:latin typeface="Hyundai Sans Text KR"/>
                          <a:ea typeface="Hyundai Sans Text KR"/>
                        </a:rPr>
                        <a:t>: Data Ingestion from sensors, PLC, etc.</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Connector and Data pipeline to systems/app DB: MES, IQIS, GWMS, GPTIS, HALO</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Relational DB (</a:t>
                      </a:r>
                      <a:r>
                        <a:rPr lang="en-US" sz="800" b="0" i="0" u="none" strike="noStrike" noProof="0" dirty="0" err="1">
                          <a:solidFill>
                            <a:schemeClr val="tx1"/>
                          </a:solidFill>
                          <a:effectLst/>
                          <a:latin typeface="Hyundai Sans Text KR"/>
                          <a:ea typeface="Hyundai Sans Text KR"/>
                        </a:rPr>
                        <a:t>postgres</a:t>
                      </a:r>
                      <a:r>
                        <a:rPr lang="en-US" sz="800" b="0" i="0" u="none" strike="noStrike" noProof="0" dirty="0">
                          <a:solidFill>
                            <a:schemeClr val="tx1"/>
                          </a:solidFill>
                          <a:effectLst/>
                          <a:latin typeface="Hyundai Sans Text KR"/>
                          <a:ea typeface="Hyundai Sans Text KR"/>
                        </a:rPr>
                        <a:t>) for app data and factory historian e.g. issue tickets, repair ticket, inspection records. This should be common for all apps to allow app to have access to data from other apps</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Data platform to enable ETL, analysis and development of data products</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Need Data Platform to facilitate the creation of “data products” to enable daily advanced analytics, as well as advanced use-cases (AI/ML </a:t>
                      </a:r>
                      <a:r>
                        <a:rPr lang="en-US" sz="800" b="0" i="0" u="none" strike="noStrike" noProof="0" dirty="0" err="1">
                          <a:solidFill>
                            <a:schemeClr val="tx1"/>
                          </a:solidFill>
                          <a:effectLst/>
                          <a:latin typeface="Hyundai Sans Text KR"/>
                          <a:ea typeface="Hyundai Sans Text KR"/>
                        </a:rPr>
                        <a:t>etc</a:t>
                      </a:r>
                      <a:r>
                        <a:rPr lang="en-US" sz="800" b="0" i="0" u="none" strike="noStrike" noProof="0" dirty="0">
                          <a:solidFill>
                            <a:schemeClr val="tx1"/>
                          </a:solidFill>
                          <a:effectLst/>
                          <a:latin typeface="Hyundai Sans Text KR"/>
                          <a:ea typeface="Hyundai Sans Text KR"/>
                        </a:rPr>
                        <a:t>)</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MCP Server exposes tools, data, or capabilities that AI assistants can use. </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MCP Gateway to bridge between AI agents and MCP servers</a:t>
                      </a:r>
                      <a:endParaRPr lang="en-US" sz="800" b="0" i="0" u="none" strike="noStrike" noProof="0" dirty="0">
                        <a:solidFill>
                          <a:srgbClr val="000000"/>
                        </a:solidFill>
                        <a:effectLst/>
                        <a:latin typeface="Hyundai Sans Text KR"/>
                        <a:ea typeface="Hyundai Sans Text KR"/>
                      </a:endParaRP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Enterprise Knowledge Graph Supply Chain</a:t>
                      </a:r>
                      <a:endParaRPr lang="en-US" sz="800" b="0" i="0" u="none" strike="noStrike" noProof="0" dirty="0">
                        <a:solidFill>
                          <a:srgbClr val="000000"/>
                        </a:solidFill>
                        <a:effectLst/>
                        <a:latin typeface="Hyundai Sans Text KR"/>
                        <a:ea typeface="Hyundai Sans Text KR"/>
                      </a:endParaRP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a:ea typeface="Hyundai Sans Text KR"/>
                        </a:rPr>
                        <a:t>ERP Integration (SAP, Oracle, etc.)</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Multi-objective AI Agents for </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S&amp;OP </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End-to-end inventory data orchestration</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Optimal ordering and PO automation</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Inventory inaccuracy tracking and adjustment workflow</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Order tracking and real-time replanning</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End-to-end planning vs. operations orchestration</a:t>
                      </a:r>
                      <a:endParaRPr lang="en-US" sz="800" b="0" i="0" u="none" strike="noStrike" noProof="0" dirty="0">
                        <a:solidFill>
                          <a:srgbClr val="000000"/>
                        </a:solidFill>
                        <a:effectLst/>
                        <a:latin typeface="Hyundai Sans Text KR"/>
                        <a:ea typeface="Hyundai Sans Text KR"/>
                      </a:endParaRPr>
                    </a:p>
                    <a:p>
                      <a:pPr lvl="0" algn="l" latinLnBrk="0">
                        <a:buNone/>
                      </a:pPr>
                      <a:endParaRPr lang="en-US" sz="800" b="0" dirty="0">
                        <a:effectLst/>
                        <a:latin typeface="Hyundai Sans Text KR"/>
                        <a:ea typeface="Hyundai Sans Text KR"/>
                      </a:endParaRPr>
                    </a:p>
                  </a:txBody>
                  <a:tcPr marL="36000" marR="9651"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latinLnBrk="0">
                        <a:buNone/>
                      </a:pPr>
                      <a:r>
                        <a:rPr lang="en-US" sz="800" b="1" i="0" u="none" strike="noStrike" noProof="0" dirty="0">
                          <a:solidFill>
                            <a:srgbClr val="000000"/>
                          </a:solidFill>
                          <a:effectLst/>
                          <a:latin typeface="Hyundai Sans Text KR"/>
                          <a:ea typeface="Hyundai Sans Text KR"/>
                        </a:rPr>
                        <a:t>[AI-enabled Lead Time (L/T) &amp; Delay Prediction]</a:t>
                      </a:r>
                      <a:r>
                        <a:rPr lang="en-US" sz="800" b="0" i="0" u="none" strike="noStrike" noProof="0" dirty="0">
                          <a:solidFill>
                            <a:srgbClr val="000000"/>
                          </a:solidFill>
                          <a:effectLst/>
                          <a:latin typeface="Hyundai Sans Text KR"/>
                          <a:ea typeface="Hyundai Sans Text KR"/>
                        </a:rPr>
                        <a:t> </a:t>
                      </a:r>
                      <a:r>
                        <a:rPr lang="en-US" sz="800" b="0" i="0" u="none" strike="noStrike" noProof="0" dirty="0">
                          <a:solidFill>
                            <a:schemeClr val="tx1"/>
                          </a:solidFill>
                          <a:effectLst/>
                          <a:latin typeface="Hyundai Sans Text KR"/>
                          <a:ea typeface="Hyundai Sans Text KR"/>
                        </a:rPr>
                        <a:t>Calculating the probability of arrival delays and estimated lead time (L/T) for each part by tracking supplier inventory analyzing risks such as transit time by transportation mode, weather, and strikes</a:t>
                      </a:r>
                      <a:endParaRPr lang="en-US" sz="800" b="0" i="0" u="none" strike="noStrike" noProof="0" dirty="0">
                        <a:solidFill>
                          <a:srgbClr val="000000"/>
                        </a:solidFill>
                        <a:effectLst/>
                        <a:latin typeface="Hyundai Sans Text KR"/>
                        <a:ea typeface="Hyundai Sans Text KR"/>
                      </a:endParaRPr>
                    </a:p>
                    <a:p>
                      <a:pPr lvl="0" latinLnBrk="0">
                        <a:buNone/>
                      </a:pPr>
                      <a:r>
                        <a:rPr lang="en-US" sz="800" b="0" i="0" u="none" strike="noStrike" noProof="0" dirty="0">
                          <a:solidFill>
                            <a:srgbClr val="000000"/>
                          </a:solidFill>
                          <a:effectLst/>
                          <a:latin typeface="Hyundai Sans Text KR"/>
                          <a:ea typeface="Hyundai Sans Text KR"/>
                        </a:rPr>
                        <a:t>Predictive AI : Time-series based L/T delay prediction</a:t>
                      </a:r>
                    </a:p>
                    <a:p>
                      <a:pPr lvl="0" latinLnBrk="0">
                        <a:buNone/>
                      </a:pPr>
                      <a:r>
                        <a:rPr lang="en-US" sz="800" b="0" i="0" u="none" strike="noStrike" noProof="0" dirty="0">
                          <a:solidFill>
                            <a:srgbClr val="000000"/>
                          </a:solidFill>
                          <a:effectLst/>
                          <a:latin typeface="Hyundai Sans Text KR"/>
                          <a:ea typeface="Hyundai Sans Text KR"/>
                        </a:rPr>
                        <a:t>Cognitive AI : NLP-based risk analysis</a:t>
                      </a:r>
                      <a:br>
                        <a:rPr lang="en-US" sz="800" b="0" i="0" u="none" strike="noStrike" noProof="0" dirty="0">
                          <a:solidFill>
                            <a:srgbClr val="000000"/>
                          </a:solidFill>
                          <a:effectLst/>
                          <a:latin typeface="Hyundai Sans Text KR"/>
                          <a:ea typeface="Hyundai Sans Text KR"/>
                        </a:rPr>
                      </a:br>
                      <a:endParaRPr lang="en-US" sz="800" b="0" i="0" u="none" strike="noStrike" noProof="0" dirty="0">
                        <a:solidFill>
                          <a:srgbClr val="000000"/>
                        </a:solidFill>
                        <a:effectLst/>
                        <a:latin typeface="Hyundai Sans Text KR"/>
                        <a:ea typeface="Hyundai Sans Text KR"/>
                      </a:endParaRPr>
                    </a:p>
                    <a:p>
                      <a:pPr lvl="0" latinLnBrk="0">
                        <a:buNone/>
                      </a:pPr>
                      <a:r>
                        <a:rPr lang="en-US" sz="800" b="1" i="0" u="none" strike="noStrike" noProof="0" dirty="0">
                          <a:solidFill>
                            <a:srgbClr val="000000"/>
                          </a:solidFill>
                          <a:effectLst/>
                          <a:latin typeface="Hyundai Sans Text KR"/>
                          <a:ea typeface="Hyundai Sans Text KR"/>
                        </a:rPr>
                        <a:t>[What-If Simulation]</a:t>
                      </a:r>
                      <a:r>
                        <a:rPr lang="en-US" sz="800" b="0" i="0" u="none" strike="noStrike" noProof="0" dirty="0">
                          <a:solidFill>
                            <a:srgbClr val="000000"/>
                          </a:solidFill>
                          <a:effectLst/>
                          <a:latin typeface="Hyundai Sans Text KR"/>
                          <a:ea typeface="Hyundai Sans Text KR"/>
                        </a:rPr>
                        <a:t> End-to-end supply chain planning </a:t>
                      </a:r>
                    </a:p>
                    <a:p>
                      <a:pPr lvl="0" latinLnBrk="0">
                        <a:buNone/>
                      </a:pPr>
                      <a:r>
                        <a:rPr lang="en-US" sz="800" b="0" i="0" u="none" strike="noStrike" noProof="0" dirty="0">
                          <a:solidFill>
                            <a:srgbClr val="000000"/>
                          </a:solidFill>
                          <a:effectLst/>
                          <a:latin typeface="Hyundai Sans Text KR"/>
                          <a:ea typeface="Hyundai Sans Text KR"/>
                        </a:rPr>
                        <a:t>simulation + disruption-based alternative scenario planning </a:t>
                      </a:r>
                    </a:p>
                    <a:p>
                      <a:pPr lvl="0" latinLnBrk="0">
                        <a:buNone/>
                      </a:pPr>
                      <a:r>
                        <a:rPr lang="en-US" sz="800" b="0" i="0" u="none" strike="noStrike" noProof="0" dirty="0">
                          <a:solidFill>
                            <a:srgbClr val="000000"/>
                          </a:solidFill>
                          <a:effectLst/>
                          <a:latin typeface="Hyundai Sans Text KR"/>
                          <a:ea typeface="Hyundai Sans Text KR"/>
                        </a:rPr>
                        <a:t>(e.g. ‘the impact on the planned assembly due to supplier shortages or inbound delays)</a:t>
                      </a:r>
                    </a:p>
                    <a:p>
                      <a:pPr lvl="0" latinLnBrk="0">
                        <a:buNone/>
                      </a:pPr>
                      <a:r>
                        <a:rPr lang="en-US" sz="800" b="0" i="0" u="none" strike="noStrike" noProof="0" dirty="0">
                          <a:solidFill>
                            <a:srgbClr val="000000"/>
                          </a:solidFill>
                          <a:effectLst/>
                          <a:latin typeface="Hyundai Sans Text KR"/>
                          <a:ea typeface="Hyundai Sans Text KR"/>
                        </a:rPr>
                        <a:t>Digital Twin : Supply Chain Flow simulation</a:t>
                      </a:r>
                    </a:p>
                    <a:p>
                      <a:pPr lvl="0" algn="l">
                        <a:buNone/>
                      </a:pPr>
                      <a:endParaRPr lang="en-US" sz="800" b="0" dirty="0">
                        <a:effectLst/>
                        <a:latin typeface="Hyundai Sans Text KR"/>
                        <a:ea typeface="Hyundai Sans Text KR"/>
                      </a:endParaRPr>
                    </a:p>
                  </a:txBody>
                  <a:tcPr marL="36000"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a:buFont typeface="Arial"/>
                        <a:buChar char="•"/>
                      </a:pPr>
                      <a:r>
                        <a:rPr lang="en-US" sz="800" b="0" dirty="0">
                          <a:effectLst/>
                          <a:latin typeface="Hyundai Sans Text KR"/>
                          <a:ea typeface="Hyundai Sans Text KR"/>
                        </a:rPr>
                        <a:t>It is difficult to create a model that analyzes the impact of issues such as geopolitical risks or tariff wars on logistics supply.</a:t>
                      </a:r>
                      <a:endParaRPr lang="en-US" sz="800" dirty="0">
                        <a:ea typeface="Hyundai Sans Text KR"/>
                      </a:endParaRPr>
                    </a:p>
                    <a:p>
                      <a:pPr marL="171450" lvl="0" indent="-171450" algn="l">
                        <a:buFont typeface="Arial"/>
                        <a:buChar char="•"/>
                      </a:pPr>
                      <a:r>
                        <a:rPr lang="en-US" sz="800" b="0" dirty="0">
                          <a:effectLst/>
                          <a:latin typeface="Hyundai Sans Text KR"/>
                          <a:ea typeface="Hyundai Sans Text KR"/>
                        </a:rPr>
                        <a:t>Controlling the Bullwhip Effect, where small forecast errors amplify across the entire supply chain</a:t>
                      </a: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61364911"/>
                  </a:ext>
                </a:extLst>
              </a:tr>
              <a:tr h="0">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latinLnBrk="0">
                        <a:buNone/>
                      </a:pPr>
                      <a:r>
                        <a:rPr lang="en-US" sz="800" b="1" i="0" u="none" strike="noStrike" noProof="0" dirty="0">
                          <a:solidFill>
                            <a:srgbClr val="000000"/>
                          </a:solidFill>
                          <a:effectLst/>
                          <a:latin typeface="Hyundai Sans Text KR"/>
                          <a:ea typeface="Hyundai Sans Text KR"/>
                        </a:rPr>
                        <a:t>[Autonomous Purchase Order (PO) Execution]</a:t>
                      </a:r>
                      <a:r>
                        <a:rPr lang="en-US" sz="800" b="0" i="0" u="none" strike="noStrike" noProof="0" dirty="0">
                          <a:solidFill>
                            <a:srgbClr val="000000"/>
                          </a:solidFill>
                          <a:effectLst/>
                          <a:latin typeface="Hyundai Sans Text KR"/>
                          <a:ea typeface="Hyundai Sans Text KR"/>
                        </a:rPr>
                        <a:t> Automatically </a:t>
                      </a:r>
                    </a:p>
                    <a:p>
                      <a:pPr lvl="0" algn="l" latinLnBrk="0">
                        <a:buNone/>
                      </a:pPr>
                      <a:r>
                        <a:rPr lang="en-US" sz="800" b="0" i="0" u="none" strike="noStrike" noProof="0" dirty="0">
                          <a:solidFill>
                            <a:srgbClr val="000000"/>
                          </a:solidFill>
                          <a:effectLst/>
                          <a:latin typeface="Hyundai Sans Text KR"/>
                          <a:ea typeface="Hyundai Sans Text KR"/>
                        </a:rPr>
                        <a:t>issuing POs to  VDRs by integrating AI-determined optimal order </a:t>
                      </a:r>
                    </a:p>
                    <a:p>
                      <a:pPr lvl="0" algn="l" latinLnBrk="0">
                        <a:buNone/>
                      </a:pPr>
                      <a:r>
                        <a:rPr lang="en-US" sz="800" b="0" i="0" u="none" strike="noStrike" noProof="0" dirty="0">
                          <a:solidFill>
                            <a:srgbClr val="000000"/>
                          </a:solidFill>
                          <a:effectLst/>
                          <a:latin typeface="Hyundai Sans Text KR"/>
                          <a:ea typeface="Hyundai Sans Text KR"/>
                        </a:rPr>
                        <a:t>quantities with the ERP system</a:t>
                      </a:r>
                      <a:br>
                        <a:rPr lang="en-US" sz="800" b="0" i="0" u="none" strike="noStrike" noProof="0" dirty="0">
                          <a:solidFill>
                            <a:srgbClr val="000000"/>
                          </a:solidFill>
                          <a:effectLst/>
                          <a:latin typeface="Hyundai Sans Text KR"/>
                          <a:ea typeface="Hyundai Sans Text KR"/>
                        </a:rPr>
                      </a:br>
                      <a:r>
                        <a:rPr lang="en-US" sz="800" b="1" i="0" u="none" strike="noStrike" noProof="0" dirty="0">
                          <a:solidFill>
                            <a:srgbClr val="000000"/>
                          </a:solidFill>
                          <a:effectLst/>
                          <a:latin typeface="Hyundai Sans Text KR"/>
                          <a:ea typeface="Hyundai Sans Text KR"/>
                        </a:rPr>
                        <a:t>[Dynamic Logistics Routing Instructions]</a:t>
                      </a:r>
                      <a:r>
                        <a:rPr lang="en-US" sz="800" b="0" i="0" u="none" strike="noStrike" noProof="0" dirty="0">
                          <a:solidFill>
                            <a:srgbClr val="000000"/>
                          </a:solidFill>
                          <a:effectLst/>
                          <a:latin typeface="Hyundai Sans Text KR"/>
                          <a:ea typeface="Hyundai Sans Text KR"/>
                        </a:rPr>
                        <a:t> Automatically issuing </a:t>
                      </a:r>
                    </a:p>
                    <a:p>
                      <a:pPr lvl="0" algn="l" latinLnBrk="0">
                        <a:buNone/>
                      </a:pPr>
                      <a:r>
                        <a:rPr lang="en-US" sz="800" b="0" i="0" u="none" strike="noStrike" noProof="0" dirty="0">
                          <a:solidFill>
                            <a:srgbClr val="000000"/>
                          </a:solidFill>
                          <a:effectLst/>
                          <a:latin typeface="Hyundai Sans Text KR"/>
                          <a:ea typeface="Hyundai Sans Text KR"/>
                        </a:rPr>
                        <a:t>transport  mode change instructions (Ocean ➔ Air) to the </a:t>
                      </a:r>
                    </a:p>
                    <a:p>
                      <a:pPr lvl="0" algn="l" latinLnBrk="0">
                        <a:buNone/>
                      </a:pPr>
                      <a:r>
                        <a:rPr lang="en-US" sz="800" b="0" i="0" u="none" strike="noStrike" noProof="0" dirty="0">
                          <a:solidFill>
                            <a:srgbClr val="000000"/>
                          </a:solidFill>
                          <a:effectLst/>
                          <a:latin typeface="Hyundai Sans Text KR"/>
                          <a:ea typeface="Hyundai Sans Text KR"/>
                        </a:rPr>
                        <a:t>forwarder's system for urgent parts</a:t>
                      </a:r>
                      <a:br>
                        <a:rPr lang="en-US" sz="800" b="0" i="0" u="none" strike="noStrike" noProof="0" dirty="0">
                          <a:solidFill>
                            <a:srgbClr val="000000"/>
                          </a:solidFill>
                          <a:effectLst/>
                          <a:latin typeface="Hyundai Sans Text KR"/>
                          <a:ea typeface="Hyundai Sans Text KR"/>
                        </a:rPr>
                      </a:br>
                      <a:r>
                        <a:rPr lang="en-US" sz="800" b="1" i="0" u="none" strike="noStrike" noProof="0" dirty="0">
                          <a:solidFill>
                            <a:srgbClr val="000000"/>
                          </a:solidFill>
                          <a:effectLst/>
                          <a:latin typeface="Hyundai Sans Text KR"/>
                          <a:ea typeface="Hyundai Sans Text KR"/>
                        </a:rPr>
                        <a:t>[Emergency In-house Logistics Deployment] </a:t>
                      </a:r>
                      <a:r>
                        <a:rPr lang="en-US" sz="800" b="0" i="0" u="none" strike="noStrike" noProof="0" dirty="0">
                          <a:solidFill>
                            <a:srgbClr val="000000"/>
                          </a:solidFill>
                          <a:effectLst/>
                          <a:latin typeface="Hyundai Sans Text KR"/>
                          <a:ea typeface="Hyundai Sans Text KR"/>
                        </a:rPr>
                        <a:t>Issuing urgent </a:t>
                      </a:r>
                    </a:p>
                    <a:p>
                      <a:pPr lvl="0" algn="l" latinLnBrk="0">
                        <a:buNone/>
                      </a:pPr>
                      <a:r>
                        <a:rPr lang="en-US" sz="800" b="0" i="0" u="none" strike="noStrike" noProof="0" dirty="0">
                          <a:solidFill>
                            <a:srgbClr val="000000"/>
                          </a:solidFill>
                          <a:effectLst/>
                          <a:latin typeface="Hyundai Sans Text KR"/>
                          <a:ea typeface="Hyundai Sans Text KR"/>
                        </a:rPr>
                        <a:t>transfer instructions to AGVs/forklifts to immediately feed safety </a:t>
                      </a:r>
                    </a:p>
                    <a:p>
                      <a:pPr lvl="0" algn="l" latinLnBrk="0">
                        <a:buNone/>
                      </a:pPr>
                      <a:r>
                        <a:rPr lang="en-US" sz="800" b="0" i="0" u="none" strike="noStrike" noProof="0" dirty="0">
                          <a:solidFill>
                            <a:srgbClr val="000000"/>
                          </a:solidFill>
                          <a:effectLst/>
                          <a:latin typeface="Hyundai Sans Text KR"/>
                          <a:ea typeface="Hyundai Sans Text KR"/>
                        </a:rPr>
                        <a:t>stock from the  in-house warehouse to the line when a shortage is </a:t>
                      </a:r>
                    </a:p>
                    <a:p>
                      <a:pPr lvl="0" algn="l" latinLnBrk="0">
                        <a:buNone/>
                      </a:pPr>
                      <a:r>
                        <a:rPr lang="en-US" sz="800" b="0" i="0" u="none" strike="noStrike" noProof="0" dirty="0">
                          <a:solidFill>
                            <a:srgbClr val="000000"/>
                          </a:solidFill>
                          <a:effectLst/>
                          <a:latin typeface="Hyundai Sans Text KR"/>
                          <a:ea typeface="Hyundai Sans Text KR"/>
                        </a:rPr>
                        <a:t>imminent</a:t>
                      </a:r>
                    </a:p>
                    <a:p>
                      <a:pPr lvl="0" algn="l" latinLnBrk="0">
                        <a:buNone/>
                      </a:pPr>
                      <a:r>
                        <a:rPr lang="en-US" sz="800" b="1" i="0" u="none" strike="noStrike" noProof="0" dirty="0">
                          <a:solidFill>
                            <a:schemeClr val="tx1"/>
                          </a:solidFill>
                          <a:effectLst/>
                          <a:latin typeface="Hyundai Sans Text KR"/>
                          <a:ea typeface="Hyundai Sans Text KR"/>
                        </a:rPr>
                        <a:t>[Logistics Supply Chain Transition] </a:t>
                      </a:r>
                      <a:r>
                        <a:rPr lang="en-US" sz="800" b="0" i="0" u="none" strike="noStrike" noProof="0" dirty="0">
                          <a:solidFill>
                            <a:srgbClr val="000000"/>
                          </a:solidFill>
                          <a:effectLst/>
                          <a:latin typeface="Hyundai Sans Text KR"/>
                          <a:ea typeface="Hyundai Sans Text KR"/>
                        </a:rPr>
                        <a:t>Proposing optimal alternatives </a:t>
                      </a:r>
                    </a:p>
                    <a:p>
                      <a:pPr lvl="0" algn="l" latinLnBrk="0">
                        <a:buNone/>
                      </a:pPr>
                      <a:r>
                        <a:rPr lang="en-US" sz="800" b="0" i="0" u="none" strike="noStrike" noProof="0" dirty="0">
                          <a:solidFill>
                            <a:srgbClr val="000000"/>
                          </a:solidFill>
                          <a:effectLst/>
                          <a:latin typeface="Hyundai Sans Text KR"/>
                          <a:ea typeface="Hyundai Sans Text KR"/>
                        </a:rPr>
                        <a:t>(component VDRs, suppliers) to respond to global risk</a:t>
                      </a:r>
                    </a:p>
                    <a:p>
                      <a:pPr lvl="0" algn="l">
                        <a:buNone/>
                      </a:pPr>
                      <a:endParaRPr lang="en-US" sz="800" dirty="0">
                        <a:effectLst/>
                        <a:latin typeface="Hyundai Sans Text KR"/>
                        <a:ea typeface="Hyundai Sans Text KR"/>
                      </a:endParaRPr>
                    </a:p>
                  </a:txBody>
                  <a:tcPr marL="36000" marR="9651" marT="9651" marB="96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marL="9651" marR="9651"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1" i="0" u="none" strike="noStrike" noProof="0" dirty="0">
                          <a:solidFill>
                            <a:srgbClr val="000000"/>
                          </a:solidFill>
                          <a:effectLst/>
                          <a:latin typeface="Hyundai Sans Text KR"/>
                          <a:ea typeface="Hyundai Sans Text KR"/>
                        </a:rPr>
                        <a:t>[AI-enabled inaccuracies and obsolescence identification] </a:t>
                      </a:r>
                      <a:r>
                        <a:rPr lang="en-US" sz="800" b="0" i="0" u="none" strike="noStrike" noProof="0" dirty="0">
                          <a:solidFill>
                            <a:srgbClr val="000000"/>
                          </a:solidFill>
                          <a:effectLst/>
                          <a:latin typeface="Hyundai Sans Text KR"/>
                          <a:ea typeface="Hyundai Sans Text KR"/>
                        </a:rPr>
                        <a:t>Whenever parts inventory is inaccurate or parts are at the risk of obsolescence due to change in plan, automatically send alerts to the logistics</a:t>
                      </a:r>
                    </a:p>
                    <a:p>
                      <a:pPr lvl="0" algn="l" latinLnBrk="0">
                        <a:buNone/>
                      </a:pPr>
                      <a:r>
                        <a:rPr lang="en-US" sz="800" b="1" i="0" u="none" strike="noStrike" noProof="0" dirty="0">
                          <a:solidFill>
                            <a:srgbClr val="000000"/>
                          </a:solidFill>
                          <a:effectLst/>
                          <a:latin typeface="Hyundai Sans Text KR"/>
                          <a:ea typeface="Hyundai Sans Text KR"/>
                        </a:rPr>
                        <a:t>[Autonomous order Execution]</a:t>
                      </a:r>
                      <a:r>
                        <a:rPr lang="en-US" sz="800" b="0" i="0" u="none" strike="noStrike" noProof="0" dirty="0">
                          <a:solidFill>
                            <a:srgbClr val="000000"/>
                          </a:solidFill>
                          <a:effectLst/>
                          <a:latin typeface="Hyundai Sans Text KR"/>
                          <a:ea typeface="Hyundai Sans Text KR"/>
                        </a:rPr>
                        <a:t> Automatically issuing POs by integrating inventory positions with optimal order quantities</a:t>
                      </a:r>
                      <a:br>
                        <a:rPr lang="en-US" sz="800" b="0" i="0" u="none" strike="noStrike" noProof="0" dirty="0">
                          <a:solidFill>
                            <a:srgbClr val="000000"/>
                          </a:solidFill>
                          <a:effectLst/>
                          <a:latin typeface="Hyundai Sans Text KR"/>
                          <a:ea typeface="Hyundai Sans Text KR"/>
                        </a:rPr>
                      </a:br>
                      <a:r>
                        <a:rPr lang="en-US" sz="800" b="1" i="0" u="none" strike="noStrike" noProof="0" dirty="0">
                          <a:solidFill>
                            <a:srgbClr val="000000"/>
                          </a:solidFill>
                          <a:effectLst/>
                          <a:latin typeface="Hyundai Sans Text KR"/>
                          <a:ea typeface="Hyundai Sans Text KR"/>
                        </a:rPr>
                        <a:t>[AI-enabled Dynamic Logistics mode switching]</a:t>
                      </a:r>
                      <a:r>
                        <a:rPr lang="en-US" sz="800" b="0" i="0" u="none" strike="noStrike" noProof="0" dirty="0">
                          <a:solidFill>
                            <a:srgbClr val="000000"/>
                          </a:solidFill>
                          <a:effectLst/>
                          <a:latin typeface="Hyundai Sans Text KR"/>
                          <a:ea typeface="Hyundai Sans Text KR"/>
                        </a:rPr>
                        <a:t> Automatically issuing transport mode change instructions (Ocean ➔ Air) to the forwarder's system for urgent parts</a:t>
                      </a:r>
                    </a:p>
                    <a:p>
                      <a:pPr lvl="0" algn="l" latinLnBrk="0">
                        <a:buNone/>
                      </a:pPr>
                      <a:r>
                        <a:rPr lang="en-US" sz="800" b="1" i="0" u="none" strike="noStrike" noProof="0" dirty="0">
                          <a:solidFill>
                            <a:srgbClr val="000000"/>
                          </a:solidFill>
                          <a:effectLst/>
                          <a:latin typeface="Hyundai Sans Text KR"/>
                          <a:ea typeface="Hyundai Sans Text KR"/>
                        </a:rPr>
                        <a:t>[AI-enabled end-to-end Supply Chain Orchestration]</a:t>
                      </a:r>
                      <a:r>
                        <a:rPr lang="en-US" sz="800" b="0" i="0" u="none" strike="noStrike" noProof="0" dirty="0">
                          <a:solidFill>
                            <a:srgbClr val="000000"/>
                          </a:solidFill>
                          <a:effectLst/>
                          <a:latin typeface="Hyundai Sans Text KR"/>
                          <a:ea typeface="Hyundai Sans Text KR"/>
                        </a:rPr>
                        <a:t> End-to-end real-time replanning based on decision agents considering chosen objective (cost, lead time, etc.) and current and future predicted disruptions</a:t>
                      </a:r>
                    </a:p>
                    <a:p>
                      <a:pPr lvl="0" algn="l">
                        <a:buNone/>
                      </a:pPr>
                      <a:endParaRPr lang="en-US" sz="800" b="0" dirty="0">
                        <a:effectLst/>
                        <a:latin typeface="Hyundai Sans Text KR"/>
                        <a:ea typeface="Hyundai Sans Text KR"/>
                      </a:endParaRPr>
                    </a:p>
                  </a:txBody>
                  <a:tcPr marL="36000"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a:buFont typeface="Arial"/>
                        <a:buChar char="•"/>
                      </a:pPr>
                      <a:r>
                        <a:rPr lang="en-US" sz="800" b="0" dirty="0">
                          <a:effectLst/>
                          <a:latin typeface="Hyundai Sans Text KR"/>
                          <a:ea typeface="Hyundai Sans Text KR"/>
                        </a:rPr>
                        <a:t>Issues of financial liability and delegation of authority when AI dictates autonomous orders worth billions or expensive air freight conversions</a:t>
                      </a:r>
                      <a:endParaRPr lang="en-US" sz="800" dirty="0">
                        <a:ea typeface="Hyundai Sans Text KR"/>
                      </a:endParaRPr>
                    </a:p>
                    <a:p>
                      <a:pPr marL="171450" lvl="0" indent="-171450" algn="l">
                        <a:buFont typeface="Arial"/>
                        <a:buChar char="•"/>
                      </a:pPr>
                      <a:r>
                        <a:rPr lang="en-US" sz="800" b="0" dirty="0">
                          <a:effectLst/>
                          <a:latin typeface="Hyundai Sans Text KR"/>
                          <a:ea typeface="Hyundai Sans Text KR"/>
                        </a:rPr>
                        <a:t>Limitations in automatically reflecting contract terms (e.g., penalties) with VDRs and logistics companies</a:t>
                      </a: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18653458"/>
                  </a:ext>
                </a:extLst>
              </a:tr>
            </a:tbl>
          </a:graphicData>
        </a:graphic>
      </p:graphicFrame>
    </p:spTree>
    <p:extLst>
      <p:ext uri="{BB962C8B-B14F-4D97-AF65-F5344CB8AC3E}">
        <p14:creationId xmlns:p14="http://schemas.microsoft.com/office/powerpoint/2010/main" val="3923479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A33B0-19EA-5ADF-7E88-38A8077820F1}"/>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D7D5447D-E2A6-0F89-9621-C69C62D04B67}"/>
              </a:ext>
            </a:extLst>
          </p:cNvPr>
          <p:cNvSpPr>
            <a:spLocks noGrp="1"/>
          </p:cNvSpPr>
          <p:nvPr>
            <p:ph type="ctrTitle"/>
          </p:nvPr>
        </p:nvSpPr>
        <p:spPr>
          <a:xfrm>
            <a:off x="273049" y="179388"/>
            <a:ext cx="11661776"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②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parts supply and inventory </a:t>
            </a:r>
            <a:r>
              <a:rPr kumimoji="1" lang="en-US" altLang="ko-KR" sz="2400" b="1" kern="400" dirty="0" err="1">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mgmt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834A663F-E5AF-0378-060F-FDDA1D24C305}"/>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A6B81853-FA69-4729-029E-36B9FA51F0E3}"/>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F71DCAFB-F090-A569-93C2-3185E1235908}"/>
              </a:ext>
            </a:extLst>
          </p:cNvPr>
          <p:cNvSpPr txBox="1"/>
          <p:nvPr/>
        </p:nvSpPr>
        <p:spPr>
          <a:xfrm>
            <a:off x="338778" y="809627"/>
            <a:ext cx="9495326" cy="224549"/>
          </a:xfrm>
          <a:prstGeom prst="rect">
            <a:avLst/>
          </a:prstGeom>
          <a:noFill/>
        </p:spPr>
        <p:txBody>
          <a:bodyPr wrap="squar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SG"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Autonomous parts supply / inventory management </a:t>
            </a:r>
            <a:r>
              <a:rPr kumimoji="0" lang="en-SG"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Development items / Required technologies / Technical pain points</a:t>
            </a:r>
            <a:endPar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25C933C9-AE98-9DAE-D05A-5056F0D38137}"/>
              </a:ext>
            </a:extLst>
          </p:cNvPr>
          <p:cNvSpPr>
            <a:spLocks noChangeArrowheads="1"/>
          </p:cNvSpPr>
          <p:nvPr/>
        </p:nvSpPr>
        <p:spPr bwMode="auto">
          <a:xfrm>
            <a:off x="436324" y="1049635"/>
            <a:ext cx="9495327"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Establish end-to-end visibility from global suppliers (VDR) to final assembly line, and build an autonomous ordering</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and inventory optimization system that accounts for logistic, and operational</a:t>
            </a:r>
            <a:r>
              <a:rPr kumimoji="0" lang="ko-KR" altLang="en-US"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risks</a:t>
            </a:r>
          </a:p>
        </p:txBody>
      </p:sp>
      <p:graphicFrame>
        <p:nvGraphicFramePr>
          <p:cNvPr id="9" name="표 8">
            <a:extLst>
              <a:ext uri="{FF2B5EF4-FFF2-40B4-BE49-F238E27FC236}">
                <a16:creationId xmlns:a16="http://schemas.microsoft.com/office/drawing/2014/main" id="{C7B35EFB-A078-0E82-AC07-8D47D319A729}"/>
              </a:ext>
            </a:extLst>
          </p:cNvPr>
          <p:cNvGraphicFramePr>
            <a:graphicFrameLocks noGrp="1"/>
          </p:cNvGraphicFramePr>
          <p:nvPr/>
        </p:nvGraphicFramePr>
        <p:xfrm>
          <a:off x="355726" y="1557736"/>
          <a:ext cx="12369662" cy="1515016"/>
        </p:xfrm>
        <a:graphic>
          <a:graphicData uri="http://schemas.openxmlformats.org/drawingml/2006/table">
            <a:tbl>
              <a:tblPr/>
              <a:tblGrid>
                <a:gridCol w="758364">
                  <a:extLst>
                    <a:ext uri="{9D8B030D-6E8A-4147-A177-3AD203B41FA5}">
                      <a16:colId xmlns:a16="http://schemas.microsoft.com/office/drawing/2014/main" val="3515855418"/>
                    </a:ext>
                  </a:extLst>
                </a:gridCol>
                <a:gridCol w="3486762">
                  <a:extLst>
                    <a:ext uri="{9D8B030D-6E8A-4147-A177-3AD203B41FA5}">
                      <a16:colId xmlns:a16="http://schemas.microsoft.com/office/drawing/2014/main" val="2891931337"/>
                    </a:ext>
                  </a:extLst>
                </a:gridCol>
                <a:gridCol w="2300000">
                  <a:extLst>
                    <a:ext uri="{9D8B030D-6E8A-4147-A177-3AD203B41FA5}">
                      <a16:colId xmlns:a16="http://schemas.microsoft.com/office/drawing/2014/main" val="3002806275"/>
                    </a:ext>
                  </a:extLst>
                </a:gridCol>
                <a:gridCol w="2881311">
                  <a:extLst>
                    <a:ext uri="{9D8B030D-6E8A-4147-A177-3AD203B41FA5}">
                      <a16:colId xmlns:a16="http://schemas.microsoft.com/office/drawing/2014/main" val="224423425"/>
                    </a:ext>
                  </a:extLst>
                </a:gridCol>
                <a:gridCol w="247650">
                  <a:extLst>
                    <a:ext uri="{9D8B030D-6E8A-4147-A177-3AD203B41FA5}">
                      <a16:colId xmlns:a16="http://schemas.microsoft.com/office/drawing/2014/main" val="150988279"/>
                    </a:ext>
                  </a:extLst>
                </a:gridCol>
                <a:gridCol w="2695575">
                  <a:extLst>
                    <a:ext uri="{9D8B030D-6E8A-4147-A177-3AD203B41FA5}">
                      <a16:colId xmlns:a16="http://schemas.microsoft.com/office/drawing/2014/main" val="3458429665"/>
                    </a:ext>
                  </a:extLst>
                </a:gridCol>
              </a:tblGrid>
              <a:tr h="150438">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sz="90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223559">
                <a:tc>
                  <a:txBody>
                    <a:bodyPr/>
                    <a:lstStyle/>
                    <a:p>
                      <a:pPr indent="0" algn="ctr">
                        <a:lnSpc>
                          <a:spcPct val="120000"/>
                        </a:lnSpc>
                        <a:spcBef>
                          <a:spcPts val="0"/>
                        </a:spcBef>
                        <a:spcAft>
                          <a:spcPts val="0"/>
                        </a:spcAft>
                        <a:buNone/>
                      </a:pPr>
                      <a:r>
                        <a:rPr lang="en-US" sz="900" b="1" i="0" kern="1200" dirty="0">
                          <a:solidFill>
                            <a:schemeClr val="tx1"/>
                          </a:solidFill>
                          <a:effectLst/>
                          <a:ea typeface="현대산스 Text"/>
                          <a:cs typeface="+mn-cs"/>
                        </a:rPr>
                        <a:t>Learning</a:t>
                      </a:r>
                      <a:endParaRPr lang="en-US" dirty="0"/>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latinLnBrk="0">
                        <a:buNone/>
                      </a:pPr>
                      <a:r>
                        <a:rPr lang="en-US" sz="800" b="1">
                          <a:latin typeface="Hyundai Sans Text KR" panose="020B0600000101010101" pitchFamily="34" charset="-127"/>
                          <a:ea typeface="Hyundai Sans Text KR" panose="020B0600000101010101" pitchFamily="34" charset="-127"/>
                        </a:rPr>
                        <a:t>[Inventory Optimization and Autonomous Ordering Automatic Update]</a:t>
                      </a:r>
                      <a:r>
                        <a:rPr lang="en-US" sz="800">
                          <a:latin typeface="Hyundai Sans Text KR" panose="020B0600000101010101" pitchFamily="34" charset="-127"/>
                          <a:ea typeface="Hyundai Sans Text KR" panose="020B0600000101010101" pitchFamily="34" charset="-127"/>
                        </a:rPr>
                        <a:t> Improving algorithms based on actual supply performance</a:t>
                      </a:r>
                    </a:p>
                    <a:p>
                      <a:pPr lvl="0" algn="l" latinLnBrk="0">
                        <a:buNone/>
                      </a:pPr>
                      <a:endParaRPr lang="en-US" sz="800" b="1">
                        <a:latin typeface="Hyundai Sans Text KR" panose="020B0600000101010101" pitchFamily="34" charset="-127"/>
                        <a:ea typeface="Hyundai Sans Text KR" panose="020B0600000101010101" pitchFamily="34" charset="-127"/>
                      </a:endParaRPr>
                    </a:p>
                    <a:p>
                      <a:pPr lvl="0" algn="l" latinLnBrk="0">
                        <a:buNone/>
                      </a:pPr>
                      <a:r>
                        <a:rPr lang="en-US" sz="800" b="1">
                          <a:latin typeface="Hyundai Sans Text KR" panose="020B0600000101010101" pitchFamily="34" charset="-127"/>
                          <a:ea typeface="Hyundai Sans Text KR" panose="020B0600000101010101" pitchFamily="34" charset="-127"/>
                        </a:rPr>
                        <a:t>[Automatic VDR Reliability Index Update]</a:t>
                      </a:r>
                      <a:r>
                        <a:rPr lang="en-US" sz="800">
                          <a:latin typeface="Hyundai Sans Text KR" panose="020B0600000101010101" pitchFamily="34" charset="-127"/>
                          <a:ea typeface="Hyundai Sans Text KR" panose="020B0600000101010101" pitchFamily="34" charset="-127"/>
                        </a:rPr>
                        <a:t> AI automatically updates the </a:t>
                      </a:r>
                    </a:p>
                    <a:p>
                      <a:pPr lvl="0" algn="l" latinLnBrk="0">
                        <a:buNone/>
                      </a:pPr>
                      <a:r>
                        <a:rPr lang="en-US" sz="800">
                          <a:latin typeface="Hyundai Sans Text KR" panose="020B0600000101010101" pitchFamily="34" charset="-127"/>
                          <a:ea typeface="Hyundai Sans Text KR" panose="020B0600000101010101" pitchFamily="34" charset="-127"/>
                        </a:rPr>
                        <a:t>'Risk Score' (reliability weight) of specific VDRs or logistics routes by </a:t>
                      </a:r>
                    </a:p>
                    <a:p>
                      <a:pPr lvl="0" algn="l" latinLnBrk="0">
                        <a:buNone/>
                      </a:pPr>
                      <a:r>
                        <a:rPr lang="en-US" sz="800">
                          <a:latin typeface="Hyundai Sans Text KR" panose="020B0600000101010101" pitchFamily="34" charset="-127"/>
                          <a:ea typeface="Hyundai Sans Text KR" panose="020B0600000101010101" pitchFamily="34" charset="-127"/>
                        </a:rPr>
                        <a:t>comparing planned L/T against actual arrival times</a:t>
                      </a:r>
                      <a:br>
                        <a:rPr lang="en-US" sz="800">
                          <a:latin typeface="Hyundai Sans Text KR" panose="020B0600000101010101" pitchFamily="34" charset="-127"/>
                          <a:ea typeface="Hyundai Sans Text KR" panose="020B0600000101010101" pitchFamily="34" charset="-127"/>
                        </a:rPr>
                      </a:br>
                      <a:endParaRPr lang="en-US" sz="800">
                        <a:latin typeface="Hyundai Sans Text KR" panose="020B0600000101010101" pitchFamily="34" charset="-127"/>
                        <a:ea typeface="Hyundai Sans Text KR" panose="020B0600000101010101" pitchFamily="34" charset="-127"/>
                      </a:endParaRPr>
                    </a:p>
                    <a:p>
                      <a:pPr lvl="0" algn="l" latinLnBrk="0">
                        <a:buNone/>
                      </a:pPr>
                      <a:r>
                        <a:rPr lang="en-US" sz="800" b="1">
                          <a:latin typeface="Hyundai Sans Text KR" panose="020B0600000101010101" pitchFamily="34" charset="-127"/>
                          <a:ea typeface="Hyundai Sans Text KR" panose="020B0600000101010101" pitchFamily="34" charset="-127"/>
                        </a:rPr>
                        <a:t>[Black Swan Event Learning]</a:t>
                      </a:r>
                      <a:r>
                        <a:rPr lang="en-US" sz="800">
                          <a:latin typeface="Hyundai Sans Text KR" panose="020B0600000101010101" pitchFamily="34" charset="-127"/>
                          <a:ea typeface="Hyundai Sans Text KR" panose="020B0600000101010101" pitchFamily="34" charset="-127"/>
                        </a:rPr>
                        <a:t> Enhancing crisis response models by learning supply/demand fluctuation patterns during past supply chain disruptions  (COVID-19, wars, etc.)</a:t>
                      </a:r>
                    </a:p>
                    <a:p>
                      <a:pPr lvl="0" algn="l">
                        <a:buNone/>
                      </a:pPr>
                      <a:endParaRPr lang="en-US" sz="800" b="1" i="0" u="none" strike="noStrike" noProof="0">
                        <a:solidFill>
                          <a:srgbClr val="000000"/>
                        </a:solidFill>
                        <a:effectLst/>
                        <a:latin typeface="Hyundai Sans Text KR" panose="020B0600000101010101" pitchFamily="34" charset="-127"/>
                        <a:ea typeface="Hyundai Sans Text KR" panose="020B0600000101010101" pitchFamily="34" charset="-127"/>
                      </a:endParaRPr>
                    </a:p>
                  </a:txBody>
                  <a:tcPr marL="36000" marR="9651" marT="9651" marB="96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0" lvl="0" indent="-57150" algn="l">
                        <a:buFont typeface="Arial" panose="020B0604020202020204" pitchFamily="34" charset="0"/>
                        <a:buChar char="•"/>
                      </a:pPr>
                      <a:r>
                        <a:rPr lang="en-US" sz="800" b="0" i="0" u="none" strike="noStrike" noProof="0" dirty="0" err="1">
                          <a:solidFill>
                            <a:srgbClr val="000000"/>
                          </a:solidFill>
                          <a:effectLst/>
                          <a:latin typeface="Hyundai Sans Text KR" panose="020B0600000101010101" pitchFamily="34" charset="-127"/>
                          <a:ea typeface="Hyundai Sans Text KR" panose="020B0600000101010101" pitchFamily="34" charset="-127"/>
                        </a:rPr>
                        <a:t>MLOps</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(Continuous monitoring and deployment of predictive models)</a:t>
                      </a:r>
                    </a:p>
                    <a:p>
                      <a:pPr marL="57150" lvl="0" indent="-57150" algn="l">
                        <a:buFont typeface="Arial" panose="020B0604020202020204" pitchFamily="34" charset="0"/>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Reinforcement Learning (planning optimization </a:t>
                      </a:r>
                    </a:p>
                    <a:p>
                      <a:pPr marL="0" lvl="0" indent="0" algn="l">
                        <a:buFont typeface="Arial" panose="020B0604020202020204" pitchFamily="34" charset="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learning)</a:t>
                      </a:r>
                      <a:endParaRPr lang="en-US" sz="800" dirty="0">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9651"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latinLnBrk="0">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[Autonomous Ordering Automatic Update]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Improving algorithms based on actual supply performance</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[Autonomous replanning based on performance] </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Improving Sales &amp; Operations Planning algorithms based on actual historic performance</a:t>
                      </a:r>
                      <a:endParaRPr lang="en-US" sz="800" dirty="0">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[Automatic supplier reliability Index Update]</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AI automatically updates the 'Risk Score' (reliability weight) of suppliers or logistics routes by comparing planned L/T against actual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arrival times</a:t>
                      </a:r>
                      <a:endParaRPr lang="en-US" sz="800" dirty="0">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sz="800" b="0" dirty="0">
                          <a:effectLst/>
                          <a:latin typeface="Hyundai Sans Text KR"/>
                          <a:ea typeface="Hyundai Sans Text KR"/>
                        </a:rPr>
                        <a:t>• Absolute lack of historical data for AI to learn </a:t>
                      </a:r>
                      <a:endParaRPr lang="en-US" sz="800" b="0" dirty="0">
                        <a:effectLst/>
                        <a:latin typeface="Hyundai Sans Text KR"/>
                        <a:ea typeface="Hyundai Sans Text KR" panose="020B0600000101010101" pitchFamily="34" charset="-127"/>
                      </a:endParaRPr>
                    </a:p>
                    <a:p>
                      <a:pPr lvl="0" algn="l">
                        <a:buNone/>
                      </a:pPr>
                      <a:r>
                        <a:rPr lang="en-US" sz="800" b="0" dirty="0">
                          <a:effectLst/>
                          <a:latin typeface="Hyundai Sans Text KR"/>
                          <a:ea typeface="Hyundai Sans Text KR"/>
                        </a:rPr>
                        <a:t>   from due to the low frequency of extreme </a:t>
                      </a:r>
                    </a:p>
                    <a:p>
                      <a:pPr lvl="0" algn="l">
                        <a:buNone/>
                      </a:pPr>
                      <a:r>
                        <a:rPr lang="en-US" sz="800" b="0" dirty="0">
                          <a:effectLst/>
                          <a:latin typeface="Hyundai Sans Text KR"/>
                          <a:ea typeface="Hyundai Sans Text KR"/>
                        </a:rPr>
                        <a:t>   crises (Black Swans) like wars and pandemics </a:t>
                      </a:r>
                    </a:p>
                    <a:p>
                      <a:pPr lvl="0" algn="l">
                        <a:buNone/>
                      </a:pPr>
                      <a:r>
                        <a:rPr lang="en-US" sz="800" b="0" dirty="0">
                          <a:effectLst/>
                          <a:latin typeface="Hyundai Sans Text KR"/>
                          <a:ea typeface="Hyundai Sans Text KR"/>
                        </a:rPr>
                        <a:t>   (Data Sparsity problem)</a:t>
                      </a:r>
                      <a:endParaRPr lang="en-US" sz="800" b="0" dirty="0">
                        <a:effectLst/>
                        <a:latin typeface="Hyundai Sans Text KR"/>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4706191"/>
                  </a:ext>
                </a:extLst>
              </a:tr>
            </a:tbl>
          </a:graphicData>
        </a:graphic>
      </p:graphicFrame>
    </p:spTree>
    <p:extLst>
      <p:ext uri="{BB962C8B-B14F-4D97-AF65-F5344CB8AC3E}">
        <p14:creationId xmlns:p14="http://schemas.microsoft.com/office/powerpoint/2010/main" val="4032632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4B76583-E30F-CE87-ACEC-F2B5B1B6016D}"/>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9158BDA-2D6E-F529-AA58-AF5EC999BCDD}"/>
              </a:ext>
            </a:extLst>
          </p:cNvPr>
          <p:cNvSpPr>
            <a:spLocks noGrp="1"/>
          </p:cNvSpPr>
          <p:nvPr>
            <p:ph type="ctrTitle"/>
          </p:nvPr>
        </p:nvSpPr>
        <p:spPr>
          <a:xfrm>
            <a:off x="273049" y="179388"/>
            <a:ext cx="9632951"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② 부품 공급 및</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 </a:t>
            </a:r>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재고 관리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53CF005-DDF4-3055-28DE-8CD3F39C286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749EE79-75CC-9FEC-F1A5-FA1627C76B37}"/>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3D02807-DE5D-4F55-F7C9-BA021B3DC08B}"/>
              </a:ext>
            </a:extLst>
          </p:cNvPr>
          <p:cNvSpPr txBox="1"/>
          <p:nvPr/>
        </p:nvSpPr>
        <p:spPr>
          <a:xfrm>
            <a:off x="338778" y="935137"/>
            <a:ext cx="4608634"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부품 공급 및 재고 관리 자율화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9" name="Rectangle 1">
            <a:extLst>
              <a:ext uri="{FF2B5EF4-FFF2-40B4-BE49-F238E27FC236}">
                <a16:creationId xmlns:a16="http://schemas.microsoft.com/office/drawing/2014/main" id="{2DAB6772-A26C-BFC5-9958-59BE6E7A2630}"/>
              </a:ext>
            </a:extLst>
          </p:cNvPr>
          <p:cNvSpPr>
            <a:spLocks noChangeArrowheads="1"/>
          </p:cNvSpPr>
          <p:nvPr/>
        </p:nvSpPr>
        <p:spPr bwMode="auto">
          <a:xfrm>
            <a:off x="436324" y="1175145"/>
            <a:ext cx="9495327"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목표 </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글로벌 협력사</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(VDR)</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부터 최종 조립 라인까지의 </a:t>
            </a:r>
            <a:r>
              <a:rPr kumimoji="0" lang="ko-KR" altLang="ko-KR" sz="1200" b="1" i="0" u="none" strike="noStrike" kern="1200" cap="none" spc="0" normalizeH="0" baseline="0" noProof="0" dirty="0" err="1">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End-to-End</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가시성을 확보하고,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다양한 리스크</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a:t>
            </a:r>
            <a:r>
              <a:rPr kumimoji="0" lang="ko-KR" altLang="ko-KR" sz="1100" b="0" i="0" u="none" strike="noStrike" kern="1200" cap="none" spc="0" normalizeH="0" baseline="0" noProof="0" dirty="0" err="1">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물류적</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운영</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적</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를 종합적으로</a:t>
            </a:r>
            <a:endPar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반영하는 자율 발주 및 재고 최적화 체계 구축.</a:t>
            </a:r>
            <a:endPar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p:txBody>
      </p:sp>
      <p:graphicFrame>
        <p:nvGraphicFramePr>
          <p:cNvPr id="5" name="표 4">
            <a:extLst>
              <a:ext uri="{FF2B5EF4-FFF2-40B4-BE49-F238E27FC236}">
                <a16:creationId xmlns:a16="http://schemas.microsoft.com/office/drawing/2014/main" id="{EB07BFE0-9E92-62CB-18E0-9461E8FA6336}"/>
              </a:ext>
            </a:extLst>
          </p:cNvPr>
          <p:cNvGraphicFramePr>
            <a:graphicFrameLocks noGrp="1"/>
          </p:cNvGraphicFramePr>
          <p:nvPr/>
        </p:nvGraphicFramePr>
        <p:xfrm>
          <a:off x="355727" y="1714205"/>
          <a:ext cx="12496673" cy="4896426"/>
        </p:xfrm>
        <a:graphic>
          <a:graphicData uri="http://schemas.openxmlformats.org/drawingml/2006/table">
            <a:tbl>
              <a:tblPr/>
              <a:tblGrid>
                <a:gridCol w="745821">
                  <a:extLst>
                    <a:ext uri="{9D8B030D-6E8A-4147-A177-3AD203B41FA5}">
                      <a16:colId xmlns:a16="http://schemas.microsoft.com/office/drawing/2014/main" val="2849626013"/>
                    </a:ext>
                  </a:extLst>
                </a:gridCol>
                <a:gridCol w="3808738">
                  <a:extLst>
                    <a:ext uri="{9D8B030D-6E8A-4147-A177-3AD203B41FA5}">
                      <a16:colId xmlns:a16="http://schemas.microsoft.com/office/drawing/2014/main" val="3246794898"/>
                    </a:ext>
                  </a:extLst>
                </a:gridCol>
                <a:gridCol w="2426420">
                  <a:extLst>
                    <a:ext uri="{9D8B030D-6E8A-4147-A177-3AD203B41FA5}">
                      <a16:colId xmlns:a16="http://schemas.microsoft.com/office/drawing/2014/main" val="1211390470"/>
                    </a:ext>
                  </a:extLst>
                </a:gridCol>
                <a:gridCol w="2426420">
                  <a:extLst>
                    <a:ext uri="{9D8B030D-6E8A-4147-A177-3AD203B41FA5}">
                      <a16:colId xmlns:a16="http://schemas.microsoft.com/office/drawing/2014/main" val="2383183421"/>
                    </a:ext>
                  </a:extLst>
                </a:gridCol>
                <a:gridCol w="304800">
                  <a:extLst>
                    <a:ext uri="{9D8B030D-6E8A-4147-A177-3AD203B41FA5}">
                      <a16:colId xmlns:a16="http://schemas.microsoft.com/office/drawing/2014/main" val="2007265071"/>
                    </a:ext>
                  </a:extLst>
                </a:gridCol>
                <a:gridCol w="2784474">
                  <a:extLst>
                    <a:ext uri="{9D8B030D-6E8A-4147-A177-3AD203B41FA5}">
                      <a16:colId xmlns:a16="http://schemas.microsoft.com/office/drawing/2014/main" val="1082217511"/>
                    </a:ext>
                  </a:extLst>
                </a:gridCol>
              </a:tblGrid>
              <a:tr h="219776">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DX</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94862131"/>
                  </a:ext>
                </a:extLst>
              </a:tr>
              <a:tr h="727991">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a:t>
                      </a:r>
                      <a:r>
                        <a:rPr lang="en-US"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[End-to-End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공급망 데이터 연동</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Tier 1 VDR</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의 생산</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재고 현황 및 이슈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화재</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사망</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노사갈등 등</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선박</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항공</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내륙 운송 실시간 위치</a:t>
                      </a:r>
                      <a:r>
                        <a:rPr lang="en-US" altLang="ko-KR" sz="900" dirty="0">
                          <a:solidFill>
                            <a:schemeClr val="tx1"/>
                          </a:solidFill>
                          <a:effectLst/>
                          <a:latin typeface="Hyundai Sans Text KR" panose="020B0600000101010101" pitchFamily="34" charset="-127"/>
                          <a:ea typeface="Hyundai Sans Text KR" panose="020B0600000101010101" pitchFamily="34" charset="-127"/>
                        </a:rPr>
                        <a:t>(GPS)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트래킹</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연동</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indent="0" algn="l">
                        <a:lnSpc>
                          <a:spcPct val="120000"/>
                        </a:lnSpc>
                        <a:spcBef>
                          <a:spcPts val="0"/>
                        </a:spcBef>
                        <a:spcAft>
                          <a:spcPts val="0"/>
                        </a:spcAft>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물류 공급 지연 리스크 데이터 수집</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b="0" i="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i="0" dirty="0">
                          <a:solidFill>
                            <a:schemeClr val="tx1"/>
                          </a:solidFill>
                          <a:effectLst/>
                          <a:latin typeface="Hyundai Sans Text KR" panose="020B0600000101010101" pitchFamily="34" charset="-127"/>
                          <a:ea typeface="Hyundai Sans Text KR" panose="020B0600000101010101" pitchFamily="34" charset="-127"/>
                        </a:rPr>
                        <a:t>글로벌</a:t>
                      </a:r>
                      <a:r>
                        <a:rPr lang="ko-KR" altLang="en-US" sz="900" b="0" i="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전쟁</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항만 파업</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기상 이변</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등</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indent="0" algn="l">
                        <a:lnSpc>
                          <a:spcPct val="120000"/>
                        </a:lnSpc>
                        <a:spcBef>
                          <a:spcPts val="0"/>
                        </a:spcBef>
                        <a:spcAft>
                          <a:spcPts val="0"/>
                        </a:spcAft>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영향으로 인한 물류 공급 지연 리스크 데이터 수집</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B2B EDI / API Gateway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협력사 연동</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IoT Tracking </a:t>
                      </a:r>
                    </a:p>
                    <a:p>
                      <a:pPr algn="l">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컨테이너</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팔레트 </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RFID, GPS)</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Web Crawler &amp; NLP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뉴스</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시황 수집</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Tier 1</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의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IT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인프라 부재 및 영업 기밀 유출 우려로 인한</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데이터 공유</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(Visibility)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기피 현상</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각 물류 노드별 데이터 실시간 연결망 구축 및 유지 비용</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비정형 데이터</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뉴스</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정책</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의 실시간 수집 어려움</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46573300"/>
                  </a:ext>
                </a:extLst>
              </a:tr>
              <a:tr h="776746">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글로벌 </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SCM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컨트롤 타워 통합 뷰 구축</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VDR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창고 ➔ 항만 ➔ 해상 ➔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CC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통합물류센터</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공장 창고 ➔ 라인 까지의 전 노드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(Node) /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데이터 정의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[BOM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기반 데이터 표준화</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각기 다른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VDR</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의 부품 번호를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완성차</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내부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BOM</a:t>
                      </a: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자재명세서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체계로 매핑 및 표준화</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Supply Chain Control Tower Platform</a:t>
                      </a:r>
                      <a:b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MDM (Master Data Management </a:t>
                      </a:r>
                    </a:p>
                    <a:p>
                      <a:pPr algn="l">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 BOM/</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자재 기준정보</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Data Lakehouse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글로벌 데이터 통합</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글로벌 부품 데이터 표준화 정책 기반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VDR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부품 데이터</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표준화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혹은 자동 매핑</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참여 필요</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26434180"/>
                  </a:ext>
                </a:extLst>
              </a:tr>
              <a:tr h="1244053">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리스크 기반 리드타임 </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(L/T)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예측</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운송 방식별 소요 기간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기상</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파업 등 리스크</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분석하여 부품별 도착 지연 확률 및 예상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L/T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산출</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다단계 재고 최적화 </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(MEIO)]</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각 물류 노드별 적정 안전 재고</a:t>
                      </a:r>
                      <a:r>
                        <a:rPr lang="en-US" altLang="ko-KR" sz="900" dirty="0">
                          <a:solidFill>
                            <a:schemeClr val="tx1"/>
                          </a:solidFill>
                          <a:effectLst/>
                          <a:latin typeface="Hyundai Sans Text KR" panose="020B0600000101010101" pitchFamily="34" charset="-127"/>
                          <a:ea typeface="Hyundai Sans Text KR" panose="020B0600000101010101" pitchFamily="34" charset="-127"/>
                        </a:rPr>
                        <a:t>(Safety Stock)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자율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계산 및 결품 위험도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산출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최적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발주량</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검토</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발주 및 소싱 대안 생성</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결품 예상 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최적의 추가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발주량</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계산 및 대안 경로</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예</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해상 운송 ➔ 항공 운송 전환</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시나리오 도출</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[What-If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시뮬레이션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예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글로벌 물류 공급 리스크 고려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수에즈 운하가 막혔을 때</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3</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주 뒤 조립 라인에 미치는 영향</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등 공급망 단절 시뮬레이션 제공</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Predictive AI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시계열 기반 </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L/T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지연 예측</a:t>
                      </a:r>
                      <a:b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Cognitive AI :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물류 공급 리스크</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분석</a:t>
                      </a:r>
                      <a:b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MEIO Solver : </a:t>
                      </a:r>
                      <a:r>
                        <a:rPr lang="ko-KR" altLang="en-US" sz="880" kern="1200" dirty="0">
                          <a:solidFill>
                            <a:schemeClr val="tx1"/>
                          </a:solidFill>
                          <a:effectLst/>
                          <a:latin typeface="Hyundai Sans Text KR" panose="020B0600000101010101" pitchFamily="34" charset="-127"/>
                          <a:ea typeface="Hyundai Sans Text KR" panose="020B0600000101010101" pitchFamily="34" charset="-127"/>
                          <a:cs typeface="+mn-cs"/>
                        </a:rPr>
                        <a:t>다단계 재고 최적화 알고리즘</a:t>
                      </a:r>
                      <a:b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Digital Twin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공급망 네트워크 시뮬레이션 </a:t>
                      </a: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(Supply Chain Network Design)</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지정학적 리스크나 관세 전쟁 같은 이슈에 따른</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물류 공급 영향도를 분석하는 모델을 만드는 것은 난해함</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작은 예측 오차가 공급망 전체로 증폭되는 채찍 효과</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(Bullwhip Effect)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통제</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980332924"/>
                  </a:ext>
                </a:extLst>
              </a:tr>
              <a:tr h="1069073">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발주</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(PO)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실행</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가 결정한 최적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발주량을</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ERP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시스템과 연동하여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VDR</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에게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구매 주문서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(PO)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자동 발행</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동적 물류 라우팅 지시</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긴급 부품에 대해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포워더</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물류사</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시스템에 운송 수단 변경</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해상➔항공</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지시 자동 하달</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사내 물류 긴급 투입</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결품 임박 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사내 창고의 안전 재고를 라인으로 즉시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투입하도록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AGV/</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지게차에 긴급 이송 지시</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물류 공급망 전환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글로벌 리스크 대응 위한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최적 대안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부품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VDR,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공급사</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제안</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ERP Integration (SAP, Oracle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등 연동</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RPA (Robotic Process Automation </a:t>
                      </a:r>
                    </a:p>
                    <a:p>
                      <a:pPr algn="l">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발주 자동화</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TMS </a:t>
                      </a:r>
                    </a:p>
                    <a:p>
                      <a:pPr algn="l">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(Transportation Management System)</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가 수십억 원 규모의 자율 발주나 값비싼 항공 운송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전환을 지시했을 때 발생하는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재무적</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책임</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(Liability)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및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권한 위임 문제</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VDR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및 물류사와의 계약 조건</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위약금 등</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자동 반영 한계</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684136130"/>
                  </a:ext>
                </a:extLst>
              </a:tr>
              <a:tr h="858787">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재고 최적화 및 자율 발주 자동 업데이트</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실제 공급 실적 기준 알고리즘 개선</a:t>
                      </a: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[VDR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신뢰도 지수 자동 업데이트</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계획된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L/T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대비 실제 도착 시간을 비교하여</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특정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VDR</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이나 물류 루트의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신뢰도 가중치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(Risk Score)'</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를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가 자동 업데이트</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err="1">
                          <a:solidFill>
                            <a:schemeClr val="tx1"/>
                          </a:solidFill>
                          <a:effectLst/>
                          <a:latin typeface="Hyundai Sans Text KR" panose="020B0600000101010101" pitchFamily="34" charset="-127"/>
                          <a:ea typeface="Hyundai Sans Text KR" panose="020B0600000101010101" pitchFamily="34" charset="-127"/>
                        </a:rPr>
                        <a:t>블랙스완</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이벤트 학습</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과거의 공급망 붕괴 사례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코로나</a:t>
                      </a:r>
                      <a:r>
                        <a:rPr lang="en-US" altLang="ko-KR" sz="900" dirty="0">
                          <a:solidFill>
                            <a:schemeClr val="tx1"/>
                          </a:solidFill>
                          <a:effectLst/>
                          <a:latin typeface="Hyundai Sans Text KR" panose="020B0600000101010101" pitchFamily="34" charset="-127"/>
                          <a:ea typeface="Hyundai Sans Text KR" panose="020B0600000101010101" pitchFamily="34" charset="-127"/>
                        </a:rPr>
                        <a:t>19,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전쟁 등</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발생 시의 수요</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공급 변동 패턴을 학습하여 위기 대응 모델 고도화</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900" kern="1200" dirty="0" err="1">
                          <a:solidFill>
                            <a:schemeClr val="tx1"/>
                          </a:solidFill>
                          <a:effectLst/>
                          <a:latin typeface="Hyundai Sans Text KR" panose="020B0600000101010101" pitchFamily="34" charset="-127"/>
                          <a:ea typeface="Hyundai Sans Text KR" panose="020B0600000101010101" pitchFamily="34" charset="-127"/>
                          <a:cs typeface="+mn-cs"/>
                        </a:rPr>
                        <a:t>MLOps</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예측 모델 지속 모니터링 및 배포</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Reinforcement Learning </a:t>
                      </a:r>
                    </a:p>
                    <a:p>
                      <a:pPr algn="l">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재고 정책 최적화 학습</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전쟁</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팬데믹 같은 극단적 위기</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(Black Swan)</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는 발생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빈도가 낮아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가 학습할 과거 데이터가 절대적으로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부족함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(Data Sparsity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문제</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endParaRPr lang="ko-KR" altLang="en-US"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48779735"/>
                  </a:ext>
                </a:extLst>
              </a:tr>
            </a:tbl>
          </a:graphicData>
        </a:graphic>
      </p:graphicFrame>
      <p:sp>
        <p:nvSpPr>
          <p:cNvPr id="6" name="직사각형 5">
            <a:extLst>
              <a:ext uri="{FF2B5EF4-FFF2-40B4-BE49-F238E27FC236}">
                <a16:creationId xmlns:a16="http://schemas.microsoft.com/office/drawing/2014/main" id="{4E1396E2-6488-A4AC-054E-22CEFAEA45ED}"/>
              </a:ext>
            </a:extLst>
          </p:cNvPr>
          <p:cNvSpPr/>
          <p:nvPr/>
        </p:nvSpPr>
        <p:spPr>
          <a:xfrm rot="20700000">
            <a:off x="2689412" y="3232570"/>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rPr>
              <a:t>Need to translate KR Ver later</a:t>
            </a:r>
            <a:endParaRPr kumimoji="0" lang="ko-KR" altLang="en-US"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endParaRPr>
          </a:p>
        </p:txBody>
      </p:sp>
    </p:spTree>
    <p:extLst>
      <p:ext uri="{BB962C8B-B14F-4D97-AF65-F5344CB8AC3E}">
        <p14:creationId xmlns:p14="http://schemas.microsoft.com/office/powerpoint/2010/main" val="2546315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9B8FD-8CF3-24CE-0981-2E54E46D62B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DAF56755-65EF-BE7C-9704-E74F1D719676}"/>
              </a:ext>
            </a:extLst>
          </p:cNvPr>
          <p:cNvSpPr>
            <a:spLocks noGrp="1"/>
          </p:cNvSpPr>
          <p:nvPr>
            <p:ph type="ctrTitle"/>
          </p:nvPr>
        </p:nvSpPr>
        <p:spPr>
          <a:xfrm>
            <a:off x="273048" y="179388"/>
            <a:ext cx="10394951"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③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robot teaching and calibration</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4D4E7E5-08B3-9191-3D88-7458CC3BDC8E}"/>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D0FCDF9E-4930-5194-03EC-636B063B33BF}"/>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607C6D78-4C70-FF08-172F-CDD5B31D7332}"/>
              </a:ext>
            </a:extLst>
          </p:cNvPr>
          <p:cNvSpPr txBox="1"/>
          <p:nvPr/>
        </p:nvSpPr>
        <p:spPr>
          <a:xfrm>
            <a:off x="338778" y="830362"/>
            <a:ext cx="8590044"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robot teaching / calibration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5A65A6D8-C381-B005-C496-9A4A3DA29126}"/>
              </a:ext>
            </a:extLst>
          </p:cNvPr>
          <p:cNvSpPr>
            <a:spLocks noChangeArrowheads="1"/>
          </p:cNvSpPr>
          <p:nvPr/>
        </p:nvSpPr>
        <p:spPr bwMode="auto">
          <a:xfrm>
            <a:off x="541148" y="1062392"/>
            <a:ext cx="9190336"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Achieve a "Teaching-less" factory through Digital Twin-based Virtual Commissioning (Sim-to-Real) and  establish</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an autonomous system that compensates for micro-tolerances of car bodies, parts, and equipment in real-time using edge vision and sensors.</a:t>
            </a:r>
          </a:p>
        </p:txBody>
      </p:sp>
      <p:graphicFrame>
        <p:nvGraphicFramePr>
          <p:cNvPr id="7" name="표 6">
            <a:extLst>
              <a:ext uri="{FF2B5EF4-FFF2-40B4-BE49-F238E27FC236}">
                <a16:creationId xmlns:a16="http://schemas.microsoft.com/office/drawing/2014/main" id="{1214516F-D1BE-D699-68CE-94109CFC5C0E}"/>
              </a:ext>
            </a:extLst>
          </p:cNvPr>
          <p:cNvGraphicFramePr>
            <a:graphicFrameLocks noGrp="1"/>
          </p:cNvGraphicFramePr>
          <p:nvPr/>
        </p:nvGraphicFramePr>
        <p:xfrm>
          <a:off x="418030" y="1569249"/>
          <a:ext cx="12679134" cy="5180401"/>
        </p:xfrm>
        <a:graphic>
          <a:graphicData uri="http://schemas.openxmlformats.org/drawingml/2006/table">
            <a:tbl>
              <a:tblPr/>
              <a:tblGrid>
                <a:gridCol w="758209">
                  <a:extLst>
                    <a:ext uri="{9D8B030D-6E8A-4147-A177-3AD203B41FA5}">
                      <a16:colId xmlns:a16="http://schemas.microsoft.com/office/drawing/2014/main" val="443115551"/>
                    </a:ext>
                  </a:extLst>
                </a:gridCol>
                <a:gridCol w="2896066">
                  <a:extLst>
                    <a:ext uri="{9D8B030D-6E8A-4147-A177-3AD203B41FA5}">
                      <a16:colId xmlns:a16="http://schemas.microsoft.com/office/drawing/2014/main" val="977350797"/>
                    </a:ext>
                  </a:extLst>
                </a:gridCol>
                <a:gridCol w="2896066">
                  <a:extLst>
                    <a:ext uri="{9D8B030D-6E8A-4147-A177-3AD203B41FA5}">
                      <a16:colId xmlns:a16="http://schemas.microsoft.com/office/drawing/2014/main" val="642123437"/>
                    </a:ext>
                  </a:extLst>
                </a:gridCol>
                <a:gridCol w="2896066">
                  <a:extLst>
                    <a:ext uri="{9D8B030D-6E8A-4147-A177-3AD203B41FA5}">
                      <a16:colId xmlns:a16="http://schemas.microsoft.com/office/drawing/2014/main" val="4245837861"/>
                    </a:ext>
                  </a:extLst>
                </a:gridCol>
                <a:gridCol w="155863">
                  <a:extLst>
                    <a:ext uri="{9D8B030D-6E8A-4147-A177-3AD203B41FA5}">
                      <a16:colId xmlns:a16="http://schemas.microsoft.com/office/drawing/2014/main" val="3595800298"/>
                    </a:ext>
                  </a:extLst>
                </a:gridCol>
                <a:gridCol w="3076864">
                  <a:extLst>
                    <a:ext uri="{9D8B030D-6E8A-4147-A177-3AD203B41FA5}">
                      <a16:colId xmlns:a16="http://schemas.microsoft.com/office/drawing/2014/main" val="437409975"/>
                    </a:ext>
                  </a:extLst>
                </a:gridCol>
              </a:tblGrid>
              <a:tr h="161797">
                <a:tc>
                  <a:txBody>
                    <a:bodyPr/>
                    <a:lstStyle/>
                    <a:p>
                      <a:pPr algn="ctr">
                        <a:buNone/>
                      </a:pPr>
                      <a:r>
                        <a:rPr lang="en-US" altLang="en-US" sz="800" b="1" i="0" kern="1200">
                          <a:solidFill>
                            <a:schemeClr val="tx1"/>
                          </a:solidFill>
                          <a:effectLst/>
                          <a:latin typeface="현대산스 Text" panose="020B0600000101010101" pitchFamily="50" charset="-127"/>
                          <a:ea typeface="현대산스 Text" panose="020B0600000101010101" pitchFamily="50" charset="-127"/>
                          <a:cs typeface="+mn-cs"/>
                        </a:rPr>
                        <a:t>Layer</a:t>
                      </a:r>
                      <a:endParaRPr lang="en-US" sz="8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a:buNone/>
                      </a:pPr>
                      <a:r>
                        <a:rPr lang="en-US" altLang="en-US" sz="72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3041"/>
                    </a:solidFill>
                  </a:tcPr>
                </a:tc>
                <a:tc>
                  <a:txBody>
                    <a:bodyPr/>
                    <a:lstStyle/>
                    <a:p>
                      <a:pPr algn="ctr">
                        <a:buNone/>
                      </a:pPr>
                      <a:r>
                        <a:rPr lang="en-US" altLang="en-US" sz="720" b="1" i="0" kern="1200">
                          <a:solidFill>
                            <a:schemeClr val="tx1"/>
                          </a:solidFill>
                          <a:effectLst/>
                          <a:latin typeface="현대산스 Text" panose="020B0600000101010101" pitchFamily="50" charset="-127"/>
                          <a:ea typeface="현대산스 Text" panose="020B0600000101010101" pitchFamily="50" charset="-127"/>
                          <a:cs typeface="+mn-cs"/>
                        </a:rPr>
                        <a:t>Required Skills – DS</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en-US" altLang="en-US" sz="720" b="1" i="0" kern="1200">
                          <a:solidFill>
                            <a:schemeClr val="tx1"/>
                          </a:solidFill>
                          <a:effectLst/>
                          <a:latin typeface="현대산스 Text" panose="020B0600000101010101" pitchFamily="50" charset="-127"/>
                          <a:ea typeface="현대산스 Text" panose="020B0600000101010101" pitchFamily="50" charset="-127"/>
                          <a:cs typeface="+mn-cs"/>
                        </a:rPr>
                        <a:t>Required Skills – Core R&amp;D</a:t>
                      </a:r>
                      <a:endPar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en-US" altLang="en-US" sz="720" b="1" i="0" kern="1200">
                          <a:solidFill>
                            <a:schemeClr val="tx1"/>
                          </a:solidFill>
                          <a:effectLst/>
                          <a:latin typeface="현대산스 Text" panose="020B0600000101010101" pitchFamily="50" charset="-127"/>
                          <a:ea typeface="현대산스 Text" panose="020B0600000101010101" pitchFamily="50" charset="-127"/>
                          <a:cs typeface="+mn-cs"/>
                        </a:rPr>
                        <a:t>Development Pain-point</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44578553"/>
                  </a:ext>
                </a:extLst>
              </a:tr>
              <a:tr h="1542668">
                <a:tc>
                  <a:txBody>
                    <a:bodyPr/>
                    <a:lstStyle/>
                    <a:p>
                      <a:pPr indent="0" algn="ctr">
                        <a:lnSpc>
                          <a:spcPct val="120000"/>
                        </a:lnSpc>
                        <a:spcBef>
                          <a:spcPts val="0"/>
                        </a:spcBef>
                        <a:spcAft>
                          <a:spcPts val="0"/>
                        </a:spcAft>
                        <a:buNone/>
                      </a:pPr>
                      <a:r>
                        <a:rPr lang="en-US" altLang="en-US" sz="800" b="1" i="0">
                          <a:effectLst/>
                          <a:latin typeface="현대산스 Text" panose="020B0600000101010101" pitchFamily="50" charset="-127"/>
                          <a:ea typeface="현대산스 Text" panose="020B0600000101010101" pitchFamily="50" charset="-127"/>
                        </a:rPr>
                        <a:t>Connectivity </a:t>
                      </a:r>
                    </a:p>
                    <a:p>
                      <a:pPr indent="0" algn="ctr">
                        <a:lnSpc>
                          <a:spcPct val="120000"/>
                        </a:lnSpc>
                        <a:spcBef>
                          <a:spcPts val="0"/>
                        </a:spcBef>
                        <a:spcAft>
                          <a:spcPts val="0"/>
                        </a:spcAft>
                        <a:buNone/>
                      </a:pPr>
                      <a:r>
                        <a:rPr lang="en-US" altLang="en-US" sz="800" b="1" i="0">
                          <a:effectLst/>
                          <a:latin typeface="현대산스 Text" panose="020B0600000101010101" pitchFamily="50" charset="-127"/>
                          <a:ea typeface="현대산스 Text" panose="020B0600000101010101" pitchFamily="50" charset="-127"/>
                        </a:rPr>
                        <a:t>Layer</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a:ea typeface="Hyundai Sans Text KR"/>
                        </a:rPr>
                        <a:t>[Data Interface and System Integration]</a:t>
                      </a:r>
                    </a:p>
                    <a:p>
                      <a:pPr>
                        <a:lnSpc>
                          <a:spcPct val="95000"/>
                        </a:lnSpc>
                        <a:buNone/>
                      </a:pPr>
                      <a:r>
                        <a:rPr lang="en-US" altLang="ko-KR" sz="800" b="1" kern="1200" dirty="0">
                          <a:solidFill>
                            <a:schemeClr val="tx1"/>
                          </a:solidFill>
                          <a:effectLst/>
                          <a:latin typeface="Hyundai Sans Text KR"/>
                          <a:ea typeface="Hyundai Sans Text KR"/>
                          <a:cs typeface="+mn-cs"/>
                        </a:rPr>
                        <a:t>(Step 1) </a:t>
                      </a:r>
                    </a:p>
                    <a:p>
                      <a:pPr>
                        <a:lnSpc>
                          <a:spcPct val="95000"/>
                        </a:lnSpc>
                        <a:buNone/>
                      </a:pPr>
                      <a:r>
                        <a:rPr lang="en-US" altLang="ko-KR" sz="800" b="0" kern="1200" dirty="0">
                          <a:solidFill>
                            <a:schemeClr val="tx1"/>
                          </a:solidFill>
                          <a:effectLst/>
                          <a:latin typeface="Hyundai Sans Text KR"/>
                          <a:ea typeface="Hyundai Sans Text KR"/>
                          <a:cs typeface="+mn-cs"/>
                        </a:rPr>
                        <a:t>• Establish Main equipment connectivity system &amp; field-virtual </a:t>
                      </a:r>
                    </a:p>
                    <a:p>
                      <a:pPr>
                        <a:lnSpc>
                          <a:spcPct val="95000"/>
                        </a:lnSpc>
                        <a:buNone/>
                      </a:pPr>
                      <a:r>
                        <a:rPr lang="en-US" altLang="ko-KR" sz="800" b="0" kern="1200" dirty="0">
                          <a:solidFill>
                            <a:schemeClr val="tx1"/>
                          </a:solidFill>
                          <a:effectLst/>
                          <a:latin typeface="Hyundai Sans Text KR"/>
                          <a:ea typeface="Hyundai Sans Text KR"/>
                          <a:cs typeface="+mn-cs"/>
                        </a:rPr>
                        <a:t>   basic data linkage  </a:t>
                      </a:r>
                    </a:p>
                    <a:p>
                      <a:pPr>
                        <a:lnSpc>
                          <a:spcPct val="95000"/>
                        </a:lnSpc>
                        <a:buNone/>
                      </a:pPr>
                      <a:r>
                        <a:rPr lang="en-US" altLang="ko-KR" sz="800" b="0" kern="1200" dirty="0">
                          <a:solidFill>
                            <a:schemeClr val="tx1"/>
                          </a:solidFill>
                          <a:effectLst/>
                          <a:latin typeface="Hyundai Sans Text KR"/>
                          <a:ea typeface="Hyundai Sans Text KR"/>
                          <a:cs typeface="+mn-cs"/>
                        </a:rPr>
                        <a:t>• Establish a manual and periodic data collection base for the </a:t>
                      </a:r>
                    </a:p>
                    <a:p>
                      <a:pPr>
                        <a:lnSpc>
                          <a:spcPct val="95000"/>
                        </a:lnSpc>
                        <a:buNone/>
                      </a:pPr>
                      <a:r>
                        <a:rPr lang="en-US" altLang="ko-KR" sz="800" b="0" kern="1200" dirty="0">
                          <a:solidFill>
                            <a:schemeClr val="tx1"/>
                          </a:solidFill>
                          <a:effectLst/>
                          <a:latin typeface="Hyundai Sans Text KR"/>
                          <a:ea typeface="Hyundai Sans Text KR"/>
                          <a:cs typeface="+mn-cs"/>
                        </a:rPr>
                        <a:t>  site</a:t>
                      </a:r>
                      <a:endParaRPr lang="ko-KR" altLang="en-US" sz="800" b="0" kern="1200" dirty="0">
                        <a:solidFill>
                          <a:schemeClr val="tx1"/>
                        </a:solidFill>
                        <a:effectLst/>
                        <a:latin typeface="Hyundai Sans Text KR"/>
                        <a:ea typeface="Hyundai Sans Text KR"/>
                        <a:cs typeface="+mn-cs"/>
                      </a:endParaRPr>
                    </a:p>
                    <a:p>
                      <a:pPr>
                        <a:lnSpc>
                          <a:spcPct val="95000"/>
                        </a:lnSpc>
                        <a:buNone/>
                      </a:pPr>
                      <a:r>
                        <a:rPr lang="en-US" altLang="ko-KR" sz="800" b="1" dirty="0">
                          <a:effectLst/>
                          <a:latin typeface="Hyundai Sans Text KR"/>
                          <a:ea typeface="Hyundai Sans Text KR"/>
                        </a:rPr>
                        <a:t>(Step 2)</a:t>
                      </a:r>
                    </a:p>
                    <a:p>
                      <a:pPr>
                        <a:lnSpc>
                          <a:spcPct val="95000"/>
                        </a:lnSpc>
                        <a:buNone/>
                      </a:pPr>
                      <a:r>
                        <a:rPr lang="en-US" altLang="ko-KR" sz="800" b="0" dirty="0">
                          <a:effectLst/>
                          <a:latin typeface="Hyundai Sans Text KR"/>
                          <a:ea typeface="Hyundai Sans Text KR"/>
                        </a:rPr>
                        <a:t>• Establish an automated data collection &amp; connectivity system </a:t>
                      </a:r>
                    </a:p>
                    <a:p>
                      <a:pPr>
                        <a:lnSpc>
                          <a:spcPct val="95000"/>
                        </a:lnSpc>
                        <a:buNone/>
                      </a:pPr>
                      <a:r>
                        <a:rPr lang="en-US" altLang="ko-KR" sz="800" b="0" dirty="0">
                          <a:effectLst/>
                          <a:latin typeface="Hyundai Sans Text KR"/>
                          <a:ea typeface="Hyundai Sans Text KR"/>
                        </a:rPr>
                        <a:t>   for site operations</a:t>
                      </a:r>
                    </a:p>
                    <a:p>
                      <a:pPr>
                        <a:lnSpc>
                          <a:spcPct val="95000"/>
                        </a:lnSpc>
                        <a:buNone/>
                      </a:pPr>
                      <a:r>
                        <a:rPr lang="en-US" altLang="ko-KR" sz="800" kern="1200" dirty="0">
                          <a:solidFill>
                            <a:schemeClr val="tx1"/>
                          </a:solidFill>
                          <a:effectLst/>
                          <a:latin typeface="Hyundai Sans Text KR"/>
                          <a:ea typeface="Hyundai Sans Text KR"/>
                          <a:cs typeface="+mn-cs"/>
                        </a:rPr>
                        <a:t>• Build a closed-loop linkage environment for mutual reflection </a:t>
                      </a:r>
                    </a:p>
                    <a:p>
                      <a:pPr>
                        <a:lnSpc>
                          <a:spcPct val="95000"/>
                        </a:lnSpc>
                        <a:buNone/>
                      </a:pPr>
                      <a:r>
                        <a:rPr lang="en-US" altLang="ko-KR" sz="800" kern="1200" dirty="0">
                          <a:solidFill>
                            <a:schemeClr val="tx1"/>
                          </a:solidFill>
                          <a:effectLst/>
                          <a:latin typeface="Hyundai Sans Text KR"/>
                          <a:ea typeface="Hyundai Sans Text KR"/>
                          <a:cs typeface="+mn-cs"/>
                        </a:rPr>
                        <a:t>   of real-virtual data</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a:lnSpc>
                          <a:spcPct val="95000"/>
                        </a:lnSpc>
                        <a:buNone/>
                      </a:pPr>
                      <a:r>
                        <a:rPr lang="en-US" sz="800" b="1" dirty="0">
                          <a:latin typeface="Hyundai Sans Text KR"/>
                          <a:ea typeface="Hyundai Sans Text KR"/>
                        </a:rPr>
                        <a:t>[Integrated Connectivity Platform Technology]</a:t>
                      </a:r>
                      <a:endParaRPr lang="en-US" sz="800" dirty="0">
                        <a:latin typeface="Hyundai Sans Text KR"/>
                        <a:ea typeface="Hyundai Sans Text KR"/>
                      </a:endParaRPr>
                    </a:p>
                    <a:p>
                      <a:pPr marL="0" lvl="0" indent="0">
                        <a:lnSpc>
                          <a:spcPct val="95000"/>
                        </a:lnSpc>
                        <a:buFont typeface="Arial"/>
                        <a:buChar char="•"/>
                      </a:pPr>
                      <a:r>
                        <a:rPr lang="en-US" sz="800" dirty="0">
                          <a:latin typeface="Hyundai Sans Text KR"/>
                          <a:ea typeface="Hyundai Sans Text KR"/>
                        </a:rPr>
                        <a:t> Upper System-Site Data Link Structure Technology</a:t>
                      </a:r>
                    </a:p>
                    <a:p>
                      <a:pPr marL="0" lvl="0" indent="0">
                        <a:lnSpc>
                          <a:spcPct val="95000"/>
                        </a:lnSpc>
                        <a:buNone/>
                      </a:pPr>
                      <a:r>
                        <a:rPr lang="en-US" sz="800" b="0" i="0" u="none" strike="noStrike" noProof="0" dirty="0">
                          <a:solidFill>
                            <a:srgbClr val="000000"/>
                          </a:solidFill>
                          <a:effectLst/>
                          <a:latin typeface="Hyundai Sans Text KR"/>
                          <a:ea typeface="Hyundai Sans Text KR"/>
                        </a:rPr>
                        <a:t>  (Aligned with ERP/MES, Legacy, SDF-based)</a:t>
                      </a:r>
                      <a:endParaRPr lang="en-US" sz="800" b="0" i="0" u="none" strike="noStrike" noProof="0" dirty="0">
                        <a:solidFill>
                          <a:srgbClr val="000000"/>
                        </a:solidFill>
                        <a:effectLst/>
                        <a:latin typeface="Hyundai Sans Text KR"/>
                      </a:endParaRPr>
                    </a:p>
                    <a:p>
                      <a:pPr marL="0" lvl="0" indent="0">
                        <a:lnSpc>
                          <a:spcPct val="95000"/>
                        </a:lnSpc>
                        <a:buFont typeface="Arial"/>
                        <a:buChar char="•"/>
                      </a:pPr>
                      <a:r>
                        <a:rPr lang="en-US" sz="800" b="0" i="0" u="none" strike="noStrike" noProof="0" dirty="0">
                          <a:solidFill>
                            <a:srgbClr val="000000"/>
                          </a:solidFill>
                          <a:effectLst/>
                          <a:latin typeface="Hyundai Sans Text KR"/>
                          <a:ea typeface="Hyundai Sans Text KR"/>
                        </a:rPr>
                        <a:t> </a:t>
                      </a:r>
                      <a:r>
                        <a:rPr lang="en-US" sz="800" b="0" i="0" u="none" strike="noStrike" noProof="0" dirty="0" err="1">
                          <a:solidFill>
                            <a:srgbClr val="000000"/>
                          </a:solidFill>
                          <a:effectLst/>
                          <a:latin typeface="Hyundai Sans Text KR"/>
                          <a:ea typeface="Hyundai Sans Text KR"/>
                        </a:rPr>
                        <a:t>IIoT</a:t>
                      </a:r>
                      <a:r>
                        <a:rPr lang="en-US" sz="800" b="0" i="0" u="none" strike="noStrike" noProof="0" dirty="0">
                          <a:solidFill>
                            <a:srgbClr val="000000"/>
                          </a:solidFill>
                          <a:effectLst/>
                          <a:latin typeface="Hyundai Sans Text KR"/>
                          <a:ea typeface="Hyundai Sans Text KR"/>
                        </a:rPr>
                        <a:t>-Based Data Integration for Heterogeneous Equipment </a:t>
                      </a:r>
                    </a:p>
                    <a:p>
                      <a:pPr marL="0" lvl="0" indent="0">
                        <a:lnSpc>
                          <a:spcPct val="95000"/>
                        </a:lnSpc>
                        <a:buFont typeface="Arial"/>
                        <a:buNone/>
                      </a:pPr>
                      <a:r>
                        <a:rPr lang="en-US" sz="800" b="0" i="0" u="none" strike="noStrike" noProof="0" dirty="0">
                          <a:solidFill>
                            <a:srgbClr val="000000"/>
                          </a:solidFill>
                          <a:effectLst/>
                          <a:latin typeface="Hyundai Sans Text KR"/>
                          <a:ea typeface="Hyundai Sans Text KR"/>
                        </a:rPr>
                        <a:t>  (</a:t>
                      </a:r>
                      <a:r>
                        <a:rPr lang="en-US" sz="800" dirty="0">
                          <a:latin typeface="Hyundai Sans Text KR"/>
                          <a:ea typeface="Hyundai Sans Text KR"/>
                        </a:rPr>
                        <a:t>Robot, PLC, Vision, Sensor, Gripper)</a:t>
                      </a:r>
                      <a:endParaRPr lang="en-US" sz="800" b="0" i="0" u="none" strike="noStrike" noProof="0" dirty="0">
                        <a:solidFill>
                          <a:srgbClr val="000000"/>
                        </a:solidFill>
                        <a:effectLst/>
                        <a:latin typeface="Hyundai Sans Text KR"/>
                      </a:endParaRPr>
                    </a:p>
                    <a:p>
                      <a:pPr marL="0" lvl="0" indent="0">
                        <a:lnSpc>
                          <a:spcPct val="95000"/>
                        </a:lnSpc>
                        <a:buFont typeface="Arial"/>
                        <a:buChar char="•"/>
                      </a:pPr>
                      <a:r>
                        <a:rPr lang="en-US" sz="800" dirty="0">
                          <a:latin typeface="Hyundai Sans Text KR"/>
                          <a:ea typeface="Hyundai Sans Text KR"/>
                        </a:rPr>
                        <a:t> Edge-Native Real-Time Data Integration &amp; Deployment </a:t>
                      </a:r>
                    </a:p>
                    <a:p>
                      <a:pPr marL="0" lvl="0" indent="0">
                        <a:lnSpc>
                          <a:spcPct val="95000"/>
                        </a:lnSpc>
                        <a:buFont typeface="Arial"/>
                        <a:buNone/>
                      </a:pPr>
                      <a:r>
                        <a:rPr lang="en-US" sz="800" dirty="0">
                          <a:latin typeface="Hyundai Sans Text KR"/>
                          <a:ea typeface="Hyundai Sans Text KR"/>
                        </a:rPr>
                        <a:t>  (Edge Computing, Real-time Data Collection)</a:t>
                      </a:r>
                      <a:endParaRPr lang="en-US" sz="800" b="0" i="0" u="none" strike="noStrike" noProof="0" dirty="0">
                        <a:solidFill>
                          <a:srgbClr val="000000"/>
                        </a:solidFill>
                        <a:effectLst/>
                        <a:latin typeface="Hyundai Sans Text KR"/>
                      </a:endParaRPr>
                    </a:p>
                    <a:p>
                      <a:pPr marL="0" lvl="0" indent="0">
                        <a:lnSpc>
                          <a:spcPct val="95000"/>
                        </a:lnSpc>
                        <a:buFont typeface="Arial"/>
                        <a:buChar char="•"/>
                      </a:pPr>
                      <a:r>
                        <a:rPr lang="en-US" sz="800" dirty="0">
                          <a:latin typeface="Hyundai Sans Text KR"/>
                          <a:ea typeface="Hyundai Sans Text KR"/>
                        </a:rPr>
                        <a:t> Operations and data monitoring technology</a:t>
                      </a: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en-US" altLang="ko-KR" sz="800">
                          <a:latin typeface="Hyundai Sans Text KR"/>
                          <a:ea typeface="Hyundai Sans Text KR"/>
                        </a:rPr>
                        <a:t>• Difficulty of standardization of Data structure between the upper system and the field system</a:t>
                      </a:r>
                    </a:p>
                    <a:p>
                      <a:pPr>
                        <a:lnSpc>
                          <a:spcPct val="95000"/>
                        </a:lnSpc>
                        <a:buNone/>
                      </a:pPr>
                      <a:r>
                        <a:rPr lang="en-US" sz="800">
                          <a:latin typeface="Hyundai Sans Text KR"/>
                          <a:ea typeface="Hyundai Sans Text KR"/>
                        </a:rPr>
                        <a:t>• Lack of standard interfaces bet. equipment</a:t>
                      </a:r>
                      <a:endParaRPr lang="en-US" altLang="ko-KR" sz="800">
                        <a:latin typeface="Hyundai Sans Text KR"/>
                        <a:ea typeface="Hyundai Sans Text KR"/>
                      </a:endParaRPr>
                    </a:p>
                    <a:p>
                      <a:pPr>
                        <a:lnSpc>
                          <a:spcPct val="95000"/>
                        </a:lnSpc>
                        <a:buNone/>
                      </a:pPr>
                      <a:r>
                        <a:rPr lang="en-US" sz="800">
                          <a:latin typeface="Hyundai Sans Text KR"/>
                          <a:ea typeface="Hyundai Sans Text KR"/>
                        </a:rPr>
                        <a:t>• Complexity of Heterogeneous Equipment connectivity</a:t>
                      </a:r>
                      <a:endParaRPr lang="en-US" altLang="ko-KR" sz="800">
                        <a:latin typeface="Hyundai Sans Text KR"/>
                        <a:ea typeface="Hyundai Sans Text KR"/>
                      </a:endParaRPr>
                    </a:p>
                    <a:p>
                      <a:pPr>
                        <a:lnSpc>
                          <a:spcPct val="95000"/>
                        </a:lnSpc>
                        <a:buNone/>
                      </a:pPr>
                      <a:r>
                        <a:rPr lang="en-US" sz="800">
                          <a:latin typeface="Hyundai Sans Text KR"/>
                          <a:ea typeface="Hyundai Sans Text KR"/>
                        </a:rPr>
                        <a:t>• Difficulty in real-time data synchronization</a:t>
                      </a:r>
                      <a:endParaRPr lang="en-US" altLang="ko-KR" sz="800">
                        <a:latin typeface="Hyundai Sans Text KR"/>
                        <a:ea typeface="Hyundai Sans Text KR"/>
                      </a:endParaRPr>
                    </a:p>
                    <a:p>
                      <a:pPr>
                        <a:lnSpc>
                          <a:spcPct val="95000"/>
                        </a:lnSpc>
                        <a:buNone/>
                      </a:pPr>
                      <a:r>
                        <a:rPr lang="en-US" sz="800">
                          <a:latin typeface="Hyundai Sans Text KR"/>
                          <a:ea typeface="Hyundai Sans Text KR"/>
                        </a:rPr>
                        <a:t>• Lack of data linkage status and history management</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5739541"/>
                  </a:ext>
                </a:extLst>
              </a:tr>
              <a:tr h="1558194">
                <a:tc>
                  <a:txBody>
                    <a:bodyPr/>
                    <a:lstStyle/>
                    <a:p>
                      <a:pPr indent="0" algn="ctr">
                        <a:lnSpc>
                          <a:spcPct val="120000"/>
                        </a:lnSpc>
                        <a:spcBef>
                          <a:spcPts val="0"/>
                        </a:spcBef>
                        <a:spcAft>
                          <a:spcPts val="0"/>
                        </a:spcAft>
                        <a:buNone/>
                      </a:pPr>
                      <a:r>
                        <a:rPr lang="en-US" altLang="en-US" sz="800" b="1" i="0">
                          <a:effectLst/>
                          <a:latin typeface="현대산스 Text"/>
                          <a:ea typeface="현대산스 Text" panose="020B0600000101010101" pitchFamily="50" charset="-127"/>
                        </a:rPr>
                        <a:t>Data Layer</a:t>
                      </a:r>
                      <a:br>
                        <a:rPr lang="en-US" sz="800"/>
                      </a:br>
                      <a:r>
                        <a:rPr lang="en-US" altLang="ko-KR" sz="800" b="0" i="0" kern="1200">
                          <a:solidFill>
                            <a:schemeClr val="tx1">
                              <a:lumMod val="50000"/>
                              <a:lumOff val="50000"/>
                            </a:schemeClr>
                          </a:solidFill>
                          <a:effectLst/>
                          <a:latin typeface="현대산스 Text"/>
                          <a:ea typeface="현대산스 Text" panose="020B0600000101010101" pitchFamily="50" charset="-127"/>
                          <a:cs typeface="+mn-cs"/>
                        </a:rPr>
                        <a:t> </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a:ea typeface="Hyundai Sans Text KR"/>
                        </a:rPr>
                        <a:t>[Reality-Virtual Alignment and Calibration]</a:t>
                      </a:r>
                      <a:br>
                        <a:rPr lang="en-US" sz="800" dirty="0">
                          <a:latin typeface="Hyundai Sans Text KR"/>
                        </a:rPr>
                      </a:br>
                      <a:r>
                        <a:rPr lang="en-US" altLang="ko-KR" sz="800" b="1" dirty="0">
                          <a:effectLst/>
                          <a:latin typeface="Hyundai Sans Text KR"/>
                          <a:ea typeface="Hyundai Sans Text KR"/>
                        </a:rPr>
                        <a:t>(Step 1) </a:t>
                      </a:r>
                    </a:p>
                    <a:p>
                      <a:pPr>
                        <a:lnSpc>
                          <a:spcPct val="95000"/>
                        </a:lnSpc>
                        <a:buNone/>
                      </a:pPr>
                      <a:r>
                        <a:rPr lang="en-US" altLang="ko-KR" sz="800" b="0" dirty="0">
                          <a:effectLst/>
                          <a:latin typeface="Hyundai Sans Text KR"/>
                          <a:ea typeface="Hyundai Sans Text KR"/>
                        </a:rPr>
                        <a:t>• CAD-Real Scan Data-Based Manual Alignment and </a:t>
                      </a:r>
                    </a:p>
                    <a:p>
                      <a:pPr>
                        <a:lnSpc>
                          <a:spcPct val="95000"/>
                        </a:lnSpc>
                        <a:buNone/>
                      </a:pPr>
                      <a:r>
                        <a:rPr lang="en-US" altLang="ko-KR" sz="800" b="0" dirty="0">
                          <a:effectLst/>
                          <a:latin typeface="Hyundai Sans Text KR"/>
                          <a:ea typeface="Hyundai Sans Text KR"/>
                        </a:rPr>
                        <a:t>   Model/Library Construction </a:t>
                      </a:r>
                    </a:p>
                    <a:p>
                      <a:pPr>
                        <a:lnSpc>
                          <a:spcPct val="95000"/>
                        </a:lnSpc>
                        <a:buNone/>
                      </a:pPr>
                      <a:r>
                        <a:rPr lang="en-US" altLang="ko-KR" sz="800" dirty="0">
                          <a:effectLst/>
                          <a:latin typeface="Hyundai Sans Text KR"/>
                          <a:ea typeface="Hyundai Sans Text KR"/>
                        </a:rPr>
                        <a:t>• Real-Virtual Reference Coordinate Manual Matching &amp;   </a:t>
                      </a:r>
                    </a:p>
                    <a:p>
                      <a:pPr>
                        <a:lnSpc>
                          <a:spcPct val="95000"/>
                        </a:lnSpc>
                        <a:buNone/>
                      </a:pPr>
                      <a:r>
                        <a:rPr lang="en-US" altLang="ko-KR" sz="800" dirty="0">
                          <a:effectLst/>
                          <a:latin typeface="Hyundai Sans Text KR"/>
                          <a:ea typeface="Hyundai Sans Text KR"/>
                        </a:rPr>
                        <a:t>   Calibration History Management</a:t>
                      </a:r>
                    </a:p>
                    <a:p>
                      <a:pPr>
                        <a:lnSpc>
                          <a:spcPct val="95000"/>
                        </a:lnSpc>
                        <a:buNone/>
                      </a:pPr>
                      <a:r>
                        <a:rPr lang="en-US" altLang="ko-KR" sz="800" b="1" dirty="0">
                          <a:effectLst/>
                          <a:latin typeface="Hyundai Sans Text KR"/>
                          <a:ea typeface="Hyundai Sans Text KR"/>
                        </a:rPr>
                        <a:t>(Step 2) </a:t>
                      </a:r>
                    </a:p>
                    <a:p>
                      <a:pPr>
                        <a:lnSpc>
                          <a:spcPct val="95000"/>
                        </a:lnSpc>
                        <a:buNone/>
                      </a:pPr>
                      <a:r>
                        <a:rPr lang="en-US" altLang="ko-KR" sz="800" b="0" dirty="0">
                          <a:effectLst/>
                          <a:latin typeface="Hyundai Sans Text KR"/>
                          <a:ea typeface="Hyundai Sans Text KR"/>
                        </a:rPr>
                        <a:t>• Build Sim-Ready Asset Data for Deformed Parts</a:t>
                      </a:r>
                      <a:r>
                        <a:rPr lang="en-US" altLang="ko-KR" sz="800" dirty="0">
                          <a:effectLst/>
                          <a:latin typeface="Hyundai Sans Text KR"/>
                          <a:ea typeface="Hyundai Sans Text KR"/>
                        </a:rPr>
                        <a:t> </a:t>
                      </a:r>
                    </a:p>
                    <a:p>
                      <a:pPr>
                        <a:lnSpc>
                          <a:spcPct val="95000"/>
                        </a:lnSpc>
                        <a:buNone/>
                      </a:pPr>
                      <a:r>
                        <a:rPr lang="en-US" altLang="ko-KR" sz="800" dirty="0">
                          <a:effectLst/>
                          <a:latin typeface="Hyundai Sans Text KR"/>
                          <a:ea typeface="Hyundai Sans Text KR"/>
                        </a:rPr>
                        <a:t>• Automatic alignment and calibration based on reference </a:t>
                      </a:r>
                    </a:p>
                    <a:p>
                      <a:pPr>
                        <a:lnSpc>
                          <a:spcPct val="95000"/>
                        </a:lnSpc>
                        <a:buNone/>
                      </a:pPr>
                      <a:r>
                        <a:rPr lang="en-US" altLang="ko-KR" sz="800" dirty="0">
                          <a:effectLst/>
                          <a:latin typeface="Hyundai Sans Text KR"/>
                          <a:ea typeface="Hyundai Sans Text KR"/>
                        </a:rPr>
                        <a:t>   coordinates and CAD-scan data</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nSpc>
                          <a:spcPct val="95000"/>
                        </a:lnSpc>
                        <a:buNone/>
                      </a:pPr>
                      <a:r>
                        <a:rPr lang="en-US" sz="800" b="1" i="0" u="none" strike="noStrike" noProof="0" dirty="0">
                          <a:solidFill>
                            <a:srgbClr val="000000"/>
                          </a:solidFill>
                          <a:effectLst/>
                          <a:latin typeface="Hyundai Sans Text KR"/>
                          <a:ea typeface="Hyundai Sans Text KR"/>
                        </a:rPr>
                        <a:t>[Data Integrity &amp; Digital Consistency Technologies]</a:t>
                      </a:r>
                      <a:endParaRPr lang="en-US" sz="800" b="0" i="0" u="none" strike="noStrike" noProof="0" dirty="0">
                        <a:solidFill>
                          <a:srgbClr val="000000"/>
                        </a:solidFill>
                        <a:effectLst/>
                        <a:latin typeface="Hyundai Sans Text KR"/>
                        <a:ea typeface="Hyundai Sans Text KR"/>
                      </a:endParaRPr>
                    </a:p>
                    <a:p>
                      <a:pPr lvl="0">
                        <a:lnSpc>
                          <a:spcPct val="95000"/>
                        </a:lnSpc>
                        <a:buNone/>
                      </a:pPr>
                      <a:endParaRPr lang="en-US" sz="800" b="0" i="0" u="none" strike="noStrike" noProof="0" dirty="0">
                        <a:solidFill>
                          <a:srgbClr val="000000"/>
                        </a:solidFill>
                        <a:effectLst/>
                        <a:latin typeface="Hyundai Sans Text KR"/>
                        <a:ea typeface="Hyundai Sans Text KR"/>
                      </a:endParaRPr>
                    </a:p>
                    <a:p>
                      <a:pPr marL="0" lvl="0" indent="0">
                        <a:lnSpc>
                          <a:spcPct val="95000"/>
                        </a:lnSpc>
                        <a:buFont typeface="Arial"/>
                        <a:buChar char="•"/>
                      </a:pPr>
                      <a:r>
                        <a:rPr lang="en-US" sz="800" b="0" i="0" u="none" strike="noStrike" noProof="0" dirty="0">
                          <a:solidFill>
                            <a:srgbClr val="000000"/>
                          </a:solidFill>
                          <a:effectLst/>
                          <a:latin typeface="Hyundai Sans Text KR"/>
                          <a:ea typeface="Hyundai Sans Text KR"/>
                        </a:rPr>
                        <a:t> Integrated Data Management Platform Technology </a:t>
                      </a:r>
                    </a:p>
                    <a:p>
                      <a:pPr marL="0" lvl="0" indent="0">
                        <a:lnSpc>
                          <a:spcPct val="95000"/>
                        </a:lnSpc>
                        <a:buFont typeface="Arial"/>
                        <a:buNone/>
                      </a:pPr>
                      <a:r>
                        <a:rPr lang="en-US" sz="800" b="0" i="0" u="none" strike="noStrike" noProof="0" dirty="0">
                          <a:solidFill>
                            <a:srgbClr val="000000"/>
                          </a:solidFill>
                          <a:effectLst/>
                          <a:latin typeface="Hyundai Sans Text KR"/>
                          <a:ea typeface="Hyundai Sans Text KR"/>
                        </a:rPr>
                        <a:t>   (Data Lake · Data Platform)</a:t>
                      </a:r>
                      <a:endParaRPr lang="en-US" dirty="0"/>
                    </a:p>
                    <a:p>
                      <a:pPr marL="0" lvl="0" indent="0">
                        <a:lnSpc>
                          <a:spcPct val="95000"/>
                        </a:lnSpc>
                        <a:buFont typeface="Arial"/>
                        <a:buChar char="•"/>
                      </a:pPr>
                      <a:r>
                        <a:rPr lang="en-US" sz="800" b="0" i="0" u="none" strike="noStrike" noProof="0" dirty="0">
                          <a:solidFill>
                            <a:srgbClr val="000000"/>
                          </a:solidFill>
                          <a:effectLst/>
                          <a:latin typeface="Hyundai Sans Text KR"/>
                          <a:ea typeface="Hyundai Sans Text KR"/>
                        </a:rPr>
                        <a:t> Digital Twin-linked Digital Asset Management Technology</a:t>
                      </a:r>
                      <a:endParaRPr lang="en-US" dirty="0"/>
                    </a:p>
                    <a:p>
                      <a:pPr marL="0" lvl="0" indent="0">
                        <a:lnSpc>
                          <a:spcPct val="95000"/>
                        </a:lnSpc>
                        <a:buFont typeface="Arial"/>
                        <a:buChar char="•"/>
                      </a:pPr>
                      <a:r>
                        <a:rPr lang="en-US" sz="800" b="0" i="0" u="none" strike="noStrike" noProof="0" dirty="0">
                          <a:solidFill>
                            <a:srgbClr val="000000"/>
                          </a:solidFill>
                          <a:effectLst/>
                          <a:latin typeface="Hyundai Sans Text KR"/>
                          <a:ea typeface="Hyundai Sans Text KR"/>
                        </a:rPr>
                        <a:t> Deformed Part Shape/Physical property Modeling and </a:t>
                      </a:r>
                    </a:p>
                    <a:p>
                      <a:pPr marL="0" lvl="0" indent="0">
                        <a:lnSpc>
                          <a:spcPct val="95000"/>
                        </a:lnSpc>
                        <a:buFont typeface="Arial"/>
                        <a:buNone/>
                      </a:pPr>
                      <a:r>
                        <a:rPr lang="en-US" sz="800" b="0" i="0" u="none" strike="noStrike" noProof="0" dirty="0">
                          <a:solidFill>
                            <a:srgbClr val="000000"/>
                          </a:solidFill>
                          <a:effectLst/>
                          <a:latin typeface="Hyundai Sans Text KR"/>
                          <a:ea typeface="Hyundai Sans Text KR"/>
                        </a:rPr>
                        <a:t>   Sim-Ready Asset Technology</a:t>
                      </a:r>
                      <a:endParaRPr lang="en-US" dirty="0"/>
                    </a:p>
                    <a:p>
                      <a:pPr marL="0" lvl="0" indent="0">
                        <a:lnSpc>
                          <a:spcPct val="95000"/>
                        </a:lnSpc>
                        <a:buFont typeface="Arial"/>
                        <a:buChar char="•"/>
                      </a:pPr>
                      <a:r>
                        <a:rPr lang="en-US" sz="800" b="0" i="0" u="none" strike="noStrike" noProof="0" dirty="0">
                          <a:solidFill>
                            <a:srgbClr val="000000"/>
                          </a:solidFill>
                          <a:effectLst/>
                          <a:latin typeface="Hyundai Sans Text KR"/>
                          <a:ea typeface="Hyundai Sans Text KR"/>
                        </a:rPr>
                        <a:t> integrity Quality Assessment and Verification Technology</a:t>
                      </a:r>
                      <a:endParaRPr lang="en-US" dirty="0"/>
                    </a:p>
                    <a:p>
                      <a:pPr lvl="0">
                        <a:lnSpc>
                          <a:spcPct val="95000"/>
                        </a:lnSpc>
                        <a:buNone/>
                      </a:pPr>
                      <a:endParaRPr lang="en-US" sz="800" b="1" dirty="0">
                        <a:effectLst/>
                        <a:latin typeface="Hyundai Sans Text KR"/>
                        <a:ea typeface="Hyundai Sans Text KR"/>
                      </a:endParaRP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nSpc>
                          <a:spcPct val="95000"/>
                        </a:lnSpc>
                        <a:buNone/>
                      </a:pPr>
                      <a:r>
                        <a:rPr lang="en-US" altLang="ko-KR" sz="800" b="1" i="0" u="none" strike="noStrike" noProof="0" dirty="0">
                          <a:solidFill>
                            <a:srgbClr val="000000"/>
                          </a:solidFill>
                          <a:effectLst/>
                          <a:latin typeface="Hyundai Sans Text KR"/>
                          <a:ea typeface="Hyundai Sans Text KR"/>
                        </a:rPr>
                        <a:t>[Data Integrity &amp; Digital Consistency Technologies]</a:t>
                      </a:r>
                      <a:endParaRPr lang="en-US" altLang="ko-KR" sz="800" b="0" i="0" u="none" strike="noStrike" noProof="0" dirty="0">
                        <a:solidFill>
                          <a:srgbClr val="000000"/>
                        </a:solidFill>
                        <a:effectLst/>
                        <a:latin typeface="Hyundai Sans Text KR"/>
                        <a:ea typeface="Hyundai Sans Text KR"/>
                      </a:endParaRPr>
                    </a:p>
                    <a:p>
                      <a:pPr marL="0" lvl="0" indent="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CAD-Scan Alignment and Reality-Virtual Calibration </a:t>
                      </a:r>
                    </a:p>
                    <a:p>
                      <a:pPr marL="0" lvl="0" indent="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a:t>
                      </a:r>
                      <a:endParaRPr lang="ko-KR" altLang="en-US" sz="800" b="0" i="0" u="none" strike="noStrike" noProof="0" dirty="0">
                        <a:solidFill>
                          <a:srgbClr val="000000"/>
                        </a:solidFill>
                        <a:effectLst/>
                        <a:latin typeface="Hyundai Sans Text KR"/>
                        <a:ea typeface="Hyundai Sans Text KR"/>
                      </a:endParaRPr>
                    </a:p>
                    <a:p>
                      <a:pPr lvl="0">
                        <a:lnSpc>
                          <a:spcPct val="95000"/>
                        </a:lnSpc>
                        <a:buNone/>
                      </a:pPr>
                      <a:endParaRPr lang="ko-KR" sz="800" dirty="0">
                        <a:effectLst/>
                        <a:latin typeface="Hyundai Sans Text KR"/>
                        <a:ea typeface="Hyundai Sans Text KR"/>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en-US" altLang="ko-KR" sz="800" dirty="0">
                          <a:latin typeface="Hyundai Sans Text KR"/>
                          <a:ea typeface="Hyundai Sans Text KR"/>
                        </a:rPr>
                        <a:t>• Difficulty in maintaining Consistent data integrity across heterogeneous data platforms</a:t>
                      </a:r>
                      <a:br>
                        <a:rPr lang="en-US" sz="800" dirty="0">
                          <a:latin typeface="Hyundai Sans Text KR"/>
                        </a:rPr>
                      </a:br>
                      <a:r>
                        <a:rPr lang="en-US" sz="800" dirty="0">
                          <a:latin typeface="Hyundai Sans Text KR"/>
                          <a:ea typeface="Hyundai Sans Text KR"/>
                        </a:rPr>
                        <a:t>• Difference in CAD-Actual Shape</a:t>
                      </a:r>
                      <a:endParaRPr lang="en-US" altLang="ko-KR" sz="800" dirty="0">
                        <a:latin typeface="Hyundai Sans Text KR"/>
                        <a:ea typeface="Hyundai Sans Text KR"/>
                      </a:endParaRPr>
                    </a:p>
                    <a:p>
                      <a:pPr>
                        <a:lnSpc>
                          <a:spcPct val="95000"/>
                        </a:lnSpc>
                        <a:buNone/>
                      </a:pPr>
                      <a:r>
                        <a:rPr lang="en-US" sz="800" dirty="0">
                          <a:latin typeface="Hyundai Sans Text KR"/>
                          <a:ea typeface="Hyundai Sans Text KR"/>
                        </a:rPr>
                        <a:t>• Robot/TCP/Vision coordinate mismatch</a:t>
                      </a:r>
                      <a:endParaRPr lang="en-US" altLang="ko-KR" sz="800" dirty="0">
                        <a:latin typeface="Hyundai Sans Text KR"/>
                        <a:ea typeface="Hyundai Sans Text KR"/>
                      </a:endParaRPr>
                    </a:p>
                    <a:p>
                      <a:pPr>
                        <a:lnSpc>
                          <a:spcPct val="95000"/>
                        </a:lnSpc>
                        <a:buNone/>
                      </a:pPr>
                      <a:r>
                        <a:rPr lang="en-US" sz="800" dirty="0">
                          <a:latin typeface="Hyundai Sans Text KR"/>
                          <a:ea typeface="Hyundai Sans Text KR"/>
                        </a:rPr>
                        <a:t>• Difficulty securing precision of ±1 mm or less</a:t>
                      </a:r>
                      <a:endParaRPr lang="en-US" altLang="ko-KR" sz="800" dirty="0">
                        <a:latin typeface="Hyundai Sans Text KR"/>
                        <a:ea typeface="Hyundai Sans Text KR"/>
                      </a:endParaRPr>
                    </a:p>
                    <a:p>
                      <a:pPr>
                        <a:lnSpc>
                          <a:spcPct val="95000"/>
                        </a:lnSpc>
                        <a:buNone/>
                      </a:pPr>
                      <a:r>
                        <a:rPr lang="en-US" sz="800" dirty="0">
                          <a:latin typeface="Hyundai Sans Text KR"/>
                          <a:ea typeface="Hyundai Sans Text KR"/>
                        </a:rPr>
                        <a:t>• Difficulty Maintaining Sim-to-Real Consistency</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702738"/>
                  </a:ext>
                </a:extLst>
              </a:tr>
              <a:tr h="1917742">
                <a:tc>
                  <a:txBody>
                    <a:bodyPr/>
                    <a:lstStyle/>
                    <a:p>
                      <a:pPr indent="0" algn="ctr">
                        <a:lnSpc>
                          <a:spcPct val="120000"/>
                        </a:lnSpc>
                        <a:spcBef>
                          <a:spcPts val="0"/>
                        </a:spcBef>
                        <a:spcAft>
                          <a:spcPts val="0"/>
                        </a:spcAft>
                        <a:buNone/>
                      </a:pPr>
                      <a:r>
                        <a:rPr lang="en-US" altLang="en-US" sz="800" b="1" i="0">
                          <a:effectLst/>
                          <a:latin typeface="현대산스 Text"/>
                          <a:ea typeface="현대산스 Text" panose="020B0600000101010101" pitchFamily="50" charset="-127"/>
                        </a:rPr>
                        <a:t>Decision layer</a:t>
                      </a:r>
                      <a:br>
                        <a:rPr lang="en-US" sz="800"/>
                      </a:br>
                      <a:r>
                        <a:rPr lang="en-US" altLang="ko-KR" sz="800" b="0" i="0" kern="1200">
                          <a:solidFill>
                            <a:schemeClr val="tx1">
                              <a:lumMod val="50000"/>
                              <a:lumOff val="50000"/>
                            </a:schemeClr>
                          </a:solidFill>
                          <a:effectLst/>
                          <a:latin typeface="현대산스 Text"/>
                          <a:ea typeface="현대산스 Text" panose="020B0600000101010101" pitchFamily="50" charset="-127"/>
                          <a:cs typeface="+mn-cs"/>
                        </a:rPr>
                        <a:t> </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a:ea typeface="Hyundai Sans Text KR"/>
                        </a:rPr>
                        <a:t>[AI OLP-based Automatic Robot Teaching and Motion Planning]</a:t>
                      </a:r>
                    </a:p>
                    <a:p>
                      <a:pPr>
                        <a:lnSpc>
                          <a:spcPct val="95000"/>
                        </a:lnSpc>
                        <a:buNone/>
                      </a:pPr>
                      <a:r>
                        <a:rPr lang="en-US" altLang="ko-KR" sz="800" b="1" kern="1200" dirty="0">
                          <a:solidFill>
                            <a:schemeClr val="tx1"/>
                          </a:solidFill>
                          <a:effectLst/>
                          <a:latin typeface="Hyundai Sans Text KR"/>
                          <a:ea typeface="Hyundai Sans Text KR"/>
                          <a:cs typeface="+mn-cs"/>
                        </a:rPr>
                        <a:t>(Step 1) </a:t>
                      </a:r>
                    </a:p>
                    <a:p>
                      <a:pPr>
                        <a:lnSpc>
                          <a:spcPct val="95000"/>
                        </a:lnSpc>
                        <a:buNone/>
                      </a:pPr>
                      <a:r>
                        <a:rPr lang="en-US" altLang="ko-KR" sz="800" b="0" kern="1200" dirty="0">
                          <a:solidFill>
                            <a:schemeClr val="tx1"/>
                          </a:solidFill>
                          <a:effectLst/>
                          <a:latin typeface="Hyundai Sans Text KR"/>
                          <a:ea typeface="Hyundai Sans Text KR"/>
                          <a:cs typeface="+mn-cs"/>
                        </a:rPr>
                        <a:t>• Collision avoidance multi-robot trajectory generation and   </a:t>
                      </a:r>
                    </a:p>
                    <a:p>
                      <a:pPr>
                        <a:lnSpc>
                          <a:spcPct val="95000"/>
                        </a:lnSpc>
                        <a:buNone/>
                      </a:pPr>
                      <a:r>
                        <a:rPr lang="en-US" altLang="ko-KR" sz="800" b="0" kern="1200" dirty="0">
                          <a:solidFill>
                            <a:schemeClr val="tx1"/>
                          </a:solidFill>
                          <a:effectLst/>
                          <a:latin typeface="Hyundai Sans Text KR"/>
                          <a:ea typeface="Hyundai Sans Text KR"/>
                          <a:cs typeface="+mn-cs"/>
                        </a:rPr>
                        <a:t>   task/sequence optimization</a:t>
                      </a:r>
                      <a:endParaRPr lang="ko-KR" altLang="en-US" sz="800" kern="1200" dirty="0">
                        <a:solidFill>
                          <a:schemeClr val="tx1"/>
                        </a:solidFill>
                        <a:effectLst/>
                        <a:latin typeface="Hyundai Sans Text KR"/>
                        <a:ea typeface="Hyundai Sans Text KR"/>
                        <a:cs typeface="+mn-cs"/>
                      </a:endParaRPr>
                    </a:p>
                    <a:p>
                      <a:pPr>
                        <a:lnSpc>
                          <a:spcPct val="95000"/>
                        </a:lnSpc>
                        <a:buNone/>
                      </a:pPr>
                      <a:r>
                        <a:rPr lang="en-US" altLang="ko-KR" sz="800" b="1" kern="1200" dirty="0">
                          <a:solidFill>
                            <a:schemeClr val="tx1"/>
                          </a:solidFill>
                          <a:effectLst/>
                          <a:latin typeface="Hyundai Sans Text KR"/>
                          <a:ea typeface="Hyundai Sans Text KR"/>
                          <a:cs typeface="+mn-cs"/>
                        </a:rPr>
                        <a:t>(Step 2) </a:t>
                      </a:r>
                    </a:p>
                    <a:p>
                      <a:pPr>
                        <a:lnSpc>
                          <a:spcPct val="95000"/>
                        </a:lnSpc>
                        <a:buNone/>
                      </a:pPr>
                      <a:r>
                        <a:rPr lang="en-US" altLang="ko-KR" sz="800" b="0" kern="1200" dirty="0">
                          <a:solidFill>
                            <a:schemeClr val="tx1"/>
                          </a:solidFill>
                          <a:effectLst/>
                          <a:latin typeface="Hyundai Sans Text KR"/>
                          <a:ea typeface="Hyundai Sans Text KR"/>
                          <a:cs typeface="+mn-cs"/>
                        </a:rPr>
                        <a:t>• Collaboration sequence/interlock and robot/PLC program </a:t>
                      </a:r>
                    </a:p>
                    <a:p>
                      <a:pPr>
                        <a:lnSpc>
                          <a:spcPct val="95000"/>
                        </a:lnSpc>
                        <a:buNone/>
                      </a:pPr>
                      <a:r>
                        <a:rPr lang="en-US" altLang="ko-KR" sz="800" b="0" kern="1200" dirty="0">
                          <a:solidFill>
                            <a:schemeClr val="tx1"/>
                          </a:solidFill>
                          <a:effectLst/>
                          <a:latin typeface="Hyundai Sans Text KR"/>
                          <a:ea typeface="Hyundai Sans Text KR"/>
                          <a:cs typeface="+mn-cs"/>
                        </a:rPr>
                        <a:t>   automatic generation</a:t>
                      </a:r>
                      <a:endParaRPr lang="ko-KR" altLang="en-US" sz="800" kern="1200" dirty="0">
                        <a:solidFill>
                          <a:schemeClr val="tx1"/>
                        </a:solidFill>
                        <a:effectLst/>
                        <a:latin typeface="Hyundai Sans Text KR"/>
                        <a:ea typeface="Hyundai Sans Text KR"/>
                        <a:cs typeface="+mn-cs"/>
                      </a:endParaRPr>
                    </a:p>
                    <a:p>
                      <a:pPr>
                        <a:lnSpc>
                          <a:spcPct val="95000"/>
                        </a:lnSpc>
                        <a:buNone/>
                      </a:pPr>
                      <a:r>
                        <a:rPr lang="en-US" altLang="ko-KR" sz="800" b="1" dirty="0">
                          <a:effectLst/>
                          <a:latin typeface="Hyundai Sans Text KR"/>
                          <a:ea typeface="Hyundai Sans Text KR"/>
                        </a:rPr>
                        <a:t>[Upper-Level Task Planner-Based Multi-Automation Cell Optimization]</a:t>
                      </a:r>
                    </a:p>
                    <a:p>
                      <a:pPr>
                        <a:lnSpc>
                          <a:spcPct val="95000"/>
                        </a:lnSpc>
                        <a:buNone/>
                      </a:pPr>
                      <a:r>
                        <a:rPr lang="en-US" altLang="ko-KR" sz="800" b="1" kern="1200" dirty="0">
                          <a:solidFill>
                            <a:schemeClr val="tx1"/>
                          </a:solidFill>
                          <a:effectLst/>
                          <a:latin typeface="Hyundai Sans Text KR"/>
                          <a:ea typeface="Hyundai Sans Text KR"/>
                          <a:cs typeface="+mn-cs"/>
                        </a:rPr>
                        <a:t>(Step 2) </a:t>
                      </a:r>
                    </a:p>
                    <a:p>
                      <a:pPr>
                        <a:lnSpc>
                          <a:spcPct val="95000"/>
                        </a:lnSpc>
                        <a:buNone/>
                      </a:pPr>
                      <a:r>
                        <a:rPr lang="en-US" altLang="ko-KR" sz="800" b="0" kern="1200" dirty="0">
                          <a:solidFill>
                            <a:schemeClr val="tx1"/>
                          </a:solidFill>
                          <a:effectLst/>
                          <a:latin typeface="Hyundai Sans Text KR"/>
                          <a:ea typeface="Hyundai Sans Text KR"/>
                          <a:cs typeface="+mn-cs"/>
                        </a:rPr>
                        <a:t>• Multi-cell Load Distribution and Cycle Time Prediction-based  </a:t>
                      </a:r>
                    </a:p>
                    <a:p>
                      <a:pPr>
                        <a:lnSpc>
                          <a:spcPct val="95000"/>
                        </a:lnSpc>
                        <a:buNone/>
                      </a:pPr>
                      <a:r>
                        <a:rPr lang="en-US" altLang="ko-KR" sz="800" b="0" kern="1200" dirty="0">
                          <a:solidFill>
                            <a:schemeClr val="tx1"/>
                          </a:solidFill>
                          <a:effectLst/>
                          <a:latin typeface="Hyundai Sans Text KR"/>
                          <a:ea typeface="Hyundai Sans Text KR"/>
                          <a:cs typeface="+mn-cs"/>
                        </a:rPr>
                        <a:t>   Process Optimization</a:t>
                      </a:r>
                    </a:p>
                    <a:p>
                      <a:pPr>
                        <a:lnSpc>
                          <a:spcPct val="95000"/>
                        </a:lnSpc>
                        <a:buNone/>
                      </a:pPr>
                      <a:r>
                        <a:rPr lang="en-US" altLang="ko-KR" sz="800" kern="1200" dirty="0">
                          <a:solidFill>
                            <a:schemeClr val="tx1"/>
                          </a:solidFill>
                          <a:effectLst/>
                          <a:latin typeface="Hyundai Sans Text KR"/>
                          <a:ea typeface="Hyundai Sans Text KR"/>
                          <a:cs typeface="+mn-cs"/>
                        </a:rPr>
                        <a:t>• Human-in-the-loop based plan review and approval</a:t>
                      </a:r>
                    </a:p>
                    <a:p>
                      <a:pPr>
                        <a:lnSpc>
                          <a:spcPct val="95000"/>
                        </a:lnSpc>
                        <a:buNone/>
                      </a:pPr>
                      <a:r>
                        <a:rPr lang="en-US" altLang="ko-KR" sz="800" b="1" kern="1200" dirty="0">
                          <a:solidFill>
                            <a:schemeClr val="tx1"/>
                          </a:solidFill>
                          <a:effectLst/>
                          <a:latin typeface="Hyundai Sans Text KR"/>
                          <a:ea typeface="Hyundai Sans Text KR"/>
                          <a:cs typeface="+mn-cs"/>
                        </a:rPr>
                        <a:t>(Step 3) </a:t>
                      </a:r>
                    </a:p>
                    <a:p>
                      <a:pPr>
                        <a:lnSpc>
                          <a:spcPct val="95000"/>
                        </a:lnSpc>
                        <a:buNone/>
                      </a:pPr>
                      <a:r>
                        <a:rPr lang="en-US" altLang="ko-KR" sz="800" b="0" kern="1200" dirty="0">
                          <a:solidFill>
                            <a:schemeClr val="tx1"/>
                          </a:solidFill>
                          <a:effectLst/>
                          <a:latin typeface="Hyundai Sans Text KR"/>
                          <a:ea typeface="Hyundai Sans Text KR"/>
                          <a:cs typeface="+mn-cs"/>
                        </a:rPr>
                        <a:t>• AI Agent-based Autonomous Work Planning and New Cell </a:t>
                      </a:r>
                    </a:p>
                    <a:p>
                      <a:pPr>
                        <a:lnSpc>
                          <a:spcPct val="95000"/>
                        </a:lnSpc>
                        <a:buNone/>
                      </a:pPr>
                      <a:r>
                        <a:rPr lang="en-US" altLang="ko-KR" sz="800" b="0" kern="1200" dirty="0">
                          <a:solidFill>
                            <a:schemeClr val="tx1"/>
                          </a:solidFill>
                          <a:effectLst/>
                          <a:latin typeface="Hyundai Sans Text KR"/>
                          <a:ea typeface="Hyundai Sans Text KR"/>
                          <a:cs typeface="+mn-cs"/>
                        </a:rPr>
                        <a:t>   Auto-Design</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95000"/>
                        </a:lnSpc>
                        <a:buNone/>
                      </a:pPr>
                      <a:endParaRPr lang="en-US" altLang="ko-KR" sz="800" dirty="0">
                        <a:effectLst/>
                        <a:latin typeface="Hyundai Sans Text KR"/>
                        <a:ea typeface="Hyundai Sans Text KR"/>
                      </a:endParaRP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altLang="ko-KR" sz="800" b="1" i="0" u="none" strike="noStrike" noProof="0" dirty="0">
                          <a:solidFill>
                            <a:srgbClr val="000000"/>
                          </a:solidFill>
                          <a:effectLst/>
                          <a:latin typeface="Hyundai Sans Text KR"/>
                          <a:ea typeface="Hyundai Sans Text KR"/>
                        </a:rPr>
                        <a:t>Motion and Task Planning Technology]</a:t>
                      </a:r>
                      <a:endParaRPr lang="ko-KR" altLang="en-US" sz="800" b="0" i="0" u="none" strike="noStrike" noProof="0" dirty="0">
                        <a:solidFill>
                          <a:srgbClr val="000000"/>
                        </a:solidFill>
                        <a:effectLst/>
                        <a:latin typeface="Hyundai Sans Text KR"/>
                        <a:ea typeface="Hyundai Sans Text KR"/>
                      </a:endParaRPr>
                    </a:p>
                    <a:p>
                      <a:pPr lvl="0" algn="l">
                        <a:lnSpc>
                          <a:spcPct val="100000"/>
                        </a:lnSpc>
                        <a:spcBef>
                          <a:spcPts val="0"/>
                        </a:spcBef>
                        <a:spcAft>
                          <a:spcPts val="0"/>
                        </a:spcAft>
                        <a:buNone/>
                      </a:pPr>
                      <a:endParaRPr lang="en-US" altLang="ko-KR" sz="800" b="0" i="0" u="none" strike="noStrike" noProof="0" dirty="0">
                        <a:solidFill>
                          <a:srgbClr val="000000"/>
                        </a:solidFill>
                        <a:effectLst/>
                        <a:latin typeface="Hyundai Sans Text KR"/>
                        <a:ea typeface="Hyundai Sans Text KR"/>
                      </a:endParaRPr>
                    </a:p>
                    <a:p>
                      <a:pPr marL="0" lvl="0" indent="0" algn="l">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Motion/Task Planning and Work Allocation/Sequence </a:t>
                      </a:r>
                    </a:p>
                    <a:p>
                      <a:pPr marL="0" lvl="0" indent="0" algn="l">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Optimization Technology</a:t>
                      </a:r>
                      <a:endParaRPr lang="ko-KR" altLang="en-US" sz="800" b="0" i="0" u="none" strike="noStrike" noProof="0" dirty="0">
                        <a:solidFill>
                          <a:srgbClr val="000000"/>
                        </a:solidFill>
                        <a:effectLst/>
                        <a:latin typeface="Hyundai Sans Text KR"/>
                        <a:ea typeface="Hyundai Sans Text KR"/>
                      </a:endParaRPr>
                    </a:p>
                    <a:p>
                      <a:pPr marL="0" lvl="0" indent="0" algn="l">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Interlock and Robot/PLC Program Automatic Generation  </a:t>
                      </a:r>
                    </a:p>
                    <a:p>
                      <a:pPr marL="0" lvl="0" indent="0" algn="l">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Technology</a:t>
                      </a:r>
                      <a:endParaRPr lang="ko-KR" altLang="en-US" sz="800" b="0" i="0" u="none" strike="noStrike" noProof="0" dirty="0">
                        <a:solidFill>
                          <a:srgbClr val="000000"/>
                        </a:solidFill>
                        <a:effectLst/>
                        <a:latin typeface="Hyundai Sans Text KR"/>
                        <a:ea typeface="Hyundai Sans Text KR"/>
                      </a:endParaRPr>
                    </a:p>
                    <a:p>
                      <a:pPr marL="0" lvl="0" indent="0" algn="l">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Digital Twin-linked Automatic Teaching Verification and </a:t>
                      </a:r>
                    </a:p>
                    <a:p>
                      <a:pPr marL="0" lvl="0" indent="0" algn="l">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Productivity Analysis Technology</a:t>
                      </a:r>
                      <a:endParaRPr lang="ko-KR" altLang="en-US" sz="800" b="0" i="0" u="none" strike="noStrike" noProof="0" dirty="0">
                        <a:solidFill>
                          <a:srgbClr val="000000"/>
                        </a:solidFill>
                        <a:effectLst/>
                        <a:latin typeface="Hyundai Sans Text KR"/>
                        <a:ea typeface="Hyundai Sans Text KR"/>
                      </a:endParaRPr>
                    </a:p>
                    <a:p>
                      <a:pPr marL="0" lvl="0" indent="0" algn="l">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Multi-cell integration optimization and layout/robot </a:t>
                      </a:r>
                    </a:p>
                    <a:p>
                      <a:pPr marL="0" lvl="0" indent="0" algn="l">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configuration optimization technology</a:t>
                      </a:r>
                      <a:endParaRPr lang="ko-KR" altLang="en-US" sz="800" b="0" i="0" u="none" strike="noStrike" noProof="0" dirty="0">
                        <a:solidFill>
                          <a:srgbClr val="000000"/>
                        </a:solidFill>
                        <a:effectLst/>
                        <a:latin typeface="Hyundai Sans Text KR"/>
                        <a:ea typeface="Hyundai Sans Text KR"/>
                      </a:endParaRPr>
                    </a:p>
                    <a:p>
                      <a:pPr marL="0" lvl="0" indent="0" algn="l">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AI Agent-based Autonomous Decision-Making Technology </a:t>
                      </a:r>
                    </a:p>
                    <a:p>
                      <a:pPr marL="0" lvl="0" indent="0" algn="l">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(LLM/VLM-based Support)</a:t>
                      </a:r>
                      <a:endParaRPr lang="ko-KR" altLang="en-US" sz="800" b="0" i="0" u="none" strike="noStrike" noProof="0" dirty="0">
                        <a:solidFill>
                          <a:srgbClr val="000000"/>
                        </a:solidFill>
                        <a:effectLst/>
                        <a:latin typeface="Hyundai Sans Text KR"/>
                        <a:ea typeface="Hyundai Sans Text KR"/>
                      </a:endParaRPr>
                    </a:p>
                    <a:p>
                      <a:pPr lvl="0">
                        <a:lnSpc>
                          <a:spcPct val="95000"/>
                        </a:lnSpc>
                        <a:buNone/>
                      </a:pPr>
                      <a:endParaRPr lang="ko-KR" sz="800" dirty="0">
                        <a:effectLst/>
                        <a:latin typeface="Hyundai Sans Text KR"/>
                        <a:ea typeface="Hyundai Sans Text KR"/>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en-US" sz="800" dirty="0">
                          <a:latin typeface="Hyundai Sans Text KR"/>
                          <a:ea typeface="Hyundai Sans Text KR"/>
                        </a:rPr>
                        <a:t>• Difficulty in generating motion based on complex constraints</a:t>
                      </a:r>
                      <a:endParaRPr lang="en-US" altLang="ko-KR" sz="800" dirty="0">
                        <a:latin typeface="Hyundai Sans Text KR"/>
                        <a:ea typeface="Hyundai Sans Text KR"/>
                      </a:endParaRPr>
                    </a:p>
                    <a:p>
                      <a:pPr>
                        <a:lnSpc>
                          <a:spcPct val="95000"/>
                        </a:lnSpc>
                        <a:buNone/>
                      </a:pPr>
                      <a:r>
                        <a:rPr lang="en-US" sz="800" dirty="0">
                          <a:latin typeface="Hyundai Sans Text KR"/>
                          <a:ea typeface="Hyundai Sans Text KR"/>
                        </a:rPr>
                        <a:t>• Complexity in Multi-cell work allocation and cycle time optimization</a:t>
                      </a:r>
                      <a:endParaRPr lang="en-US" altLang="ko-KR" sz="800" dirty="0">
                        <a:latin typeface="Hyundai Sans Text KR"/>
                        <a:ea typeface="Hyundai Sans Text KR"/>
                      </a:endParaRPr>
                    </a:p>
                    <a:p>
                      <a:pPr>
                        <a:lnSpc>
                          <a:spcPct val="95000"/>
                        </a:lnSpc>
                        <a:buNone/>
                      </a:pPr>
                      <a:r>
                        <a:rPr lang="en-US" sz="800" dirty="0">
                          <a:latin typeface="Hyundai Sans Text KR"/>
                          <a:ea typeface="Hyundai Sans Text KR"/>
                        </a:rPr>
                        <a:t>• Robot teaching automation limits du to Sim-to-Real Gap  </a:t>
                      </a:r>
                      <a:endParaRPr lang="en-US" altLang="ko-KR" sz="800" dirty="0">
                        <a:latin typeface="Hyundai Sans Text KR"/>
                        <a:ea typeface="Hyundai Sans Text KR"/>
                      </a:endParaRPr>
                    </a:p>
                    <a:p>
                      <a:pPr>
                        <a:lnSpc>
                          <a:spcPct val="95000"/>
                        </a:lnSpc>
                        <a:buNone/>
                      </a:pPr>
                      <a:r>
                        <a:rPr lang="en-US" sz="800" dirty="0">
                          <a:latin typeface="Hyundai Sans Text KR"/>
                          <a:ea typeface="Hyundai Sans Text KR"/>
                        </a:rPr>
                        <a:t>• Human-in-the-loop based decision-making required</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52220878"/>
                  </a:ext>
                </a:extLst>
              </a:tr>
            </a:tbl>
          </a:graphicData>
        </a:graphic>
      </p:graphicFrame>
    </p:spTree>
    <p:extLst>
      <p:ext uri="{BB962C8B-B14F-4D97-AF65-F5344CB8AC3E}">
        <p14:creationId xmlns:p14="http://schemas.microsoft.com/office/powerpoint/2010/main" val="1504207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473C4-12C7-C99E-F5B6-740224241789}"/>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7D6C5134-4898-B995-4749-8A04E3C52141}"/>
              </a:ext>
            </a:extLst>
          </p:cNvPr>
          <p:cNvSpPr>
            <a:spLocks noGrp="1"/>
          </p:cNvSpPr>
          <p:nvPr>
            <p:ph type="ctrTitle"/>
          </p:nvPr>
        </p:nvSpPr>
        <p:spPr>
          <a:xfrm>
            <a:off x="273048" y="179388"/>
            <a:ext cx="10394951"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③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robot teaching and calibration</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23C5E95A-0778-52AF-B763-6C6E670366C5}"/>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07FB59A2-8F85-102E-6983-50E0488B1870}"/>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03A8BA6A-E88F-2379-F3D7-A99715EEF189}"/>
              </a:ext>
            </a:extLst>
          </p:cNvPr>
          <p:cNvSpPr txBox="1"/>
          <p:nvPr/>
        </p:nvSpPr>
        <p:spPr>
          <a:xfrm>
            <a:off x="338778" y="830362"/>
            <a:ext cx="8590044"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robot teaching / calibration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14BE31C5-6F8B-5C4A-9EC4-1BFA58262810}"/>
              </a:ext>
            </a:extLst>
          </p:cNvPr>
          <p:cNvSpPr>
            <a:spLocks noChangeArrowheads="1"/>
          </p:cNvSpPr>
          <p:nvPr/>
        </p:nvSpPr>
        <p:spPr bwMode="auto">
          <a:xfrm>
            <a:off x="541148" y="1062392"/>
            <a:ext cx="9190336"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Achieve a "Teaching-less" factory through Digital Twin-based Virtual Commissioning (Sim-to-Real) and  establish</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an autonomous system that compensates for micro-tolerances of car bodies, parts, and equipment in real-time using edge vision and sensors.</a:t>
            </a:r>
          </a:p>
        </p:txBody>
      </p:sp>
      <p:graphicFrame>
        <p:nvGraphicFramePr>
          <p:cNvPr id="7" name="표 6">
            <a:extLst>
              <a:ext uri="{FF2B5EF4-FFF2-40B4-BE49-F238E27FC236}">
                <a16:creationId xmlns:a16="http://schemas.microsoft.com/office/drawing/2014/main" id="{85DB519E-591D-2546-C085-A6E3142B38E7}"/>
              </a:ext>
            </a:extLst>
          </p:cNvPr>
          <p:cNvGraphicFramePr>
            <a:graphicFrameLocks noGrp="1"/>
          </p:cNvGraphicFramePr>
          <p:nvPr/>
        </p:nvGraphicFramePr>
        <p:xfrm>
          <a:off x="418030" y="1569249"/>
          <a:ext cx="12679200" cy="5180400"/>
        </p:xfrm>
        <a:graphic>
          <a:graphicData uri="http://schemas.openxmlformats.org/drawingml/2006/table">
            <a:tbl>
              <a:tblPr/>
              <a:tblGrid>
                <a:gridCol w="770015">
                  <a:extLst>
                    <a:ext uri="{9D8B030D-6E8A-4147-A177-3AD203B41FA5}">
                      <a16:colId xmlns:a16="http://schemas.microsoft.com/office/drawing/2014/main" val="443115551"/>
                    </a:ext>
                  </a:extLst>
                </a:gridCol>
                <a:gridCol w="2900224">
                  <a:extLst>
                    <a:ext uri="{9D8B030D-6E8A-4147-A177-3AD203B41FA5}">
                      <a16:colId xmlns:a16="http://schemas.microsoft.com/office/drawing/2014/main" val="977350797"/>
                    </a:ext>
                  </a:extLst>
                </a:gridCol>
                <a:gridCol w="2750681">
                  <a:extLst>
                    <a:ext uri="{9D8B030D-6E8A-4147-A177-3AD203B41FA5}">
                      <a16:colId xmlns:a16="http://schemas.microsoft.com/office/drawing/2014/main" val="642123437"/>
                    </a:ext>
                  </a:extLst>
                </a:gridCol>
                <a:gridCol w="2971800">
                  <a:extLst>
                    <a:ext uri="{9D8B030D-6E8A-4147-A177-3AD203B41FA5}">
                      <a16:colId xmlns:a16="http://schemas.microsoft.com/office/drawing/2014/main" val="4245837861"/>
                    </a:ext>
                  </a:extLst>
                </a:gridCol>
                <a:gridCol w="190500">
                  <a:extLst>
                    <a:ext uri="{9D8B030D-6E8A-4147-A177-3AD203B41FA5}">
                      <a16:colId xmlns:a16="http://schemas.microsoft.com/office/drawing/2014/main" val="3595800298"/>
                    </a:ext>
                  </a:extLst>
                </a:gridCol>
                <a:gridCol w="3095980">
                  <a:extLst>
                    <a:ext uri="{9D8B030D-6E8A-4147-A177-3AD203B41FA5}">
                      <a16:colId xmlns:a16="http://schemas.microsoft.com/office/drawing/2014/main" val="437409975"/>
                    </a:ext>
                  </a:extLst>
                </a:gridCol>
              </a:tblGrid>
              <a:tr h="213817">
                <a:tc>
                  <a:txBody>
                    <a:bodyPr/>
                    <a:lstStyle/>
                    <a:p>
                      <a:pPr algn="ctr">
                        <a:buNone/>
                      </a:pPr>
                      <a:r>
                        <a:rPr lang="en-US" altLang="en-US" sz="800" b="1" i="0" kern="1200">
                          <a:solidFill>
                            <a:schemeClr val="tx1"/>
                          </a:solidFill>
                          <a:effectLst/>
                          <a:latin typeface="현대산스 Text" panose="020B0600000101010101" pitchFamily="50" charset="-127"/>
                          <a:ea typeface="현대산스 Text" panose="020B0600000101010101" pitchFamily="50" charset="-127"/>
                          <a:cs typeface="+mn-cs"/>
                        </a:rPr>
                        <a:t>Layer</a:t>
                      </a:r>
                      <a:endParaRPr lang="en-US" sz="8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a:buNone/>
                      </a:pPr>
                      <a:r>
                        <a:rPr lang="en-US" altLang="en-US" sz="72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3041"/>
                    </a:solidFill>
                  </a:tcPr>
                </a:tc>
                <a:tc>
                  <a:txBody>
                    <a:bodyPr/>
                    <a:lstStyle/>
                    <a:p>
                      <a:pPr algn="ctr">
                        <a:buNone/>
                      </a:pPr>
                      <a:r>
                        <a:rPr lang="en-US" altLang="en-US" sz="720" b="1" i="0" kern="1200">
                          <a:solidFill>
                            <a:schemeClr val="tx1"/>
                          </a:solidFill>
                          <a:effectLst/>
                          <a:latin typeface="현대산스 Text" panose="020B0600000101010101" pitchFamily="50" charset="-127"/>
                          <a:ea typeface="현대산스 Text" panose="020B0600000101010101" pitchFamily="50" charset="-127"/>
                          <a:cs typeface="+mn-cs"/>
                        </a:rPr>
                        <a:t>Required Skills – DS</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en-US" altLang="en-US" sz="720" b="1" i="0" kern="1200">
                          <a:solidFill>
                            <a:schemeClr val="tx1"/>
                          </a:solidFill>
                          <a:effectLst/>
                          <a:latin typeface="현대산스 Text" panose="020B0600000101010101" pitchFamily="50" charset="-127"/>
                          <a:ea typeface="현대산스 Text" panose="020B0600000101010101" pitchFamily="50" charset="-127"/>
                          <a:cs typeface="+mn-cs"/>
                        </a:rPr>
                        <a:t>Required Skills – Core R&amp;D</a:t>
                      </a:r>
                      <a:endPar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en-US" altLang="en-US" sz="720" b="1" i="0" kern="1200">
                          <a:solidFill>
                            <a:schemeClr val="tx1"/>
                          </a:solidFill>
                          <a:effectLst/>
                          <a:latin typeface="현대산스 Text" panose="020B0600000101010101" pitchFamily="50" charset="-127"/>
                          <a:ea typeface="현대산스 Text" panose="020B0600000101010101" pitchFamily="50" charset="-127"/>
                          <a:cs typeface="+mn-cs"/>
                        </a:rPr>
                        <a:t>Development Pain-point</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44578553"/>
                  </a:ext>
                </a:extLst>
              </a:tr>
              <a:tr h="2185178">
                <a:tc>
                  <a:txBody>
                    <a:bodyPr/>
                    <a:lstStyle/>
                    <a:p>
                      <a:pPr indent="0" algn="ctr">
                        <a:lnSpc>
                          <a:spcPct val="120000"/>
                        </a:lnSpc>
                        <a:spcBef>
                          <a:spcPts val="0"/>
                        </a:spcBef>
                        <a:spcAft>
                          <a:spcPts val="0"/>
                        </a:spcAft>
                        <a:buNone/>
                      </a:pPr>
                      <a:r>
                        <a:rPr lang="en-US" altLang="en-US" sz="800" b="1" i="0" dirty="0">
                          <a:effectLst/>
                          <a:latin typeface="현대산스 Text"/>
                          <a:ea typeface="현대산스 Text" panose="020B0600000101010101" pitchFamily="50" charset="-127"/>
                        </a:rPr>
                        <a:t>Action Layer</a:t>
                      </a:r>
                      <a:br>
                        <a:rPr sz="800" dirty="0"/>
                      </a:br>
                      <a:r>
                        <a:rPr lang="en-US" altLang="ko-KR" sz="800" b="0" i="0" kern="1200" dirty="0">
                          <a:solidFill>
                            <a:schemeClr val="tx1">
                              <a:lumMod val="50000"/>
                              <a:lumOff val="50000"/>
                            </a:schemeClr>
                          </a:solidFill>
                          <a:effectLst/>
                          <a:latin typeface="현대산스 Text"/>
                          <a:ea typeface="현대산스 Text" panose="020B0600000101010101" pitchFamily="50" charset="-127"/>
                          <a:cs typeface="+mn-cs"/>
                        </a:rPr>
                        <a:t> </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a:ea typeface="Hyundai Sans Text KR" panose="020B0600000101010101" pitchFamily="34" charset="-127"/>
                        </a:rPr>
                        <a:t>[Closed-loop Control-Based Establishment]</a:t>
                      </a:r>
                    </a:p>
                    <a:p>
                      <a:pPr>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2) </a:t>
                      </a:r>
                      <a:r>
                        <a:rPr lang="en-US" altLang="ko-KR" sz="800" b="0" kern="1200" dirty="0">
                          <a:solidFill>
                            <a:schemeClr val="tx1"/>
                          </a:solidFill>
                          <a:effectLst/>
                          <a:latin typeface="Hyundai Sans Text KR"/>
                          <a:ea typeface="Hyundai Sans Text KR" panose="020B0600000101010101" pitchFamily="34" charset="-127"/>
                          <a:cs typeface="+mn-cs"/>
                        </a:rPr>
                        <a:t>• Edge/Sensor-based Real-time Autonomous Precision Control and Feedback Data Collection</a:t>
                      </a:r>
                    </a:p>
                    <a:p>
                      <a:pPr>
                        <a:lnSpc>
                          <a:spcPct val="95000"/>
                        </a:lnSpc>
                        <a:buNone/>
                      </a:pPr>
                      <a:endParaRPr lang="ko-KR" altLang="en-US" sz="800" kern="1200" dirty="0">
                        <a:solidFill>
                          <a:schemeClr val="tx1"/>
                        </a:solidFill>
                        <a:effectLst/>
                        <a:latin typeface="Hyundai Sans Text KR"/>
                        <a:ea typeface="Hyundai Sans Text KR" panose="020B0600000101010101" pitchFamily="34" charset="-127"/>
                        <a:cs typeface="+mn-cs"/>
                      </a:endParaRPr>
                    </a:p>
                    <a:p>
                      <a:pPr>
                        <a:lnSpc>
                          <a:spcPct val="95000"/>
                        </a:lnSpc>
                        <a:buNone/>
                      </a:pPr>
                      <a:r>
                        <a:rPr lang="en-US" altLang="ko-KR" sz="800" b="1" dirty="0">
                          <a:effectLst/>
                          <a:latin typeface="Hyundai Sans Text KR"/>
                          <a:ea typeface="Hyundai Sans Text KR" panose="020B0600000101010101" pitchFamily="34" charset="-127"/>
                        </a:rPr>
                        <a:t>[Real-time Feedback and Synchronization]</a:t>
                      </a:r>
                    </a:p>
                    <a:p>
                      <a:pPr>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2) </a:t>
                      </a:r>
                      <a:r>
                        <a:rPr lang="en-US" altLang="ko-KR" sz="800" b="0" kern="1200" dirty="0">
                          <a:solidFill>
                            <a:schemeClr val="tx1"/>
                          </a:solidFill>
                          <a:effectLst/>
                          <a:latin typeface="Hyundai Sans Text KR"/>
                          <a:ea typeface="Hyundai Sans Text KR" panose="020B0600000101010101" pitchFamily="34" charset="-127"/>
                          <a:cs typeface="+mn-cs"/>
                        </a:rPr>
                        <a:t>• Reflecting field feedback, virtual-real synchronization and trajectory automatic readjustment</a:t>
                      </a:r>
                      <a:endParaRPr lang="en-US" altLang="ko-KR" sz="800" kern="1200" dirty="0">
                        <a:solidFill>
                          <a:schemeClr val="tx1"/>
                        </a:solidFill>
                        <a:effectLst/>
                        <a:latin typeface="Hyundai Sans Text KR"/>
                        <a:ea typeface="Hyundai Sans Text KR" panose="020B0600000101010101" pitchFamily="34" charset="-127"/>
                        <a:cs typeface="+mn-cs"/>
                      </a:endParaRPr>
                    </a:p>
                    <a:p>
                      <a:pPr>
                        <a:lnSpc>
                          <a:spcPct val="95000"/>
                        </a:lnSpc>
                        <a:buNone/>
                      </a:pPr>
                      <a:r>
                        <a:rPr lang="en-US" altLang="ko-KR" sz="800" b="1" dirty="0">
                          <a:effectLst/>
                          <a:latin typeface="Hyundai Sans Text KR"/>
                          <a:ea typeface="Hyundai Sans Text KR" panose="020B0600000101010101" pitchFamily="34" charset="-127"/>
                        </a:rPr>
                        <a:t>[Error Detection and Automatic Correction]</a:t>
                      </a:r>
                    </a:p>
                    <a:p>
                      <a:pPr>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2) </a:t>
                      </a:r>
                      <a:r>
                        <a:rPr lang="en-US" altLang="ko-KR" sz="800" b="0" kern="1200" dirty="0">
                          <a:solidFill>
                            <a:schemeClr val="tx1"/>
                          </a:solidFill>
                          <a:effectLst/>
                          <a:latin typeface="Hyundai Sans Text KR"/>
                          <a:ea typeface="Hyundai Sans Text KR" panose="020B0600000101010101" pitchFamily="34" charset="-127"/>
                          <a:cs typeface="+mn-cs"/>
                        </a:rPr>
                        <a:t>• Automatic recalibration and replanning, and virtual-real difference correction</a:t>
                      </a:r>
                    </a:p>
                    <a:p>
                      <a:pPr>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3) </a:t>
                      </a:r>
                      <a:r>
                        <a:rPr lang="en-US" altLang="ko-KR" sz="800" b="0" kern="1200" dirty="0">
                          <a:solidFill>
                            <a:schemeClr val="tx1"/>
                          </a:solidFill>
                          <a:effectLst/>
                          <a:latin typeface="Hyundai Sans Text KR"/>
                          <a:ea typeface="Hyundai Sans Text KR" panose="020B0600000101010101" pitchFamily="34" charset="-127"/>
                          <a:cs typeface="+mn-cs"/>
                        </a:rPr>
                        <a:t>• Digital Twin / AI Result Field Application and Autonomous Control Enhancement</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[Latency Ultra-Low Delay Closed-Loop Technology]</a:t>
                      </a:r>
                      <a:endParaRPr lang="en-US" dirty="0"/>
                    </a:p>
                    <a:p>
                      <a:pPr marL="0" lvl="0" indent="0" algn="l">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a:ea typeface="Hyundai Sans Text KR"/>
                        </a:rPr>
                        <a:t> Real-time control and communication-based technology </a:t>
                      </a:r>
                    </a:p>
                    <a:p>
                      <a:pPr marL="0" lvl="0" indent="0" algn="l">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(edge-based processing, ultra-low latency real-time </a:t>
                      </a:r>
                    </a:p>
                    <a:p>
                      <a:pPr marL="0" lvl="0" indent="0" algn="l">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communication)</a:t>
                      </a:r>
                    </a:p>
                    <a:p>
                      <a:pPr marL="0" lvl="0" indent="0" algn="l">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a:ea typeface="Hyundai Sans Text KR"/>
                        </a:rPr>
                        <a:t> Virtual-Real Synchronization &amp; Closed-loop Control </a:t>
                      </a:r>
                    </a:p>
                    <a:p>
                      <a:pPr marL="0" lvl="0" indent="0" algn="l">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Technology</a:t>
                      </a:r>
                      <a:endParaRPr lang="en-US" dirty="0"/>
                    </a:p>
                    <a:p>
                      <a:pPr marL="0" lvl="0" indent="0" algn="l">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a:ea typeface="Hyundai Sans Text KR"/>
                        </a:rPr>
                        <a:t> Field Application Automation and Deployment/Edge </a:t>
                      </a:r>
                    </a:p>
                    <a:p>
                      <a:pPr marL="0" lvl="0" indent="0" algn="l">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Execution Technology</a:t>
                      </a:r>
                      <a:endParaRPr lang="en-US" dirty="0"/>
                    </a:p>
                    <a:p>
                      <a:pPr marL="0" lvl="0" indent="0" algn="l">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a:ea typeface="Hyundai Sans Text KR"/>
                        </a:rPr>
                        <a:t> Automatic Recalibration and Adaptive Control </a:t>
                      </a:r>
                    </a:p>
                    <a:p>
                      <a:pPr marL="0" lvl="0" indent="0" algn="l">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Technology</a:t>
                      </a:r>
                      <a:endParaRPr lang="en-US" dirty="0"/>
                    </a:p>
                    <a:p>
                      <a:pPr lvl="0">
                        <a:lnSpc>
                          <a:spcPct val="95000"/>
                        </a:lnSpc>
                        <a:buNone/>
                      </a:pPr>
                      <a:endParaRPr lang="en-US" sz="800" b="1" dirty="0">
                        <a:effectLst/>
                        <a:latin typeface="Hyundai Sans Text KR"/>
                        <a:ea typeface="Hyundai Sans Text KR"/>
                      </a:endParaRP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nSpc>
                          <a:spcPct val="95000"/>
                        </a:lnSpc>
                        <a:buNone/>
                      </a:pPr>
                      <a:r>
                        <a:rPr lang="en-US" altLang="ko-KR" sz="800" b="1" i="0" u="none" strike="noStrike" noProof="0" dirty="0">
                          <a:solidFill>
                            <a:srgbClr val="000000"/>
                          </a:solidFill>
                          <a:effectLst/>
                          <a:latin typeface="Hyundai Sans Text KR"/>
                          <a:ea typeface="Hyundai Sans Text KR"/>
                        </a:rPr>
                        <a:t>[Real-time Control and Closed-loop Technology]</a:t>
                      </a:r>
                      <a:endParaRPr lang="en-US" altLang="ko-KR" sz="800" b="0" i="0" u="none" strike="noStrike" noProof="0" dirty="0">
                        <a:solidFill>
                          <a:srgbClr val="000000"/>
                        </a:solidFill>
                        <a:effectLst/>
                        <a:latin typeface="Hyundai Sans Text KR"/>
                        <a:ea typeface="Hyundai Sans Text KR"/>
                      </a:endParaRPr>
                    </a:p>
                    <a:p>
                      <a:pPr lvl="0">
                        <a:lnSpc>
                          <a:spcPct val="95000"/>
                        </a:lnSpc>
                        <a:buNone/>
                      </a:pPr>
                      <a:r>
                        <a:rPr lang="en-US" altLang="ko-KR" sz="800" b="0" i="0" u="none" strike="noStrike" noProof="0" dirty="0">
                          <a:solidFill>
                            <a:srgbClr val="000000"/>
                          </a:solidFill>
                          <a:effectLst/>
                          <a:latin typeface="Hyundai Sans Text KR"/>
                          <a:ea typeface="Hyundai Sans Text KR"/>
                        </a:rPr>
                        <a:t>Robot controller integration and force/torque/pressure-based feedback control technology</a:t>
                      </a:r>
                    </a:p>
                    <a:p>
                      <a:pPr lvl="0">
                        <a:lnSpc>
                          <a:spcPct val="95000"/>
                        </a:lnSpc>
                        <a:buNone/>
                      </a:pPr>
                      <a:r>
                        <a:rPr lang="en-US" altLang="ko-KR" sz="800" b="0" i="0" u="none" strike="noStrike" noProof="0" dirty="0">
                          <a:solidFill>
                            <a:srgbClr val="000000"/>
                          </a:solidFill>
                          <a:effectLst/>
                          <a:latin typeface="Hyundai Sans Text KR"/>
                          <a:ea typeface="Hyundai Sans Text KR"/>
                        </a:rPr>
                        <a:t>Automatic Recalibration and Adaptive Control Technology</a:t>
                      </a:r>
                      <a:endParaRPr lang="ko-KR" altLang="en-US" sz="800" b="0" i="0" u="none" strike="noStrike" noProof="0" dirty="0">
                        <a:solidFill>
                          <a:srgbClr val="000000"/>
                        </a:solidFill>
                        <a:effectLst/>
                        <a:latin typeface="Hyundai Sans Text KR"/>
                        <a:ea typeface="Hyundai Sans Text KR"/>
                      </a:endParaRPr>
                    </a:p>
                    <a:p>
                      <a:pPr lvl="0">
                        <a:lnSpc>
                          <a:spcPct val="95000"/>
                        </a:lnSpc>
                        <a:buNone/>
                      </a:pPr>
                      <a:endParaRPr lang="ko-KR" sz="800" dirty="0">
                        <a:effectLst/>
                        <a:latin typeface="Calibri"/>
                        <a:ea typeface="Hyundai Sans Text KR"/>
                        <a:cs typeface="Calibri"/>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en-US" sz="800" dirty="0">
                          <a:latin typeface="Hyundai Sans Text KR"/>
                          <a:ea typeface="Hyundai Sans Text KR" panose="020B0600000101010101" pitchFamily="34" charset="-127"/>
                        </a:rPr>
                        <a:t>• Virtual-Real Robot Response Difference</a:t>
                      </a:r>
                      <a:endParaRPr lang="en-US" altLang="ko-KR" sz="800" dirty="0">
                        <a:latin typeface="Hyundai Sans Text KR"/>
                        <a:ea typeface="Hyundai Sans Text KR" panose="020B0600000101010101" pitchFamily="34" charset="-127"/>
                      </a:endParaRPr>
                    </a:p>
                    <a:p>
                      <a:pPr>
                        <a:lnSpc>
                          <a:spcPct val="95000"/>
                        </a:lnSpc>
                        <a:buNone/>
                      </a:pPr>
                      <a:r>
                        <a:rPr lang="en-US" sz="800" dirty="0">
                          <a:latin typeface="Hyundai Sans Text KR"/>
                          <a:ea typeface="Hyundai Sans Text KR" panose="020B0600000101010101" pitchFamily="34" charset="-127"/>
                        </a:rPr>
                        <a:t>• Gripper force/pressure control difficulty</a:t>
                      </a:r>
                      <a:endParaRPr lang="en-US" altLang="ko-KR" sz="800" dirty="0">
                        <a:latin typeface="Hyundai Sans Text KR"/>
                        <a:ea typeface="Hyundai Sans Text KR" panose="020B0600000101010101" pitchFamily="34" charset="-127"/>
                      </a:endParaRPr>
                    </a:p>
                    <a:p>
                      <a:pPr>
                        <a:lnSpc>
                          <a:spcPct val="95000"/>
                        </a:lnSpc>
                        <a:buNone/>
                      </a:pPr>
                      <a:r>
                        <a:rPr lang="en-US" sz="800" dirty="0">
                          <a:latin typeface="Hyundai Sans Text KR"/>
                          <a:ea typeface="Hyundai Sans Text KR" panose="020B0600000101010101" pitchFamily="34" charset="-127"/>
                        </a:rPr>
                        <a:t>• Environmental change response and </a:t>
                      </a:r>
                    </a:p>
                    <a:p>
                      <a:pPr>
                        <a:lnSpc>
                          <a:spcPct val="95000"/>
                        </a:lnSpc>
                        <a:buNone/>
                      </a:pPr>
                      <a:r>
                        <a:rPr lang="en-US" sz="800" dirty="0">
                          <a:latin typeface="Hyundai Sans Text KR"/>
                          <a:ea typeface="Hyundai Sans Text KR" panose="020B0600000101010101" pitchFamily="34" charset="-127"/>
                        </a:rPr>
                        <a:t>   automatic recalibration limits</a:t>
                      </a:r>
                      <a:endParaRPr lang="en-US" altLang="ko-KR" sz="800" dirty="0">
                        <a:latin typeface="Hyundai Sans Text KR"/>
                        <a:ea typeface="Hyundai Sans Text KR" panose="020B0600000101010101" pitchFamily="34" charset="-127"/>
                      </a:endParaRPr>
                    </a:p>
                    <a:p>
                      <a:pPr>
                        <a:lnSpc>
                          <a:spcPct val="95000"/>
                        </a:lnSpc>
                        <a:buNone/>
                      </a:pPr>
                      <a:r>
                        <a:rPr lang="en-US" sz="800" dirty="0">
                          <a:latin typeface="Hyundai Sans Text KR"/>
                          <a:ea typeface="Hyundai Sans Text KR" panose="020B0600000101010101" pitchFamily="34" charset="-127"/>
                        </a:rPr>
                        <a:t>• Difficulty in immediately reflecting real-time      control errors</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8540662"/>
                  </a:ext>
                </a:extLst>
              </a:tr>
              <a:tr h="2781405">
                <a:tc>
                  <a:txBody>
                    <a:bodyPr/>
                    <a:lstStyle/>
                    <a:p>
                      <a:pPr indent="0" algn="ctr">
                        <a:lnSpc>
                          <a:spcPct val="120000"/>
                        </a:lnSpc>
                        <a:spcBef>
                          <a:spcPts val="0"/>
                        </a:spcBef>
                        <a:spcAft>
                          <a:spcPts val="0"/>
                        </a:spcAft>
                        <a:buNone/>
                      </a:pPr>
                      <a:r>
                        <a:rPr lang="en-US" altLang="en-US" sz="800" b="1" i="0">
                          <a:effectLst/>
                          <a:latin typeface="현대산스 Text"/>
                          <a:ea typeface="현대산스 Text" panose="020B0600000101010101" pitchFamily="50" charset="-127"/>
                        </a:rPr>
                        <a:t>Learning layer</a:t>
                      </a:r>
                      <a:br>
                        <a:rPr sz="800"/>
                      </a:br>
                      <a:r>
                        <a:rPr lang="en-US" altLang="ko-KR" sz="800" b="0" i="0" kern="1200">
                          <a:solidFill>
                            <a:schemeClr val="tx1">
                              <a:lumMod val="50000"/>
                              <a:lumOff val="50000"/>
                            </a:schemeClr>
                          </a:solidFill>
                          <a:effectLst/>
                          <a:latin typeface="현대산스 Text"/>
                          <a:ea typeface="현대산스 Text" panose="020B0600000101010101" pitchFamily="50" charset="-127"/>
                          <a:cs typeface="+mn-cs"/>
                        </a:rPr>
                        <a:t> </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a:ea typeface="Hyundai Sans Text KR" panose="020B0600000101010101" pitchFamily="34" charset="-127"/>
                        </a:rPr>
                        <a:t>[Data Collection and Analysis]</a:t>
                      </a:r>
                    </a:p>
                    <a:p>
                      <a:pPr>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2) </a:t>
                      </a:r>
                      <a:r>
                        <a:rPr lang="en-US" altLang="ko-KR" sz="800" b="0" kern="1200" dirty="0">
                          <a:solidFill>
                            <a:schemeClr val="tx1"/>
                          </a:solidFill>
                          <a:effectLst/>
                          <a:latin typeface="Hyundai Sans Text KR"/>
                          <a:ea typeface="Hyundai Sans Text KR" panose="020B0600000101010101" pitchFamily="34" charset="-127"/>
                          <a:cs typeface="+mn-cs"/>
                        </a:rPr>
                        <a:t>• Collect process results, trajectories, and grip state data, and analyze success/failure patterns</a:t>
                      </a:r>
                      <a:endParaRPr lang="ko-KR" altLang="en-US" sz="800" kern="1200" dirty="0">
                        <a:solidFill>
                          <a:schemeClr val="tx1"/>
                        </a:solidFill>
                        <a:effectLst/>
                        <a:latin typeface="Hyundai Sans Text KR"/>
                        <a:ea typeface="Hyundai Sans Text KR" panose="020B0600000101010101" pitchFamily="34" charset="-127"/>
                        <a:cs typeface="+mn-cs"/>
                      </a:endParaRPr>
                    </a:p>
                    <a:p>
                      <a:pPr>
                        <a:lnSpc>
                          <a:spcPct val="95000"/>
                        </a:lnSpc>
                        <a:buNone/>
                      </a:pPr>
                      <a:r>
                        <a:rPr lang="en-US" altLang="ko-KR" sz="800" b="1" dirty="0">
                          <a:effectLst/>
                          <a:latin typeface="Hyundai Sans Text KR"/>
                          <a:ea typeface="Hyundai Sans Text KR" panose="020B0600000101010101" pitchFamily="34" charset="-127"/>
                        </a:rPr>
                        <a:t>[Flexible/Deformable Body Learning]</a:t>
                      </a:r>
                    </a:p>
                    <a:p>
                      <a:pPr>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3) • </a:t>
                      </a:r>
                      <a:r>
                        <a:rPr lang="en-US" altLang="ko-KR" sz="800" b="0" kern="1200" dirty="0">
                          <a:solidFill>
                            <a:schemeClr val="tx1"/>
                          </a:solidFill>
                          <a:effectLst/>
                          <a:latin typeface="Hyundai Sans Text KR"/>
                          <a:ea typeface="Hyundai Sans Text KR" panose="020B0600000101010101" pitchFamily="34" charset="-127"/>
                          <a:cs typeface="+mn-cs"/>
                        </a:rPr>
                        <a:t>Learn flexible and deformable object behaviors, along with success and failure cases, using Physical AI </a:t>
                      </a:r>
                      <a:endParaRPr lang="ko-KR" altLang="en-US" sz="800" b="0" kern="1200" dirty="0">
                        <a:solidFill>
                          <a:schemeClr val="tx1"/>
                        </a:solidFill>
                        <a:effectLst/>
                        <a:latin typeface="Hyundai Sans Text KR"/>
                        <a:ea typeface="Hyundai Sans Text KR" panose="020B0600000101010101" pitchFamily="34" charset="-127"/>
                        <a:cs typeface="+mn-cs"/>
                      </a:endParaRPr>
                    </a:p>
                    <a:p>
                      <a:pPr>
                        <a:lnSpc>
                          <a:spcPct val="95000"/>
                        </a:lnSpc>
                        <a:buNone/>
                      </a:pPr>
                      <a:r>
                        <a:rPr lang="en-US" altLang="ko-KR" sz="800" b="1" dirty="0">
                          <a:effectLst/>
                          <a:latin typeface="Hyundai Sans Text KR"/>
                          <a:ea typeface="Hyundai Sans Text KR" panose="020B0600000101010101" pitchFamily="34" charset="-127"/>
                        </a:rPr>
                        <a:t>[AI Agent-based Continuous Learning]</a:t>
                      </a:r>
                    </a:p>
                    <a:p>
                      <a:pPr>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3) </a:t>
                      </a:r>
                      <a:r>
                        <a:rPr lang="en-US" altLang="ko-KR" sz="800" b="0" kern="1200" dirty="0">
                          <a:solidFill>
                            <a:schemeClr val="tx1"/>
                          </a:solidFill>
                          <a:effectLst/>
                          <a:latin typeface="Hyundai Sans Text KR"/>
                          <a:ea typeface="Hyundai Sans Text KR" panose="020B0600000101010101" pitchFamily="34" charset="-127"/>
                          <a:cs typeface="+mn-cs"/>
                        </a:rPr>
                        <a:t>• Continuously optimize work sequence, path, and layout</a:t>
                      </a:r>
                    </a:p>
                    <a:p>
                      <a:pPr>
                        <a:lnSpc>
                          <a:spcPct val="95000"/>
                        </a:lnSpc>
                        <a:buNone/>
                      </a:pPr>
                      <a:r>
                        <a:rPr lang="en-US" altLang="ko-KR" sz="800" dirty="0">
                          <a:effectLst/>
                          <a:latin typeface="Hyundai Sans Text KR"/>
                          <a:ea typeface="Hyundai Sans Text KR" panose="020B0600000101010101" pitchFamily="34" charset="-127"/>
                        </a:rPr>
                        <a:t>          • Quality/Maintenance Prediction &amp; Feedback-Based Autonomous Optimization</a:t>
                      </a:r>
                      <a:endParaRPr lang="ko-KR" altLang="en-US" sz="800" kern="1200" dirty="0">
                        <a:solidFill>
                          <a:schemeClr val="tx1"/>
                        </a:solidFill>
                        <a:effectLst/>
                        <a:latin typeface="Hyundai Sans Text KR"/>
                        <a:ea typeface="Hyundai Sans Text KR" panose="020B0600000101010101" pitchFamily="34" charset="-127"/>
                        <a:cs typeface="+mn-cs"/>
                      </a:endParaRP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nSpc>
                          <a:spcPct val="95000"/>
                        </a:lnSpc>
                        <a:buNone/>
                      </a:pPr>
                      <a:r>
                        <a:rPr lang="en-US" sz="800" b="1" i="0" u="none" strike="noStrike" noProof="0" dirty="0">
                          <a:solidFill>
                            <a:srgbClr val="000000"/>
                          </a:solidFill>
                          <a:effectLst/>
                          <a:latin typeface="Hyundai Sans Text KR"/>
                          <a:ea typeface="Hyundai Sans Text KR"/>
                        </a:rPr>
                        <a:t>[AI-based Learning/Distribution/Operation Technology]</a:t>
                      </a:r>
                      <a:endParaRPr lang="en-US" sz="800" b="0" i="0" u="none" strike="noStrike" noProof="0" dirty="0">
                        <a:solidFill>
                          <a:srgbClr val="000000"/>
                        </a:solidFill>
                        <a:effectLst/>
                        <a:latin typeface="Hyundai Sans Text KR"/>
                        <a:ea typeface="Hyundai Sans Text KR"/>
                      </a:endParaRPr>
                    </a:p>
                    <a:p>
                      <a:pPr marL="0" lvl="0" indent="0">
                        <a:lnSpc>
                          <a:spcPct val="95000"/>
                        </a:lnSpc>
                        <a:buFont typeface="Arial"/>
                        <a:buChar char="•"/>
                      </a:pPr>
                      <a:r>
                        <a:rPr lang="en-US" sz="800" b="0" i="0" u="none" strike="noStrike" noProof="0" dirty="0">
                          <a:solidFill>
                            <a:schemeClr val="tx1"/>
                          </a:solidFill>
                          <a:effectLst/>
                          <a:latin typeface="Hyundai Sans Text KR"/>
                          <a:ea typeface="Hyundai Sans Text KR"/>
                        </a:rPr>
                        <a:t> </a:t>
                      </a:r>
                      <a:r>
                        <a:rPr lang="en-US" sz="800" b="0" i="0" u="none" strike="noStrike" noProof="0" dirty="0" err="1">
                          <a:solidFill>
                            <a:schemeClr val="tx1"/>
                          </a:solidFill>
                          <a:effectLst/>
                          <a:latin typeface="Hyundai Sans Text KR"/>
                          <a:ea typeface="Hyundai Sans Text KR"/>
                        </a:rPr>
                        <a:t>MLOps</a:t>
                      </a:r>
                      <a:r>
                        <a:rPr lang="en-US" sz="800" b="0" i="0" u="none" strike="noStrike" noProof="0" dirty="0">
                          <a:solidFill>
                            <a:schemeClr val="tx1"/>
                          </a:solidFill>
                          <a:effectLst/>
                          <a:latin typeface="Hyundai Sans Text KR"/>
                          <a:ea typeface="Hyundai Sans Text KR"/>
                        </a:rPr>
                        <a:t>-based learning, retraining, &amp; model operation </a:t>
                      </a:r>
                    </a:p>
                    <a:p>
                      <a:pPr marL="0" lvl="0" indent="0">
                        <a:lnSpc>
                          <a:spcPct val="95000"/>
                        </a:lnSpc>
                        <a:buFont typeface="Arial"/>
                        <a:buNone/>
                      </a:pPr>
                      <a:r>
                        <a:rPr lang="en-US" sz="800" b="0" i="0" u="none" strike="noStrike" noProof="0" dirty="0">
                          <a:solidFill>
                            <a:schemeClr val="tx1"/>
                          </a:solidFill>
                          <a:effectLst/>
                          <a:latin typeface="Hyundai Sans Text KR"/>
                          <a:ea typeface="Hyundai Sans Text KR"/>
                        </a:rPr>
                        <a:t>  technology</a:t>
                      </a:r>
                      <a:endParaRPr lang="en-US" sz="800" b="0" i="0" u="none" strike="noStrike" noProof="0" dirty="0">
                        <a:solidFill>
                          <a:srgbClr val="000000"/>
                        </a:solidFill>
                        <a:effectLst/>
                        <a:latin typeface="Hyundai Sans Text KR"/>
                        <a:ea typeface="Hyundai Sans Text KR"/>
                      </a:endParaRPr>
                    </a:p>
                    <a:p>
                      <a:pPr marL="0" lvl="0" indent="0">
                        <a:lnSpc>
                          <a:spcPct val="95000"/>
                        </a:lnSpc>
                        <a:buFont typeface="Arial"/>
                        <a:buChar char="•"/>
                      </a:pPr>
                      <a:r>
                        <a:rPr lang="en-US" sz="800" b="0" i="0" u="none" strike="noStrike" noProof="0" dirty="0">
                          <a:solidFill>
                            <a:srgbClr val="000000"/>
                          </a:solidFill>
                          <a:effectLst/>
                          <a:latin typeface="Hyundai Sans Text KR"/>
                          <a:ea typeface="Hyundai Sans Text KR"/>
                        </a:rPr>
                        <a:t> AI Agent-based Closed-Loop Learning Architecture</a:t>
                      </a:r>
                      <a:endParaRPr lang="ko-KR" altLang="en-US" sz="800" b="0" i="0" u="none" strike="noStrike" noProof="0" dirty="0">
                        <a:solidFill>
                          <a:srgbClr val="000000"/>
                        </a:solidFill>
                        <a:effectLst/>
                        <a:latin typeface="Hyundai Sans Text KR"/>
                        <a:ea typeface="Hyundai Sans Text KR"/>
                      </a:endParaRPr>
                    </a:p>
                    <a:p>
                      <a:pPr marL="0" lvl="0" indent="0">
                        <a:lnSpc>
                          <a:spcPct val="95000"/>
                        </a:lnSpc>
                        <a:buFont typeface="Arial"/>
                        <a:buChar char="•"/>
                      </a:pPr>
                      <a:r>
                        <a:rPr lang="en-US" sz="800" b="0" i="0" u="none" strike="noStrike" noProof="0" dirty="0">
                          <a:solidFill>
                            <a:srgbClr val="000000"/>
                          </a:solidFill>
                          <a:effectLst/>
                          <a:latin typeface="Hyundai Sans Text KR"/>
                          <a:ea typeface="Hyundai Sans Text KR"/>
                        </a:rPr>
                        <a:t> Success/Failure case database &amp; Closed-loop learning </a:t>
                      </a:r>
                    </a:p>
                    <a:p>
                      <a:pPr marL="0" lvl="0" indent="0">
                        <a:lnSpc>
                          <a:spcPct val="95000"/>
                        </a:lnSpc>
                        <a:buFont typeface="Arial"/>
                        <a:buNone/>
                      </a:pPr>
                      <a:r>
                        <a:rPr lang="en-US" sz="800" b="0" i="0" u="none" strike="noStrike" noProof="0" dirty="0">
                          <a:solidFill>
                            <a:srgbClr val="000000"/>
                          </a:solidFill>
                          <a:effectLst/>
                          <a:latin typeface="Hyundai Sans Text KR"/>
                          <a:ea typeface="Hyundai Sans Text KR"/>
                        </a:rPr>
                        <a:t>  Technology</a:t>
                      </a:r>
                      <a:endParaRPr lang="ko-KR" altLang="en-US" sz="800" b="0" i="0" u="none" strike="noStrike" noProof="0" dirty="0">
                        <a:solidFill>
                          <a:srgbClr val="000000"/>
                        </a:solidFill>
                        <a:effectLst/>
                        <a:latin typeface="Hyundai Sans Text KR"/>
                        <a:ea typeface="Hyundai Sans Text KR"/>
                      </a:endParaRPr>
                    </a:p>
                    <a:p>
                      <a:pPr marL="0" lvl="0" indent="0">
                        <a:lnSpc>
                          <a:spcPct val="95000"/>
                        </a:lnSpc>
                        <a:buFont typeface="Arial"/>
                        <a:buChar char="•"/>
                      </a:pPr>
                      <a:r>
                        <a:rPr lang="en-US" sz="800" b="0" i="0" u="none" strike="noStrike" noProof="0" dirty="0">
                          <a:solidFill>
                            <a:srgbClr val="000000"/>
                          </a:solidFill>
                          <a:effectLst/>
                          <a:latin typeface="Hyundai Sans Text KR"/>
                          <a:ea typeface="Hyundai Sans Text KR"/>
                        </a:rPr>
                        <a:t> Digital Twin-Site-Agent Linked Continuous Learning </a:t>
                      </a:r>
                    </a:p>
                    <a:p>
                      <a:pPr marL="0" lvl="0" indent="0">
                        <a:lnSpc>
                          <a:spcPct val="95000"/>
                        </a:lnSpc>
                        <a:buFont typeface="Arial"/>
                        <a:buNone/>
                      </a:pPr>
                      <a:r>
                        <a:rPr lang="en-US" sz="800" b="0" i="0" u="none" strike="noStrike" noProof="0" dirty="0">
                          <a:solidFill>
                            <a:srgbClr val="000000"/>
                          </a:solidFill>
                          <a:effectLst/>
                          <a:latin typeface="Hyundai Sans Text KR"/>
                          <a:ea typeface="Hyundai Sans Text KR"/>
                        </a:rPr>
                        <a:t>  Technology</a:t>
                      </a:r>
                      <a:endParaRPr lang="ko-KR" altLang="en-US" sz="800" b="0" i="0" u="none" strike="noStrike" noProof="0" dirty="0">
                        <a:solidFill>
                          <a:srgbClr val="000000"/>
                        </a:solidFill>
                        <a:effectLst/>
                        <a:latin typeface="Hyundai Sans Text KR"/>
                        <a:ea typeface="Hyundai Sans Text KR"/>
                      </a:endParaRPr>
                    </a:p>
                    <a:p>
                      <a:pPr lvl="0">
                        <a:lnSpc>
                          <a:spcPct val="95000"/>
                        </a:lnSpc>
                        <a:buNone/>
                      </a:pPr>
                      <a:endParaRPr lang="en-US" altLang="ko-KR" sz="800" dirty="0">
                        <a:effectLst/>
                        <a:latin typeface="Hyundai Sans Text KR"/>
                        <a:ea typeface="Hyundai Sans Text KR"/>
                      </a:endParaRP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a:lnSpc>
                          <a:spcPct val="95000"/>
                        </a:lnSpc>
                        <a:buNone/>
                      </a:pPr>
                      <a:r>
                        <a:rPr lang="en-US" altLang="ko-KR" sz="800" b="1" i="0" u="none" strike="noStrike" noProof="0" dirty="0">
                          <a:solidFill>
                            <a:srgbClr val="000000"/>
                          </a:solidFill>
                          <a:effectLst/>
                          <a:latin typeface="Hyundai Sans Text KR"/>
                          <a:ea typeface="Hyundai Sans Text KR"/>
                        </a:rPr>
                        <a:t>[AI Self-Learning and Physical AI Technology]</a:t>
                      </a:r>
                    </a:p>
                    <a:p>
                      <a:pPr marL="0" lvl="0" indent="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Physical AI &amp; Reinforcement learning-based learning </a:t>
                      </a:r>
                    </a:p>
                    <a:p>
                      <a:pPr marL="0" lvl="0" indent="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a:t>
                      </a:r>
                    </a:p>
                    <a:p>
                      <a:pPr marL="0" lvl="0" indent="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Success/Failure case database &amp; Closed-loop learning </a:t>
                      </a:r>
                    </a:p>
                    <a:p>
                      <a:pPr marL="0" lvl="0" indent="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a:t>
                      </a:r>
                      <a:endParaRPr lang="en-US" dirty="0"/>
                    </a:p>
                    <a:p>
                      <a:pPr marL="0" lvl="0" indent="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Digital Twin-Site-Agent Linked Continuous Learning </a:t>
                      </a:r>
                    </a:p>
                    <a:p>
                      <a:pPr marL="0" lvl="0" indent="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a:t>
                      </a:r>
                      <a:endParaRPr lang="en-US" altLang="ko-KR" sz="800" b="1" i="0" u="none" strike="noStrike" noProof="0" dirty="0">
                        <a:solidFill>
                          <a:srgbClr val="000000"/>
                        </a:solidFill>
                        <a:effectLst/>
                        <a:latin typeface="Hyundai Sans Text KR"/>
                        <a:ea typeface="Hyundai Sans Text KR"/>
                      </a:endParaRPr>
                    </a:p>
                    <a:p>
                      <a:pPr marL="0" lvl="0" indent="0">
                        <a:lnSpc>
                          <a:spcPct val="95000"/>
                        </a:lnSpc>
                        <a:buFont typeface="Arial"/>
                        <a:buNone/>
                      </a:pPr>
                      <a:br>
                        <a:rPr lang="en-US" altLang="ko-KR" sz="800" b="1" i="0" u="none" strike="noStrike" noProof="0" dirty="0">
                          <a:solidFill>
                            <a:srgbClr val="000000"/>
                          </a:solidFill>
                          <a:effectLst/>
                          <a:latin typeface="Hyundai Sans Text KR"/>
                          <a:ea typeface="Hyundai Sans Text KR"/>
                        </a:rPr>
                      </a:br>
                      <a:r>
                        <a:rPr lang="en-US" altLang="ko-KR" sz="800" b="1" i="0" u="none" strike="noStrike" noProof="0" dirty="0">
                          <a:solidFill>
                            <a:srgbClr val="000000"/>
                          </a:solidFill>
                          <a:effectLst/>
                          <a:latin typeface="Hyundai Sans Text KR"/>
                          <a:ea typeface="Hyundai Sans Text KR"/>
                        </a:rPr>
                        <a:t>[AI Agent Technology]</a:t>
                      </a:r>
                    </a:p>
                    <a:p>
                      <a:pPr marL="0" lvl="0" indent="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AI Agent-based Closed-Loop Learning Architecture </a:t>
                      </a:r>
                      <a:endParaRPr lang="en-US" dirty="0"/>
                    </a:p>
                    <a:p>
                      <a:pPr marL="0" lvl="0" indent="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LLM/VLM-based Autonomous Decision-Making and Process </a:t>
                      </a:r>
                    </a:p>
                    <a:p>
                      <a:pPr marL="0" lvl="0" indent="0">
                        <a:lnSpc>
                          <a:spcPct val="95000"/>
                        </a:lnSpc>
                        <a:buFont typeface="Arial"/>
                        <a:buNone/>
                      </a:pPr>
                      <a:r>
                        <a:rPr lang="en-US" altLang="ko-KR" sz="800" b="0" i="0" u="none" strike="noStrike" noProof="0" dirty="0">
                          <a:solidFill>
                            <a:srgbClr val="000000"/>
                          </a:solidFill>
                          <a:effectLst/>
                          <a:latin typeface="Hyundai Sans Text KR"/>
                          <a:ea typeface="Hyundai Sans Text KR"/>
                        </a:rPr>
                        <a:t>  Optimization Technology</a:t>
                      </a:r>
                      <a:endParaRPr lang="en-US" dirty="0"/>
                    </a:p>
                    <a:p>
                      <a:pPr marL="0" lvl="0" indent="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Reinforcement Learning-based Planning · Optimization </a:t>
                      </a:r>
                    </a:p>
                    <a:p>
                      <a:pPr marL="0" lvl="0" indent="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 (RL)</a:t>
                      </a:r>
                      <a:endParaRPr lang="en-US" dirty="0"/>
                    </a:p>
                    <a:p>
                      <a:pPr lvl="0">
                        <a:lnSpc>
                          <a:spcPct val="95000"/>
                        </a:lnSpc>
                        <a:buNone/>
                      </a:pPr>
                      <a:endParaRPr lang="ko-KR" sz="800" dirty="0">
                        <a:effectLst/>
                        <a:latin typeface="Hyundai Sans Text KR"/>
                        <a:ea typeface="Hyundai Sans Text KR"/>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a:effectLst/>
                        <a:latin typeface="Hyundai Sans Text KR"/>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en-US" sz="800" dirty="0">
                          <a:latin typeface="Hyundai Sans Text KR"/>
                          <a:ea typeface="Hyundai Sans Text KR" panose="020B0600000101010101" pitchFamily="34" charset="-127"/>
                        </a:rPr>
                        <a:t>• Flexible and deformable body behavior</a:t>
                      </a:r>
                    </a:p>
                    <a:p>
                      <a:pPr>
                        <a:lnSpc>
                          <a:spcPct val="95000"/>
                        </a:lnSpc>
                        <a:buNone/>
                      </a:pPr>
                      <a:r>
                        <a:rPr lang="en-US" sz="800" dirty="0">
                          <a:latin typeface="Hyundai Sans Text KR"/>
                          <a:ea typeface="Hyundai Sans Text KR" panose="020B0600000101010101" pitchFamily="34" charset="-127"/>
                        </a:rPr>
                        <a:t>  modeling difficulty</a:t>
                      </a:r>
                      <a:endParaRPr lang="en-US" altLang="ko-KR" sz="800" dirty="0">
                        <a:latin typeface="Hyundai Sans Text KR"/>
                        <a:ea typeface="Hyundai Sans Text KR" panose="020B0600000101010101" pitchFamily="34" charset="-127"/>
                      </a:endParaRPr>
                    </a:p>
                    <a:p>
                      <a:pPr>
                        <a:lnSpc>
                          <a:spcPct val="95000"/>
                        </a:lnSpc>
                        <a:buNone/>
                      </a:pPr>
                      <a:r>
                        <a:rPr lang="en-US" sz="800" dirty="0">
                          <a:latin typeface="Hyundai Sans Text KR"/>
                          <a:ea typeface="Hyundai Sans Text KR" panose="020B0600000101010101" pitchFamily="34" charset="-127"/>
                        </a:rPr>
                        <a:t>• Shortage of Rare failure data</a:t>
                      </a:r>
                      <a:endParaRPr lang="en-US" altLang="ko-KR" sz="800" dirty="0">
                        <a:latin typeface="Hyundai Sans Text KR"/>
                        <a:ea typeface="Hyundai Sans Text KR" panose="020B0600000101010101" pitchFamily="34" charset="-127"/>
                      </a:endParaRPr>
                    </a:p>
                    <a:p>
                      <a:pPr>
                        <a:lnSpc>
                          <a:spcPct val="95000"/>
                        </a:lnSpc>
                        <a:buNone/>
                      </a:pPr>
                      <a:r>
                        <a:rPr lang="en-US" sz="800" dirty="0">
                          <a:latin typeface="Hyundai Sans Text KR"/>
                          <a:ea typeface="Hyundai Sans Text KR" panose="020B0600000101010101" pitchFamily="34" charset="-127"/>
                        </a:rPr>
                        <a:t>• Difficulty generalizing learning outcomes to </a:t>
                      </a:r>
                    </a:p>
                    <a:p>
                      <a:pPr>
                        <a:lnSpc>
                          <a:spcPct val="95000"/>
                        </a:lnSpc>
                        <a:buNone/>
                      </a:pPr>
                      <a:r>
                        <a:rPr lang="en-US" sz="800" dirty="0">
                          <a:latin typeface="Hyundai Sans Text KR"/>
                          <a:ea typeface="Hyundai Sans Text KR" panose="020B0600000101010101" pitchFamily="34" charset="-127"/>
                        </a:rPr>
                        <a:t>   Shop floor</a:t>
                      </a:r>
                      <a:endParaRPr lang="en-US" altLang="ko-KR" sz="800" dirty="0">
                        <a:latin typeface="Hyundai Sans Text KR"/>
                        <a:ea typeface="Hyundai Sans Text KR" panose="020B0600000101010101" pitchFamily="34" charset="-127"/>
                      </a:endParaRPr>
                    </a:p>
                    <a:p>
                      <a:pPr>
                        <a:lnSpc>
                          <a:spcPct val="95000"/>
                        </a:lnSpc>
                        <a:buNone/>
                      </a:pPr>
                      <a:r>
                        <a:rPr lang="en-US" sz="800" dirty="0">
                          <a:latin typeface="Hyundai Sans Text KR"/>
                          <a:ea typeface="Hyundai Sans Text KR" panose="020B0600000101010101" pitchFamily="34" charset="-127"/>
                        </a:rPr>
                        <a:t>• Need to ensure the reliability of AI-generated recommendations and establish a framework </a:t>
                      </a:r>
                    </a:p>
                    <a:p>
                      <a:pPr>
                        <a:lnSpc>
                          <a:spcPct val="95000"/>
                        </a:lnSpc>
                        <a:buNone/>
                      </a:pPr>
                      <a:r>
                        <a:rPr lang="en-US" sz="800" dirty="0">
                          <a:latin typeface="Hyundai Sans Text KR"/>
                          <a:ea typeface="Hyundai Sans Text KR" panose="020B0600000101010101" pitchFamily="34" charset="-127"/>
                        </a:rPr>
                        <a:t>for continuous self-optimization</a:t>
                      </a:r>
                      <a:endParaRPr lang="ko-KR" sz="800" dirty="0">
                        <a:latin typeface="Hyundai Sans Text KR"/>
                        <a:ea typeface="Hyundai Sans Text KR" panose="020B0600000101010101" pitchFamily="34" charset="-127"/>
                      </a:endParaRP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792073"/>
                  </a:ext>
                </a:extLst>
              </a:tr>
            </a:tbl>
          </a:graphicData>
        </a:graphic>
      </p:graphicFrame>
    </p:spTree>
    <p:extLst>
      <p:ext uri="{BB962C8B-B14F-4D97-AF65-F5344CB8AC3E}">
        <p14:creationId xmlns:p14="http://schemas.microsoft.com/office/powerpoint/2010/main" val="4251286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B49B8FD-8CF3-24CE-0981-2E54E46D62B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DAF56755-65EF-BE7C-9704-E74F1D719676}"/>
              </a:ext>
            </a:extLst>
          </p:cNvPr>
          <p:cNvSpPr>
            <a:spLocks noGrp="1"/>
          </p:cNvSpPr>
          <p:nvPr>
            <p:ph type="ctrTitle"/>
          </p:nvPr>
        </p:nvSpPr>
        <p:spPr>
          <a:xfrm>
            <a:off x="273049" y="179388"/>
            <a:ext cx="9632951"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③ 로봇 </a:t>
            </a:r>
            <a:r>
              <a:rPr kumimoji="1" lang="ko-KR" altLang="en-US" sz="2400" b="1" kern="400" dirty="0" err="1">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티칭</a:t>
            </a:r>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 및 보정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4D4E7E5-08B3-9191-3D88-7458CC3BDC8E}"/>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D0FCDF9E-4930-5194-03EC-636B063B33BF}"/>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607C6D78-4C70-FF08-172F-CDD5B31D7332}"/>
              </a:ext>
            </a:extLst>
          </p:cNvPr>
          <p:cNvSpPr txBox="1"/>
          <p:nvPr/>
        </p:nvSpPr>
        <p:spPr>
          <a:xfrm>
            <a:off x="338778" y="935137"/>
            <a:ext cx="429444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로봇 </a:t>
            </a:r>
            <a:r>
              <a:rPr kumimoji="0" lang="ko-KR" altLang="en-US" sz="1400" b="1" i="0" u="none" strike="noStrike" kern="1200" cap="none" spc="0" normalizeH="0" baseline="0" noProof="0" dirty="0" err="1">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티칭</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 및 보정 자율화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767654FF-0FA2-15E9-EC6D-E911EAAD3870}"/>
              </a:ext>
            </a:extLst>
          </p:cNvPr>
          <p:cNvSpPr>
            <a:spLocks noChangeArrowheads="1"/>
          </p:cNvSpPr>
          <p:nvPr/>
        </p:nvSpPr>
        <p:spPr bwMode="auto">
          <a:xfrm>
            <a:off x="541148" y="1159957"/>
            <a:ext cx="8265404"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목표 </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디지털 트윈 기반 가상 시운전</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a:t>
            </a:r>
            <a:r>
              <a:rPr kumimoji="0" lang="ko-KR" altLang="ko-KR" sz="1100" b="0" i="0" u="none" strike="noStrike" kern="1200" cap="none" spc="0" normalizeH="0" baseline="0" noProof="0" dirty="0" err="1">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Sim-to-Real</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으로 로봇 </a:t>
            </a:r>
            <a:r>
              <a:rPr kumimoji="0" lang="ko-KR" altLang="ko-KR" sz="1200" b="1" i="0" u="none" strike="noStrike" kern="1200" cap="none" spc="0" normalizeH="0" baseline="0" noProof="0" dirty="0" err="1">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티칭을</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제로화</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a:t>
            </a:r>
            <a:r>
              <a:rPr kumimoji="0" lang="ko-KR" altLang="ko-KR" sz="1100" b="0" i="0" u="none" strike="noStrike" kern="1200" cap="none" spc="0" normalizeH="0" baseline="0" noProof="0" dirty="0" err="1">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Teaching-less</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하고, 조립 중 발생하는 차체/부품/설비의</a:t>
            </a:r>
            <a:endPar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미세 공차를 </a:t>
            </a:r>
            <a:r>
              <a:rPr kumimoji="0" lang="ko-KR" altLang="ko-KR" sz="1200" b="1" i="0" u="none" strike="noStrike" kern="1200" cap="none" spc="0" normalizeH="0" baseline="0" noProof="0" dirty="0" err="1">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엣지</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비전과 센서로 실시간 자율 보정하는 체계 구축</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a:t>
            </a:r>
            <a:endPar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p:txBody>
      </p:sp>
      <p:graphicFrame>
        <p:nvGraphicFramePr>
          <p:cNvPr id="13" name="표 12">
            <a:extLst>
              <a:ext uri="{FF2B5EF4-FFF2-40B4-BE49-F238E27FC236}">
                <a16:creationId xmlns:a16="http://schemas.microsoft.com/office/drawing/2014/main" id="{FC0595FF-1023-BE3A-B837-BF3C8487353F}"/>
              </a:ext>
            </a:extLst>
          </p:cNvPr>
          <p:cNvGraphicFramePr>
            <a:graphicFrameLocks noGrp="1"/>
          </p:cNvGraphicFramePr>
          <p:nvPr/>
        </p:nvGraphicFramePr>
        <p:xfrm>
          <a:off x="425513" y="1676668"/>
          <a:ext cx="11605122" cy="5067032"/>
        </p:xfrm>
        <a:graphic>
          <a:graphicData uri="http://schemas.openxmlformats.org/drawingml/2006/table">
            <a:tbl>
              <a:tblPr/>
              <a:tblGrid>
                <a:gridCol w="704787">
                  <a:extLst>
                    <a:ext uri="{9D8B030D-6E8A-4147-A177-3AD203B41FA5}">
                      <a16:colId xmlns:a16="http://schemas.microsoft.com/office/drawing/2014/main" val="443115551"/>
                    </a:ext>
                  </a:extLst>
                </a:gridCol>
                <a:gridCol w="3263900">
                  <a:extLst>
                    <a:ext uri="{9D8B030D-6E8A-4147-A177-3AD203B41FA5}">
                      <a16:colId xmlns:a16="http://schemas.microsoft.com/office/drawing/2014/main" val="977350797"/>
                    </a:ext>
                  </a:extLst>
                </a:gridCol>
                <a:gridCol w="2704084">
                  <a:extLst>
                    <a:ext uri="{9D8B030D-6E8A-4147-A177-3AD203B41FA5}">
                      <a16:colId xmlns:a16="http://schemas.microsoft.com/office/drawing/2014/main" val="642123437"/>
                    </a:ext>
                  </a:extLst>
                </a:gridCol>
                <a:gridCol w="2704084">
                  <a:extLst>
                    <a:ext uri="{9D8B030D-6E8A-4147-A177-3AD203B41FA5}">
                      <a16:colId xmlns:a16="http://schemas.microsoft.com/office/drawing/2014/main" val="4245837861"/>
                    </a:ext>
                  </a:extLst>
                </a:gridCol>
                <a:gridCol w="192024">
                  <a:extLst>
                    <a:ext uri="{9D8B030D-6E8A-4147-A177-3AD203B41FA5}">
                      <a16:colId xmlns:a16="http://schemas.microsoft.com/office/drawing/2014/main" val="3595800298"/>
                    </a:ext>
                  </a:extLst>
                </a:gridCol>
                <a:gridCol w="2036243">
                  <a:extLst>
                    <a:ext uri="{9D8B030D-6E8A-4147-A177-3AD203B41FA5}">
                      <a16:colId xmlns:a16="http://schemas.microsoft.com/office/drawing/2014/main" val="437409975"/>
                    </a:ext>
                  </a:extLst>
                </a:gridCol>
              </a:tblGrid>
              <a:tr h="142518">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3041"/>
                    </a:solid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a:t>
                      </a:r>
                      <a:r>
                        <a:rPr lang="en-US" altLang="ko-KR" sz="900" b="1" i="0" kern="1200" dirty="0" err="1">
                          <a:solidFill>
                            <a:schemeClr val="tx1"/>
                          </a:solidFill>
                          <a:effectLst/>
                          <a:latin typeface="현대산스 Text" panose="020B0600000101010101" pitchFamily="50" charset="-127"/>
                          <a:ea typeface="현대산스 Text" panose="020B0600000101010101" pitchFamily="50" charset="-127"/>
                          <a:cs typeface="+mn-cs"/>
                        </a:rPr>
                        <a:t>CoreR&amp;D</a:t>
                      </a:r>
                      <a:endPar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44578553"/>
                  </a:ext>
                </a:extLst>
              </a:tr>
              <a:tr h="1011484">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a:t>
                      </a:r>
                      <a:r>
                        <a:rPr lang="en-US"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데이터 인터페이스 및 시스템 연계</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(1</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주요 설비 간 연결 체계 및 현장</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가상 기초 데이터 연계 구축</a:t>
                      </a:r>
                    </a:p>
                    <a:p>
                      <a:pPr>
                        <a:lnSpc>
                          <a:spcPct val="95000"/>
                        </a:lnSpc>
                        <a:buNone/>
                      </a:pP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6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현장 데이터의 수동</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주기적 수집 기반 마련</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500" b="1" dirty="0">
                          <a:effectLst/>
                          <a:latin typeface="Hyundai Sans Text KR" panose="020B0600000101010101" pitchFamily="34" charset="-127"/>
                          <a:ea typeface="Hyundai Sans Text KR" panose="020B0600000101010101" pitchFamily="34" charset="-127"/>
                        </a:rPr>
                        <a:t>(2</a:t>
                      </a:r>
                      <a:r>
                        <a:rPr lang="ko-KR" altLang="en-US" sz="500" b="1" dirty="0">
                          <a:effectLst/>
                          <a:latin typeface="Hyundai Sans Text KR" panose="020B0600000101010101" pitchFamily="34" charset="-127"/>
                          <a:ea typeface="Hyundai Sans Text KR" panose="020B0600000101010101" pitchFamily="34" charset="-127"/>
                        </a:rPr>
                        <a:t>단계</a:t>
                      </a:r>
                      <a:r>
                        <a:rPr lang="en-US" altLang="ko-KR" sz="500" b="1"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현장 운영 데이터 자동 수집</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연계 체계 구축</a:t>
                      </a:r>
                    </a:p>
                    <a:p>
                      <a:pPr>
                        <a:lnSpc>
                          <a:spcPct val="95000"/>
                        </a:lnSpc>
                        <a:buNone/>
                      </a:pP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6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현실</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가상 데이터 상호 반영을 위한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폐루프</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연계 환경 구축</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r>
                        <a:rPr lang="ko-KR" sz="800" b="1" dirty="0">
                          <a:effectLst/>
                          <a:latin typeface="Hyundai Sans Text KR" panose="020B0600000101010101" pitchFamily="34" charset="-127"/>
                          <a:ea typeface="Hyundai Sans Text KR" panose="020B0600000101010101" pitchFamily="34" charset="-127"/>
                        </a:rPr>
                        <a:t>[통합 연계 플랫폼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상위 시스템-현장 데이터 연계 구조 기술 </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r>
                        <a:rPr lang="en-US" altLang="ko-KR" sz="800" dirty="0">
                          <a:effectLst/>
                          <a:latin typeface="Hyundai Sans Text KR" panose="020B0600000101010101" pitchFamily="34" charset="-127"/>
                          <a:ea typeface="Hyundai Sans Text KR" panose="020B0600000101010101" pitchFamily="34" charset="-127"/>
                        </a:rPr>
                        <a:t>  (ERP/MES, Legacy, SDF </a:t>
                      </a:r>
                      <a:r>
                        <a:rPr lang="ko-KR" altLang="en-US" sz="800" dirty="0">
                          <a:effectLst/>
                          <a:latin typeface="Hyundai Sans Text KR" panose="020B0600000101010101" pitchFamily="34" charset="-127"/>
                          <a:ea typeface="Hyundai Sans Text KR" panose="020B0600000101010101" pitchFamily="34" charset="-127"/>
                        </a:rPr>
                        <a:t>기반 연계</a:t>
                      </a:r>
                      <a:r>
                        <a:rPr lang="en-US" alt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이기종 설비 API/커넥터 및 </a:t>
                      </a:r>
                      <a:r>
                        <a:rPr lang="ko-KR" sz="800" dirty="0" err="1">
                          <a:effectLst/>
                          <a:latin typeface="Hyundai Sans Text KR" panose="020B0600000101010101" pitchFamily="34" charset="-127"/>
                          <a:ea typeface="Hyundai Sans Text KR" panose="020B0600000101010101" pitchFamily="34" charset="-127"/>
                        </a:rPr>
                        <a:t>IIoT</a:t>
                      </a:r>
                      <a:r>
                        <a:rPr lang="ko-KR" sz="800" dirty="0">
                          <a:effectLst/>
                          <a:latin typeface="Hyundai Sans Text KR" panose="020B0600000101010101" pitchFamily="34" charset="-127"/>
                          <a:ea typeface="Hyundai Sans Text KR" panose="020B0600000101010101" pitchFamily="34" charset="-127"/>
                        </a:rPr>
                        <a:t> 기반 데이터 연계 기술 </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r>
                        <a:rPr lang="en-US" altLang="ko-KR" sz="800" dirty="0">
                          <a:effectLst/>
                          <a:latin typeface="Hyundai Sans Text KR" panose="020B0600000101010101" pitchFamily="34" charset="-127"/>
                          <a:ea typeface="Hyundai Sans Text KR" panose="020B0600000101010101" pitchFamily="34" charset="-127"/>
                        </a:rPr>
                        <a:t>  (Robot, PLC, </a:t>
                      </a:r>
                      <a:r>
                        <a:rPr lang="ko-KR" altLang="en-US" sz="800" dirty="0">
                          <a:effectLst/>
                          <a:latin typeface="Hyundai Sans Text KR" panose="020B0600000101010101" pitchFamily="34" charset="-127"/>
                          <a:ea typeface="Hyundai Sans Text KR" panose="020B0600000101010101" pitchFamily="34" charset="-127"/>
                        </a:rPr>
                        <a:t>비전</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센서</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err="1">
                          <a:effectLst/>
                          <a:latin typeface="Hyundai Sans Text KR" panose="020B0600000101010101" pitchFamily="34" charset="-127"/>
                          <a:ea typeface="Hyundai Sans Text KR" panose="020B0600000101010101" pitchFamily="34" charset="-127"/>
                        </a:rPr>
                        <a:t>그리퍼</a:t>
                      </a:r>
                      <a:r>
                        <a:rPr lang="en-US" alt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엣지</a:t>
                      </a:r>
                      <a:r>
                        <a:rPr lang="ko-KR" sz="800" dirty="0">
                          <a:effectLst/>
                          <a:latin typeface="Hyundai Sans Text KR" panose="020B0600000101010101" pitchFamily="34" charset="-127"/>
                          <a:ea typeface="Hyundai Sans Text KR" panose="020B0600000101010101" pitchFamily="34" charset="-127"/>
                        </a:rPr>
                        <a:t> 기반 실시간 데이터 연계 및 현장 배포 기술 </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r>
                        <a:rPr lang="en-US" altLang="ko-KR" sz="800" dirty="0">
                          <a:effectLst/>
                          <a:latin typeface="Hyundai Sans Text KR" panose="020B0600000101010101" pitchFamily="34" charset="-127"/>
                          <a:ea typeface="Hyundai Sans Text KR" panose="020B0600000101010101" pitchFamily="34" charset="-127"/>
                        </a:rPr>
                        <a:t>  (Edge Computing, </a:t>
                      </a:r>
                      <a:r>
                        <a:rPr lang="ko-KR" altLang="en-US" sz="800" dirty="0">
                          <a:effectLst/>
                          <a:latin typeface="Hyundai Sans Text KR" panose="020B0600000101010101" pitchFamily="34" charset="-127"/>
                          <a:ea typeface="Hyundai Sans Text KR" panose="020B0600000101010101" pitchFamily="34" charset="-127"/>
                        </a:rPr>
                        <a:t>실시간 데이터 수집</a:t>
                      </a:r>
                      <a:r>
                        <a:rPr lang="en-US" alt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운영 환경 및 데이터 모니터링 기술</a:t>
                      </a: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상위 시스템과 현장 시스템 간 데이터 구조</a:t>
                      </a:r>
                      <a:br>
                        <a:rPr lang="en-US" altLang="ko-KR" sz="800" dirty="0">
                          <a:latin typeface="Hyundai Sans Text KR" panose="020B0600000101010101" pitchFamily="34" charset="-127"/>
                          <a:ea typeface="Hyundai Sans Text KR" panose="020B0600000101010101" pitchFamily="34" charset="-127"/>
                        </a:rPr>
                      </a:br>
                      <a:r>
                        <a:rPr lang="en-US"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표준화의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설비 간 표준 인터페이스 부족</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이기종 설비 연계의 복잡성</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실시간 데이터 동기화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데이터 연계 상태 및 이력 관리 부족</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5739541"/>
                  </a:ext>
                </a:extLst>
              </a:tr>
              <a:tr h="891135">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현실</a:t>
                      </a: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가상 정합 및 캘리브레이션</a:t>
                      </a:r>
                      <a:r>
                        <a:rPr lang="en-US" altLang="ko-KR" sz="800" b="1" dirty="0">
                          <a:effectLst/>
                          <a:latin typeface="Hyundai Sans Text KR" panose="020B0600000101010101" pitchFamily="34" charset="-127"/>
                          <a:ea typeface="Hyundai Sans Text KR" panose="020B0600000101010101" pitchFamily="34" charset="-127"/>
                        </a:rPr>
                        <a:t>]</a:t>
                      </a:r>
                      <a:br>
                        <a:rPr lang="ko-KR" sz="800" dirty="0">
                          <a:effectLst/>
                          <a:latin typeface="Hyundai Sans Text KR" panose="020B0600000101010101" pitchFamily="34" charset="-127"/>
                          <a:ea typeface="Hyundai Sans Text KR" panose="020B0600000101010101" pitchFamily="34" charset="-127"/>
                        </a:rPr>
                      </a:br>
                      <a:r>
                        <a:rPr lang="en-US" altLang="ko-KR" sz="500" b="1" dirty="0">
                          <a:effectLst/>
                          <a:latin typeface="Hyundai Sans Text KR" panose="020B0600000101010101" pitchFamily="34" charset="-127"/>
                          <a:ea typeface="Hyundai Sans Text KR" panose="020B0600000101010101" pitchFamily="34" charset="-127"/>
                        </a:rPr>
                        <a:t>(1</a:t>
                      </a:r>
                      <a:r>
                        <a:rPr lang="ko-KR" altLang="en-US" sz="500" b="1" dirty="0">
                          <a:effectLst/>
                          <a:latin typeface="Hyundai Sans Text KR" panose="020B0600000101010101" pitchFamily="34" charset="-127"/>
                          <a:ea typeface="Hyundai Sans Text KR" panose="020B0600000101010101" pitchFamily="34" charset="-127"/>
                        </a:rPr>
                        <a:t>단계</a:t>
                      </a:r>
                      <a:r>
                        <a:rPr lang="en-US" altLang="ko-KR" sz="500" b="1" dirty="0">
                          <a:effectLst/>
                          <a:latin typeface="Hyundai Sans Text KR" panose="020B0600000101010101" pitchFamily="34" charset="-127"/>
                          <a:ea typeface="Hyundai Sans Text KR" panose="020B0600000101010101" pitchFamily="34" charset="-127"/>
                        </a:rPr>
                        <a:t>)</a:t>
                      </a:r>
                      <a:r>
                        <a:rPr lang="en-US" altLang="ko-KR" sz="800" b="1" dirty="0">
                          <a:effectLst/>
                          <a:latin typeface="Hyundai Sans Text KR" panose="020B0600000101010101" pitchFamily="34" charset="-127"/>
                          <a:ea typeface="Hyundai Sans Text KR" panose="020B0600000101010101" pitchFamily="34" charset="-127"/>
                        </a:rPr>
                        <a:t> </a:t>
                      </a:r>
                      <a:r>
                        <a:rPr lang="en-US" altLang="ko-KR" sz="800" dirty="0">
                          <a:effectLst/>
                          <a:latin typeface="Hyundai Sans Text KR" panose="020B0600000101010101" pitchFamily="34" charset="-127"/>
                          <a:ea typeface="Hyundai Sans Text KR" panose="020B0600000101010101" pitchFamily="34" charset="-127"/>
                        </a:rPr>
                        <a:t>• CAD-</a:t>
                      </a:r>
                      <a:r>
                        <a:rPr lang="ko-KR" altLang="en-US" sz="800" dirty="0">
                          <a:effectLst/>
                          <a:latin typeface="Hyundai Sans Text KR" panose="020B0600000101010101" pitchFamily="34" charset="-127"/>
                          <a:ea typeface="Hyundai Sans Text KR" panose="020B0600000101010101" pitchFamily="34" charset="-127"/>
                        </a:rPr>
                        <a:t>실물 스캔 데이터 기반 수동 정합 및 모델</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라이브러리 구축</a:t>
                      </a:r>
                    </a:p>
                    <a:p>
                      <a:pPr>
                        <a:lnSpc>
                          <a:spcPct val="95000"/>
                        </a:lnSpc>
                        <a:buNone/>
                      </a:pPr>
                      <a:r>
                        <a:rPr lang="en-US" altLang="ko-KR" sz="700" dirty="0">
                          <a:effectLst/>
                          <a:latin typeface="Hyundai Sans Text KR" panose="020B0600000101010101" pitchFamily="34" charset="-127"/>
                          <a:ea typeface="Hyundai Sans Text KR" panose="020B0600000101010101" pitchFamily="34" charset="-127"/>
                        </a:rPr>
                        <a:t>   </a:t>
                      </a:r>
                      <a:r>
                        <a:rPr lang="en-US" altLang="ko-KR" sz="800" dirty="0">
                          <a:effectLst/>
                          <a:latin typeface="Hyundai Sans Text KR" panose="020B0600000101010101" pitchFamily="34" charset="-127"/>
                          <a:ea typeface="Hyundai Sans Text KR" panose="020B0600000101010101" pitchFamily="34" charset="-127"/>
                        </a:rPr>
                        <a:t>       • </a:t>
                      </a:r>
                      <a:r>
                        <a:rPr lang="ko-KR" altLang="en-US" sz="800" dirty="0">
                          <a:effectLst/>
                          <a:latin typeface="Hyundai Sans Text KR" panose="020B0600000101010101" pitchFamily="34" charset="-127"/>
                          <a:ea typeface="Hyundai Sans Text KR" panose="020B0600000101010101" pitchFamily="34" charset="-127"/>
                        </a:rPr>
                        <a:t>현실</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가상 기준좌표 수동 매칭 및 캘리브레이션 이력 관리 구축</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endParaRPr lang="ko-KR" altLang="en-US" sz="200" dirty="0">
                        <a:effectLst/>
                        <a:latin typeface="Hyundai Sans Text KR" panose="020B0600000101010101" pitchFamily="34" charset="-127"/>
                        <a:ea typeface="Hyundai Sans Text KR" panose="020B0600000101010101" pitchFamily="34" charset="-127"/>
                      </a:endParaRPr>
                    </a:p>
                    <a:p>
                      <a:pPr>
                        <a:lnSpc>
                          <a:spcPct val="95000"/>
                        </a:lnSpc>
                        <a:buNone/>
                      </a:pPr>
                      <a:r>
                        <a:rPr lang="en-US" altLang="ko-KR" sz="500" b="1" dirty="0">
                          <a:effectLst/>
                          <a:latin typeface="Hyundai Sans Text KR" panose="020B0600000101010101" pitchFamily="34" charset="-127"/>
                          <a:ea typeface="Hyundai Sans Text KR" panose="020B0600000101010101" pitchFamily="34" charset="-127"/>
                        </a:rPr>
                        <a:t>(2</a:t>
                      </a:r>
                      <a:r>
                        <a:rPr lang="ko-KR" altLang="en-US" sz="500" b="1" dirty="0">
                          <a:effectLst/>
                          <a:latin typeface="Hyundai Sans Text KR" panose="020B0600000101010101" pitchFamily="34" charset="-127"/>
                          <a:ea typeface="Hyundai Sans Text KR" panose="020B0600000101010101" pitchFamily="34" charset="-127"/>
                        </a:rPr>
                        <a:t>단계</a:t>
                      </a:r>
                      <a:r>
                        <a:rPr lang="en-US" altLang="ko-KR" sz="500" b="1"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변형 부품 </a:t>
                      </a:r>
                      <a:r>
                        <a:rPr lang="en-US" altLang="ko-KR" sz="800" dirty="0">
                          <a:effectLst/>
                          <a:latin typeface="Hyundai Sans Text KR" panose="020B0600000101010101" pitchFamily="34" charset="-127"/>
                          <a:ea typeface="Hyundai Sans Text KR" panose="020B0600000101010101" pitchFamily="34" charset="-127"/>
                        </a:rPr>
                        <a:t>Sim-Ready </a:t>
                      </a:r>
                      <a:r>
                        <a:rPr lang="ko-KR" altLang="en-US" sz="800" dirty="0" err="1">
                          <a:effectLst/>
                          <a:latin typeface="Hyundai Sans Text KR" panose="020B0600000101010101" pitchFamily="34" charset="-127"/>
                          <a:ea typeface="Hyundai Sans Text KR" panose="020B0600000101010101" pitchFamily="34" charset="-127"/>
                        </a:rPr>
                        <a:t>에셋</a:t>
                      </a:r>
                      <a:r>
                        <a:rPr lang="ko-KR" altLang="en-US" sz="800" dirty="0">
                          <a:effectLst/>
                          <a:latin typeface="Hyundai Sans Text KR" panose="020B0600000101010101" pitchFamily="34" charset="-127"/>
                          <a:ea typeface="Hyundai Sans Text KR" panose="020B0600000101010101" pitchFamily="34" charset="-127"/>
                        </a:rPr>
                        <a:t> 데이터 구축</a:t>
                      </a:r>
                    </a:p>
                    <a:p>
                      <a:pPr>
                        <a:lnSpc>
                          <a:spcPct val="95000"/>
                        </a:lnSpc>
                        <a:buNone/>
                      </a:pPr>
                      <a:r>
                        <a:rPr lang="en-US" altLang="ko-KR" sz="800" dirty="0">
                          <a:effectLst/>
                          <a:latin typeface="Hyundai Sans Text KR" panose="020B0600000101010101" pitchFamily="34" charset="-127"/>
                          <a:ea typeface="Hyundai Sans Text KR" panose="020B0600000101010101" pitchFamily="34" charset="-127"/>
                        </a:rPr>
                        <a:t>   </a:t>
                      </a:r>
                      <a:r>
                        <a:rPr lang="en-US" altLang="ko-KR" sz="600" dirty="0">
                          <a:effectLst/>
                          <a:latin typeface="Hyundai Sans Text KR" panose="020B0600000101010101" pitchFamily="34" charset="-127"/>
                          <a:ea typeface="Hyundai Sans Text KR" panose="020B0600000101010101" pitchFamily="34" charset="-127"/>
                        </a:rPr>
                        <a:t>  </a:t>
                      </a:r>
                      <a:r>
                        <a:rPr lang="en-US" altLang="ko-KR" sz="800" dirty="0">
                          <a:effectLst/>
                          <a:latin typeface="Hyundai Sans Text KR" panose="020B0600000101010101" pitchFamily="34" charset="-127"/>
                          <a:ea typeface="Hyundai Sans Text KR" panose="020B0600000101010101" pitchFamily="34" charset="-127"/>
                        </a:rPr>
                        <a:t>     • </a:t>
                      </a:r>
                      <a:r>
                        <a:rPr lang="ko-KR" altLang="en-US" sz="800" dirty="0">
                          <a:effectLst/>
                          <a:latin typeface="Hyundai Sans Text KR" panose="020B0600000101010101" pitchFamily="34" charset="-127"/>
                          <a:ea typeface="Hyundai Sans Text KR" panose="020B0600000101010101" pitchFamily="34" charset="-127"/>
                        </a:rPr>
                        <a:t>기준좌표 및 </a:t>
                      </a:r>
                      <a:r>
                        <a:rPr lang="en-US" altLang="ko-KR" sz="800" dirty="0">
                          <a:effectLst/>
                          <a:latin typeface="Hyundai Sans Text KR" panose="020B0600000101010101" pitchFamily="34" charset="-127"/>
                          <a:ea typeface="Hyundai Sans Text KR" panose="020B0600000101010101" pitchFamily="34" charset="-127"/>
                        </a:rPr>
                        <a:t>CAD-</a:t>
                      </a:r>
                      <a:r>
                        <a:rPr lang="ko-KR" altLang="en-US" sz="800" dirty="0">
                          <a:effectLst/>
                          <a:latin typeface="Hyundai Sans Text KR" panose="020B0600000101010101" pitchFamily="34" charset="-127"/>
                          <a:ea typeface="Hyundai Sans Text KR" panose="020B0600000101010101" pitchFamily="34" charset="-127"/>
                        </a:rPr>
                        <a:t>스캔 데이터 기반 자동 정합 및 캘리브레이션</a:t>
                      </a:r>
                      <a:endParaRPr lang="ko-KR" sz="800" dirty="0">
                        <a:effectLst/>
                        <a:latin typeface="Hyundai Sans Text KR" panose="020B0600000101010101" pitchFamily="34" charset="-127"/>
                        <a:ea typeface="Hyundai Sans Text KR" panose="020B0600000101010101" pitchFamily="34" charset="-127"/>
                      </a:endParaRP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r>
                        <a:rPr lang="ko-KR" sz="800" b="1" dirty="0">
                          <a:effectLst/>
                          <a:latin typeface="Hyundai Sans Text KR" panose="020B0600000101010101" pitchFamily="34" charset="-127"/>
                          <a:ea typeface="Hyundai Sans Text KR" panose="020B0600000101010101" pitchFamily="34" charset="-127"/>
                        </a:rPr>
                        <a:t>[데이터 및 정합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통합 데이터 관리 플랫폼 기술 </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r>
                        <a:rPr lang="en-US" altLang="ko-KR" sz="800" dirty="0">
                          <a:effectLst/>
                          <a:latin typeface="Hyundai Sans Text KR" panose="020B0600000101010101" pitchFamily="34" charset="-127"/>
                          <a:ea typeface="Hyundai Sans Text KR" panose="020B0600000101010101" pitchFamily="34" charset="-127"/>
                        </a:rPr>
                        <a:t>  (Data </a:t>
                      </a:r>
                      <a:r>
                        <a:rPr lang="en-US" altLang="ko-KR" sz="800" dirty="0" err="1">
                          <a:effectLst/>
                          <a:latin typeface="Hyundai Sans Text KR" panose="020B0600000101010101" pitchFamily="34" charset="-127"/>
                          <a:ea typeface="Hyundai Sans Text KR" panose="020B0600000101010101" pitchFamily="34" charset="-127"/>
                        </a:rPr>
                        <a:t>Lake·Data</a:t>
                      </a:r>
                      <a:r>
                        <a:rPr lang="en-US" altLang="ko-KR" sz="800" dirty="0">
                          <a:effectLst/>
                          <a:latin typeface="Hyundai Sans Text KR" panose="020B0600000101010101" pitchFamily="34" charset="-127"/>
                          <a:ea typeface="Hyundai Sans Text KR" panose="020B0600000101010101" pitchFamily="34" charset="-127"/>
                        </a:rPr>
                        <a:t> Platform)</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디지털 트윈 연계 디지털 </a:t>
                      </a:r>
                      <a:r>
                        <a:rPr lang="ko-KR" sz="800" dirty="0" err="1">
                          <a:effectLst/>
                          <a:latin typeface="Hyundai Sans Text KR" panose="020B0600000101010101" pitchFamily="34" charset="-127"/>
                          <a:ea typeface="Hyundai Sans Text KR" panose="020B0600000101010101" pitchFamily="34" charset="-127"/>
                        </a:rPr>
                        <a:t>에셋</a:t>
                      </a:r>
                      <a:r>
                        <a:rPr lang="ko-KR" sz="800" dirty="0">
                          <a:effectLst/>
                          <a:latin typeface="Hyundai Sans Text KR" panose="020B0600000101010101" pitchFamily="34" charset="-127"/>
                          <a:ea typeface="Hyundai Sans Text KR" panose="020B0600000101010101" pitchFamily="34" charset="-127"/>
                        </a:rPr>
                        <a:t> 관리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CAD-스캔 정합 및 현실-가상 캘리브레이션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변형 부품 형상/물성 모델링 및 </a:t>
                      </a:r>
                      <a:r>
                        <a:rPr lang="ko-KR" sz="800" dirty="0" err="1">
                          <a:effectLst/>
                          <a:latin typeface="Hyundai Sans Text KR" panose="020B0600000101010101" pitchFamily="34" charset="-127"/>
                          <a:ea typeface="Hyundai Sans Text KR" panose="020B0600000101010101" pitchFamily="34" charset="-127"/>
                        </a:rPr>
                        <a:t>Sim-Ready</a:t>
                      </a: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에셋</a:t>
                      </a:r>
                      <a:r>
                        <a:rPr lang="ko-KR" sz="800" dirty="0">
                          <a:effectLst/>
                          <a:latin typeface="Hyundai Sans Text KR" panose="020B0600000101010101" pitchFamily="34" charset="-127"/>
                          <a:ea typeface="Hyundai Sans Text KR" panose="020B0600000101010101" pitchFamily="34" charset="-127"/>
                        </a:rPr>
                        <a:t>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정합 품질 평가 및 검증 기술</a:t>
                      </a: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이기종 데이터 플랫폼 간 일관된 데이터 정합 </a:t>
                      </a:r>
                      <a:br>
                        <a:rPr lang="en-US" altLang="ko-KR" sz="800" dirty="0">
                          <a:latin typeface="Hyundai Sans Text KR" panose="020B0600000101010101" pitchFamily="34" charset="-127"/>
                          <a:ea typeface="Hyundai Sans Text KR" panose="020B0600000101010101" pitchFamily="34" charset="-127"/>
                        </a:rPr>
                      </a:br>
                      <a:r>
                        <a:rPr lang="en-US"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유지의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CAD-실물 간 형상 차이</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로봇</a:t>
                      </a:r>
                      <a:r>
                        <a:rPr lang="ko-KR" sz="800" dirty="0">
                          <a:latin typeface="Hyundai Sans Text KR" panose="020B0600000101010101" pitchFamily="34" charset="-127"/>
                          <a:ea typeface="Hyundai Sans Text KR" panose="020B0600000101010101" pitchFamily="34" charset="-127"/>
                        </a:rPr>
                        <a:t>/TCP/</a:t>
                      </a:r>
                      <a:r>
                        <a:rPr lang="ko-KR" sz="800" dirty="0" err="1">
                          <a:latin typeface="Hyundai Sans Text KR" panose="020B0600000101010101" pitchFamily="34" charset="-127"/>
                          <a:ea typeface="Hyundai Sans Text KR" panose="020B0600000101010101" pitchFamily="34" charset="-127"/>
                        </a:rPr>
                        <a:t>Vision</a:t>
                      </a:r>
                      <a:r>
                        <a:rPr lang="ko-KR" sz="800" dirty="0">
                          <a:latin typeface="Hyundai Sans Text KR" panose="020B0600000101010101" pitchFamily="34" charset="-127"/>
                          <a:ea typeface="Hyundai Sans Text KR" panose="020B0600000101010101" pitchFamily="34" charset="-127"/>
                        </a:rPr>
                        <a:t> 좌표 불일치</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±1 </a:t>
                      </a:r>
                      <a:r>
                        <a:rPr lang="ko-KR" sz="800" dirty="0" err="1">
                          <a:latin typeface="Hyundai Sans Text KR" panose="020B0600000101010101" pitchFamily="34" charset="-127"/>
                          <a:ea typeface="Hyundai Sans Text KR" panose="020B0600000101010101" pitchFamily="34" charset="-127"/>
                        </a:rPr>
                        <a:t>mm</a:t>
                      </a:r>
                      <a:r>
                        <a:rPr lang="ko-KR" sz="800" dirty="0">
                          <a:latin typeface="Hyundai Sans Text KR" panose="020B0600000101010101" pitchFamily="34" charset="-127"/>
                          <a:ea typeface="Hyundai Sans Text KR" panose="020B0600000101010101" pitchFamily="34" charset="-127"/>
                        </a:rPr>
                        <a:t> 이하 정밀도 확보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Sim-to-Real</a:t>
                      </a:r>
                      <a:r>
                        <a:rPr lang="ko-KR" sz="800" dirty="0">
                          <a:latin typeface="Hyundai Sans Text KR" panose="020B0600000101010101" pitchFamily="34" charset="-127"/>
                          <a:ea typeface="Hyundai Sans Text KR" panose="020B0600000101010101" pitchFamily="34" charset="-127"/>
                        </a:rPr>
                        <a:t> 정합 유지 어려움</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702738"/>
                  </a:ext>
                </a:extLst>
              </a:tr>
              <a:tr h="975119">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[AI OLP </a:t>
                      </a:r>
                      <a:r>
                        <a:rPr lang="ko-KR" altLang="en-US" sz="800" b="1" dirty="0">
                          <a:effectLst/>
                          <a:latin typeface="Hyundai Sans Text KR" panose="020B0600000101010101" pitchFamily="34" charset="-127"/>
                          <a:ea typeface="Hyundai Sans Text KR" panose="020B0600000101010101" pitchFamily="34" charset="-127"/>
                        </a:rPr>
                        <a:t>기반 자동 로봇 </a:t>
                      </a:r>
                      <a:r>
                        <a:rPr lang="ko-KR" altLang="en-US" sz="800" b="1" dirty="0" err="1">
                          <a:effectLst/>
                          <a:latin typeface="Hyundai Sans Text KR" panose="020B0600000101010101" pitchFamily="34" charset="-127"/>
                          <a:ea typeface="Hyundai Sans Text KR" panose="020B0600000101010101" pitchFamily="34" charset="-127"/>
                        </a:rPr>
                        <a:t>티칭</a:t>
                      </a:r>
                      <a:r>
                        <a:rPr lang="ko-KR" altLang="en-US" sz="800" b="1" dirty="0">
                          <a:effectLst/>
                          <a:latin typeface="Hyundai Sans Text KR" panose="020B0600000101010101" pitchFamily="34" charset="-127"/>
                          <a:ea typeface="Hyundai Sans Text KR" panose="020B0600000101010101" pitchFamily="34" charset="-127"/>
                        </a:rPr>
                        <a:t> 및 </a:t>
                      </a:r>
                      <a:r>
                        <a:rPr lang="ko-KR" altLang="en-US" sz="800" b="1" dirty="0" err="1">
                          <a:effectLst/>
                          <a:latin typeface="Hyundai Sans Text KR" panose="020B0600000101010101" pitchFamily="34" charset="-127"/>
                          <a:ea typeface="Hyundai Sans Text KR" panose="020B0600000101010101" pitchFamily="34" charset="-127"/>
                        </a:rPr>
                        <a:t>모션플래닝</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(1</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충돌회피 멀티 로봇 궤적 생성 및 작업</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순서 최적화</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협업 시퀀스</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인터락</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및 로봇</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/PLC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프로그램 자동 생성</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en-US" altLang="ko-KR"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상위 레벨 태스크 </a:t>
                      </a:r>
                      <a:r>
                        <a:rPr lang="ko-KR" altLang="en-US" sz="800" b="1" dirty="0" err="1">
                          <a:effectLst/>
                          <a:latin typeface="Hyundai Sans Text KR" panose="020B0600000101010101" pitchFamily="34" charset="-127"/>
                          <a:ea typeface="Hyundai Sans Text KR" panose="020B0600000101010101" pitchFamily="34" charset="-127"/>
                        </a:rPr>
                        <a:t>플래너</a:t>
                      </a:r>
                      <a:r>
                        <a:rPr lang="ko-KR" altLang="en-US" sz="800" b="1" dirty="0">
                          <a:effectLst/>
                          <a:latin typeface="Hyundai Sans Text KR" panose="020B0600000101010101" pitchFamily="34" charset="-127"/>
                          <a:ea typeface="Hyundai Sans Text KR" panose="020B0600000101010101" pitchFamily="34" charset="-127"/>
                        </a:rPr>
                        <a:t> 기반 멀티 자동화 셀 최적화</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멀티셀</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부하 분배</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사이클타임 예측 기반 공정 최적화</a:t>
                      </a:r>
                    </a:p>
                    <a:p>
                      <a:pPr>
                        <a:lnSpc>
                          <a:spcPct val="95000"/>
                        </a:lnSpc>
                        <a:buNone/>
                      </a:pPr>
                      <a:r>
                        <a:rPr lang="en-US" altLang="ko-KR" sz="5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 Human-in-the-loop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기반 계획 검토 및 승인</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en-US" altLang="ko-KR"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(3</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4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7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AI Agent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기반 자율 작업 계획 및 신규 셀 자동 설계</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r>
                        <a:rPr lang="ko-KR" sz="800" b="1" dirty="0">
                          <a:effectLst/>
                          <a:latin typeface="Hyundai Sans Text KR" panose="020B0600000101010101" pitchFamily="34" charset="-127"/>
                          <a:ea typeface="Hyundai Sans Text KR" panose="020B0600000101010101" pitchFamily="34" charset="-127"/>
                        </a:rPr>
                        <a:t>[</a:t>
                      </a:r>
                      <a:r>
                        <a:rPr lang="ko-KR" sz="800" b="1" dirty="0" err="1">
                          <a:effectLst/>
                          <a:latin typeface="Hyundai Sans Text KR" panose="020B0600000101010101" pitchFamily="34" charset="-127"/>
                          <a:ea typeface="Hyundai Sans Text KR" panose="020B0600000101010101" pitchFamily="34" charset="-127"/>
                        </a:rPr>
                        <a:t>모션·태스크</a:t>
                      </a:r>
                      <a:r>
                        <a:rPr lang="ko-KR" sz="800" b="1" dirty="0">
                          <a:effectLst/>
                          <a:latin typeface="Hyundai Sans Text KR" panose="020B0600000101010101" pitchFamily="34" charset="-127"/>
                          <a:ea typeface="Hyundai Sans Text KR" panose="020B0600000101010101" pitchFamily="34" charset="-127"/>
                        </a:rPr>
                        <a:t> </a:t>
                      </a:r>
                      <a:r>
                        <a:rPr lang="ko-KR" sz="800" b="1" dirty="0" err="1">
                          <a:effectLst/>
                          <a:latin typeface="Hyundai Sans Text KR" panose="020B0600000101010101" pitchFamily="34" charset="-127"/>
                          <a:ea typeface="Hyundai Sans Text KR" panose="020B0600000101010101" pitchFamily="34" charset="-127"/>
                        </a:rPr>
                        <a:t>플래닝</a:t>
                      </a:r>
                      <a:r>
                        <a:rPr lang="ko-KR" sz="800" b="1" dirty="0">
                          <a:effectLst/>
                          <a:latin typeface="Hyundai Sans Text KR" panose="020B0600000101010101" pitchFamily="34" charset="-127"/>
                          <a:ea typeface="Hyundai Sans Text KR" panose="020B0600000101010101" pitchFamily="34" charset="-127"/>
                        </a:rPr>
                        <a:t>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모션/태스크 </a:t>
                      </a:r>
                      <a:r>
                        <a:rPr lang="ko-KR" sz="800" dirty="0" err="1">
                          <a:effectLst/>
                          <a:latin typeface="Hyundai Sans Text KR" panose="020B0600000101010101" pitchFamily="34" charset="-127"/>
                          <a:ea typeface="Hyundai Sans Text KR" panose="020B0600000101010101" pitchFamily="34" charset="-127"/>
                        </a:rPr>
                        <a:t>플래닝</a:t>
                      </a:r>
                      <a:r>
                        <a:rPr lang="ko-KR" sz="800" dirty="0">
                          <a:effectLst/>
                          <a:latin typeface="Hyundai Sans Text KR" panose="020B0600000101010101" pitchFamily="34" charset="-127"/>
                          <a:ea typeface="Hyundai Sans Text KR" panose="020B0600000101010101" pitchFamily="34" charset="-127"/>
                        </a:rPr>
                        <a:t> 및 작업 </a:t>
                      </a:r>
                      <a:r>
                        <a:rPr lang="ko-KR" sz="800" dirty="0" err="1">
                          <a:effectLst/>
                          <a:latin typeface="Hyundai Sans Text KR" panose="020B0600000101010101" pitchFamily="34" charset="-127"/>
                          <a:ea typeface="Hyundai Sans Text KR" panose="020B0600000101010101" pitchFamily="34" charset="-127"/>
                        </a:rPr>
                        <a:t>할당·시퀀스</a:t>
                      </a:r>
                      <a:r>
                        <a:rPr lang="ko-KR" sz="800" dirty="0">
                          <a:effectLst/>
                          <a:latin typeface="Hyundai Sans Text KR" panose="020B0600000101010101" pitchFamily="34" charset="-127"/>
                          <a:ea typeface="Hyundai Sans Text KR" panose="020B0600000101010101" pitchFamily="34" charset="-127"/>
                        </a:rPr>
                        <a:t> 최적화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인터락</a:t>
                      </a:r>
                      <a:r>
                        <a:rPr lang="ko-KR" sz="800" dirty="0">
                          <a:effectLst/>
                          <a:latin typeface="Hyundai Sans Text KR" panose="020B0600000101010101" pitchFamily="34" charset="-127"/>
                          <a:ea typeface="Hyundai Sans Text KR" panose="020B0600000101010101" pitchFamily="34" charset="-127"/>
                        </a:rPr>
                        <a:t> 및 로봇/PLC 프로그램 자동 생성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디지털 트윈 연계 자동 </a:t>
                      </a:r>
                      <a:r>
                        <a:rPr lang="ko-KR" sz="800" dirty="0" err="1">
                          <a:effectLst/>
                          <a:latin typeface="Hyundai Sans Text KR" panose="020B0600000101010101" pitchFamily="34" charset="-127"/>
                          <a:ea typeface="Hyundai Sans Text KR" panose="020B0600000101010101" pitchFamily="34" charset="-127"/>
                        </a:rPr>
                        <a:t>티칭</a:t>
                      </a:r>
                      <a:r>
                        <a:rPr lang="ko-KR" sz="800" dirty="0">
                          <a:effectLst/>
                          <a:latin typeface="Hyundai Sans Text KR" panose="020B0600000101010101" pitchFamily="34" charset="-127"/>
                          <a:ea typeface="Hyundai Sans Text KR" panose="020B0600000101010101" pitchFamily="34" charset="-127"/>
                        </a:rPr>
                        <a:t> 검증 및 생산성 분석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멀티셀</a:t>
                      </a:r>
                      <a:r>
                        <a:rPr lang="ko-KR" sz="800" dirty="0">
                          <a:effectLst/>
                          <a:latin typeface="Hyundai Sans Text KR" panose="020B0600000101010101" pitchFamily="34" charset="-127"/>
                          <a:ea typeface="Hyundai Sans Text KR" panose="020B0600000101010101" pitchFamily="34" charset="-127"/>
                        </a:rPr>
                        <a:t> 통합 최적화 및 레이아웃/로봇 구성 최적화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AI </a:t>
                      </a:r>
                      <a:r>
                        <a:rPr lang="ko-KR" sz="800" dirty="0" err="1">
                          <a:effectLst/>
                          <a:latin typeface="Hyundai Sans Text KR" panose="020B0600000101010101" pitchFamily="34" charset="-127"/>
                          <a:ea typeface="Hyundai Sans Text KR" panose="020B0600000101010101" pitchFamily="34" charset="-127"/>
                        </a:rPr>
                        <a:t>Agent</a:t>
                      </a:r>
                      <a:r>
                        <a:rPr lang="ko-KR" sz="800" dirty="0">
                          <a:effectLst/>
                          <a:latin typeface="Hyundai Sans Text KR" panose="020B0600000101010101" pitchFamily="34" charset="-127"/>
                          <a:ea typeface="Hyundai Sans Text KR" panose="020B0600000101010101" pitchFamily="34" charset="-127"/>
                        </a:rPr>
                        <a:t> 기반 자율 의사결정 기술</a:t>
                      </a:r>
                      <a:r>
                        <a:rPr lang="en-US" altLang="ko-KR" sz="800" dirty="0">
                          <a:effectLst/>
                          <a:latin typeface="Hyundai Sans Text KR" panose="020B0600000101010101" pitchFamily="34" charset="-127"/>
                          <a:ea typeface="Hyundai Sans Text KR" panose="020B0600000101010101" pitchFamily="34" charset="-127"/>
                        </a:rPr>
                        <a:t> (LLM/VLM </a:t>
                      </a:r>
                      <a:r>
                        <a:rPr lang="ko-KR" altLang="en-US" sz="800" dirty="0">
                          <a:effectLst/>
                          <a:latin typeface="Hyundai Sans Text KR" panose="020B0600000101010101" pitchFamily="34" charset="-127"/>
                          <a:ea typeface="Hyundai Sans Text KR" panose="020B0600000101010101" pitchFamily="34" charset="-127"/>
                        </a:rPr>
                        <a:t>기반 지원</a:t>
                      </a:r>
                      <a:r>
                        <a:rPr lang="en-US" altLang="ko-KR" sz="800" dirty="0">
                          <a:effectLst/>
                          <a:latin typeface="Hyundai Sans Text KR" panose="020B0600000101010101" pitchFamily="34" charset="-127"/>
                          <a:ea typeface="Hyundai Sans Text KR" panose="020B0600000101010101" pitchFamily="34" charset="-127"/>
                        </a:rPr>
                        <a:t>)</a:t>
                      </a: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sz="800" dirty="0">
                          <a:latin typeface="Hyundai Sans Text KR" panose="020B0600000101010101" pitchFamily="34" charset="-127"/>
                          <a:ea typeface="Hyundai Sans Text KR" panose="020B0600000101010101" pitchFamily="34" charset="-127"/>
                        </a:rPr>
                        <a:t>• 복잡한 제약조건 기반 모션 생성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altLang="en-US" sz="800" dirty="0" err="1">
                          <a:latin typeface="Hyundai Sans Text KR" panose="020B0600000101010101" pitchFamily="34" charset="-127"/>
                          <a:ea typeface="Hyundai Sans Text KR" panose="020B0600000101010101" pitchFamily="34" charset="-127"/>
                        </a:rPr>
                        <a:t>멀티셀</a:t>
                      </a:r>
                      <a:r>
                        <a:rPr lang="ko-KR" sz="800" dirty="0">
                          <a:latin typeface="Hyundai Sans Text KR" panose="020B0600000101010101" pitchFamily="34" charset="-127"/>
                          <a:ea typeface="Hyundai Sans Text KR" panose="020B0600000101010101" pitchFamily="34" charset="-127"/>
                        </a:rPr>
                        <a:t> 작업 분배 및 </a:t>
                      </a:r>
                      <a:r>
                        <a:rPr lang="ko-KR" altLang="en-US" sz="800" dirty="0">
                          <a:latin typeface="Hyundai Sans Text KR" panose="020B0600000101010101" pitchFamily="34" charset="-127"/>
                          <a:ea typeface="Hyundai Sans Text KR" panose="020B0600000101010101" pitchFamily="34" charset="-127"/>
                        </a:rPr>
                        <a:t>사이클타임</a:t>
                      </a:r>
                      <a:r>
                        <a:rPr lang="ko-KR" sz="800" dirty="0">
                          <a:latin typeface="Hyundai Sans Text KR" panose="020B0600000101010101" pitchFamily="34" charset="-127"/>
                          <a:ea typeface="Hyundai Sans Text KR" panose="020B0600000101010101" pitchFamily="34" charset="-127"/>
                        </a:rPr>
                        <a:t> 최적화의</a:t>
                      </a:r>
                      <a:br>
                        <a:rPr lang="en-US" altLang="ko-KR" sz="800" dirty="0">
                          <a:latin typeface="Hyundai Sans Text KR" panose="020B0600000101010101" pitchFamily="34" charset="-127"/>
                          <a:ea typeface="Hyundai Sans Text KR" panose="020B0600000101010101" pitchFamily="34" charset="-127"/>
                        </a:rPr>
                      </a:br>
                      <a:r>
                        <a:rPr lang="en-US" altLang="ko-KR" sz="800" dirty="0">
                          <a:latin typeface="Hyundai Sans Text KR" panose="020B0600000101010101" pitchFamily="34" charset="-127"/>
                          <a:ea typeface="Hyundai Sans Text KR" panose="020B0600000101010101" pitchFamily="34" charset="-127"/>
                        </a:rPr>
                        <a:t>  </a:t>
                      </a:r>
                      <a:r>
                        <a:rPr lang="ko-KR" sz="800" dirty="0">
                          <a:latin typeface="Hyundai Sans Text KR" panose="020B0600000101010101" pitchFamily="34" charset="-127"/>
                          <a:ea typeface="Hyundai Sans Text KR" panose="020B0600000101010101" pitchFamily="34" charset="-127"/>
                        </a:rPr>
                        <a:t>복잡성</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Sim-to-Real</a:t>
                      </a:r>
                      <a:r>
                        <a:rPr lang="ko-KR" sz="800" dirty="0">
                          <a:latin typeface="Hyundai Sans Text KR" panose="020B0600000101010101" pitchFamily="34" charset="-127"/>
                          <a:ea typeface="Hyundai Sans Text KR" panose="020B0600000101010101" pitchFamily="34" charset="-127"/>
                        </a:rPr>
                        <a:t> Gap으로 인한 </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en-US"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로봇 </a:t>
                      </a:r>
                      <a:r>
                        <a:rPr lang="ko-KR" altLang="en-US" sz="800" dirty="0" err="1">
                          <a:latin typeface="Hyundai Sans Text KR" panose="020B0600000101010101" pitchFamily="34" charset="-127"/>
                          <a:ea typeface="Hyundai Sans Text KR" panose="020B0600000101010101" pitchFamily="34" charset="-127"/>
                        </a:rPr>
                        <a:t>티칭</a:t>
                      </a:r>
                      <a:r>
                        <a:rPr lang="ko-KR" sz="800" dirty="0">
                          <a:latin typeface="Hyundai Sans Text KR" panose="020B0600000101010101" pitchFamily="34" charset="-127"/>
                          <a:ea typeface="Hyundai Sans Text KR" panose="020B0600000101010101" pitchFamily="34" charset="-127"/>
                        </a:rPr>
                        <a:t> 자동화 한계</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Human</a:t>
                      </a:r>
                      <a:r>
                        <a:rPr lang="ko-KR" sz="800" dirty="0">
                          <a:latin typeface="Hyundai Sans Text KR" panose="020B0600000101010101" pitchFamily="34" charset="-127"/>
                          <a:ea typeface="Hyundai Sans Text KR" panose="020B0600000101010101" pitchFamily="34" charset="-127"/>
                        </a:rPr>
                        <a:t>-in-</a:t>
                      </a:r>
                      <a:r>
                        <a:rPr lang="ko-KR" sz="800" dirty="0" err="1">
                          <a:latin typeface="Hyundai Sans Text KR" panose="020B0600000101010101" pitchFamily="34" charset="-127"/>
                          <a:ea typeface="Hyundai Sans Text KR" panose="020B0600000101010101" pitchFamily="34" charset="-127"/>
                        </a:rPr>
                        <a:t>the</a:t>
                      </a:r>
                      <a:r>
                        <a:rPr lang="ko-KR" sz="800" dirty="0">
                          <a:latin typeface="Hyundai Sans Text KR" panose="020B0600000101010101" pitchFamily="34" charset="-127"/>
                          <a:ea typeface="Hyundai Sans Text KR" panose="020B0600000101010101" pitchFamily="34" charset="-127"/>
                        </a:rPr>
                        <a:t>-</a:t>
                      </a:r>
                      <a:r>
                        <a:rPr lang="ko-KR" sz="800" dirty="0" err="1">
                          <a:latin typeface="Hyundai Sans Text KR" panose="020B0600000101010101" pitchFamily="34" charset="-127"/>
                          <a:ea typeface="Hyundai Sans Text KR" panose="020B0600000101010101" pitchFamily="34" charset="-127"/>
                        </a:rPr>
                        <a:t>loop</a:t>
                      </a:r>
                      <a:r>
                        <a:rPr lang="ko-KR" sz="800" dirty="0">
                          <a:latin typeface="Hyundai Sans Text KR" panose="020B0600000101010101" pitchFamily="34" charset="-127"/>
                          <a:ea typeface="Hyundai Sans Text KR" panose="020B0600000101010101" pitchFamily="34" charset="-127"/>
                        </a:rPr>
                        <a:t> 기반 의사결정 필요</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52220878"/>
                  </a:ext>
                </a:extLst>
              </a:tr>
              <a:tr h="914944">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err="1">
                          <a:effectLst/>
                          <a:latin typeface="Hyundai Sans Text KR" panose="020B0600000101010101" pitchFamily="34" charset="-127"/>
                          <a:ea typeface="Hyundai Sans Text KR" panose="020B0600000101010101" pitchFamily="34" charset="-127"/>
                        </a:rPr>
                        <a:t>폐루프</a:t>
                      </a:r>
                      <a:r>
                        <a:rPr lang="ko-KR" altLang="en-US" sz="800" b="1" dirty="0">
                          <a:effectLst/>
                          <a:latin typeface="Hyundai Sans Text KR" panose="020B0600000101010101" pitchFamily="34" charset="-127"/>
                          <a:ea typeface="Hyundai Sans Text KR" panose="020B0600000101010101" pitchFamily="34" charset="-127"/>
                        </a:rPr>
                        <a:t> 제어 기반 구축</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엣지</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센서 기반 실시간 자율 정밀 제어 및 피드백 데이터 수집</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실시간 피드백 및 동기화</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현장 피드백 반영</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가상</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실제 동기화 및 궤적 자동 재조정 </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en-US" altLang="ko-KR"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오차 감지 및 자동 보정</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재캘리브레이션</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재플래닝</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자동 수행 및 가상</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실제 차이 보정</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(3</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디지털 트윈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AI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결과 현장 적용 및 자율 제어 고도화</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r>
                        <a:rPr lang="ko-KR" sz="800" b="1" dirty="0">
                          <a:effectLst/>
                          <a:latin typeface="Hyundai Sans Text KR" panose="020B0600000101010101" pitchFamily="34" charset="-127"/>
                          <a:ea typeface="Hyundai Sans Text KR" panose="020B0600000101010101" pitchFamily="34" charset="-127"/>
                        </a:rPr>
                        <a:t>[실시간 제어 및 </a:t>
                      </a:r>
                      <a:r>
                        <a:rPr lang="ko-KR" sz="800" b="1" dirty="0" err="1">
                          <a:effectLst/>
                          <a:latin typeface="Hyundai Sans Text KR" panose="020B0600000101010101" pitchFamily="34" charset="-127"/>
                          <a:ea typeface="Hyundai Sans Text KR" panose="020B0600000101010101" pitchFamily="34" charset="-127"/>
                        </a:rPr>
                        <a:t>폐루프</a:t>
                      </a:r>
                      <a:r>
                        <a:rPr lang="ko-KR" sz="800" b="1" dirty="0">
                          <a:effectLst/>
                          <a:latin typeface="Hyundai Sans Text KR" panose="020B0600000101010101" pitchFamily="34" charset="-127"/>
                          <a:ea typeface="Hyundai Sans Text KR" panose="020B0600000101010101" pitchFamily="34" charset="-127"/>
                        </a:rPr>
                        <a:t>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altLang="ko-KR" sz="800" dirty="0">
                          <a:effectLst/>
                          <a:latin typeface="Hyundai Sans Text KR" panose="020B0600000101010101" pitchFamily="34" charset="-127"/>
                          <a:ea typeface="Hyundai Sans Text KR" panose="020B0600000101010101" pitchFamily="34" charset="-127"/>
                        </a:rPr>
                        <a:t>• </a:t>
                      </a:r>
                      <a:r>
                        <a:rPr lang="ko-KR" altLang="en-US" sz="800" spc="-40" baseline="0" dirty="0">
                          <a:effectLst/>
                          <a:latin typeface="Hyundai Sans Text KR" panose="020B0600000101010101" pitchFamily="34" charset="-127"/>
                          <a:ea typeface="Hyundai Sans Text KR" panose="020B0600000101010101" pitchFamily="34" charset="-127"/>
                        </a:rPr>
                        <a:t>실시간 제어</a:t>
                      </a:r>
                      <a:r>
                        <a:rPr lang="en-US" altLang="ko-KR" sz="800" spc="-40" baseline="0" dirty="0">
                          <a:effectLst/>
                          <a:latin typeface="Hyundai Sans Text KR" panose="020B0600000101010101" pitchFamily="34" charset="-127"/>
                          <a:ea typeface="Hyundai Sans Text KR" panose="020B0600000101010101" pitchFamily="34" charset="-127"/>
                        </a:rPr>
                        <a:t>·</a:t>
                      </a:r>
                      <a:r>
                        <a:rPr lang="ko-KR" altLang="en-US" sz="800" spc="-40" baseline="0" dirty="0">
                          <a:effectLst/>
                          <a:latin typeface="Hyundai Sans Text KR" panose="020B0600000101010101" pitchFamily="34" charset="-127"/>
                          <a:ea typeface="Hyundai Sans Text KR" panose="020B0600000101010101" pitchFamily="34" charset="-127"/>
                        </a:rPr>
                        <a:t>통신 기반 기술 </a:t>
                      </a:r>
                      <a:r>
                        <a:rPr lang="en-US" altLang="ko-KR" sz="800" spc="-40" baseline="0" dirty="0">
                          <a:effectLst/>
                          <a:latin typeface="Hyundai Sans Text KR" panose="020B0600000101010101" pitchFamily="34" charset="-127"/>
                          <a:ea typeface="Hyundai Sans Text KR" panose="020B0600000101010101" pitchFamily="34" charset="-127"/>
                        </a:rPr>
                        <a:t>(</a:t>
                      </a:r>
                      <a:r>
                        <a:rPr lang="ko-KR" altLang="en-US" sz="800" spc="-40" baseline="0" dirty="0" err="1">
                          <a:effectLst/>
                          <a:latin typeface="Hyundai Sans Text KR" panose="020B0600000101010101" pitchFamily="34" charset="-127"/>
                          <a:ea typeface="Hyundai Sans Text KR" panose="020B0600000101010101" pitchFamily="34" charset="-127"/>
                        </a:rPr>
                        <a:t>엣지</a:t>
                      </a:r>
                      <a:r>
                        <a:rPr lang="ko-KR" altLang="en-US" sz="800" spc="-40" baseline="0" dirty="0">
                          <a:effectLst/>
                          <a:latin typeface="Hyundai Sans Text KR" panose="020B0600000101010101" pitchFamily="34" charset="-127"/>
                          <a:ea typeface="Hyundai Sans Text KR" panose="020B0600000101010101" pitchFamily="34" charset="-127"/>
                        </a:rPr>
                        <a:t> 기반 처리</a:t>
                      </a:r>
                      <a:r>
                        <a:rPr lang="en-US" altLang="ko-KR" sz="800" spc="-40" baseline="0" dirty="0">
                          <a:effectLst/>
                          <a:latin typeface="Hyundai Sans Text KR" panose="020B0600000101010101" pitchFamily="34" charset="-127"/>
                          <a:ea typeface="Hyundai Sans Text KR" panose="020B0600000101010101" pitchFamily="34" charset="-127"/>
                        </a:rPr>
                        <a:t>, </a:t>
                      </a:r>
                      <a:r>
                        <a:rPr lang="ko-KR" altLang="en-US" sz="800" spc="-40" baseline="0" dirty="0">
                          <a:effectLst/>
                          <a:latin typeface="Hyundai Sans Text KR" panose="020B0600000101010101" pitchFamily="34" charset="-127"/>
                          <a:ea typeface="Hyundai Sans Text KR" panose="020B0600000101010101" pitchFamily="34" charset="-127"/>
                        </a:rPr>
                        <a:t>초저지연 실시간 통신</a:t>
                      </a:r>
                      <a:r>
                        <a:rPr lang="en-US" altLang="ko-KR" sz="800" spc="-40" baseline="0" dirty="0">
                          <a:effectLst/>
                          <a:latin typeface="Hyundai Sans Text KR" panose="020B0600000101010101" pitchFamily="34" charset="-127"/>
                          <a:ea typeface="Hyundai Sans Text KR" panose="020B0600000101010101" pitchFamily="34" charset="-127"/>
                        </a:rPr>
                        <a:t>)</a:t>
                      </a:r>
                    </a:p>
                    <a:p>
                      <a:pPr>
                        <a:lnSpc>
                          <a:spcPct val="95000"/>
                        </a:lnSpc>
                        <a:buNone/>
                      </a:pPr>
                      <a:r>
                        <a:rPr lang="ko-KR" sz="800" dirty="0">
                          <a:effectLst/>
                          <a:latin typeface="Hyundai Sans Text KR" panose="020B0600000101010101" pitchFamily="34" charset="-127"/>
                          <a:ea typeface="Hyundai Sans Text KR" panose="020B0600000101010101" pitchFamily="34" charset="-127"/>
                        </a:rPr>
                        <a:t>• 로봇 제어기 연동 및 </a:t>
                      </a:r>
                      <a:r>
                        <a:rPr lang="ko-KR" sz="800" dirty="0" err="1">
                          <a:effectLst/>
                          <a:latin typeface="Hyundai Sans Text KR" panose="020B0600000101010101" pitchFamily="34" charset="-127"/>
                          <a:ea typeface="Hyundai Sans Text KR" panose="020B0600000101010101" pitchFamily="34" charset="-127"/>
                        </a:rPr>
                        <a:t>힘·토크·압력</a:t>
                      </a:r>
                      <a:r>
                        <a:rPr lang="ko-KR" sz="800" dirty="0">
                          <a:effectLst/>
                          <a:latin typeface="Hyundai Sans Text KR" panose="020B0600000101010101" pitchFamily="34" charset="-127"/>
                          <a:ea typeface="Hyundai Sans Text KR" panose="020B0600000101010101" pitchFamily="34" charset="-127"/>
                        </a:rPr>
                        <a:t> 기반 피드백 제어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가상-실제 동기화 및 </a:t>
                      </a:r>
                      <a:r>
                        <a:rPr lang="ko-KR" sz="800" dirty="0" err="1">
                          <a:effectLst/>
                          <a:latin typeface="Hyundai Sans Text KR" panose="020B0600000101010101" pitchFamily="34" charset="-127"/>
                          <a:ea typeface="Hyundai Sans Text KR" panose="020B0600000101010101" pitchFamily="34" charset="-127"/>
                        </a:rPr>
                        <a:t>폐루프</a:t>
                      </a:r>
                      <a:r>
                        <a:rPr lang="ko-KR" sz="800" dirty="0">
                          <a:effectLst/>
                          <a:latin typeface="Hyundai Sans Text KR" panose="020B0600000101010101" pitchFamily="34" charset="-127"/>
                          <a:ea typeface="Hyundai Sans Text KR" panose="020B0600000101010101" pitchFamily="34" charset="-127"/>
                        </a:rPr>
                        <a:t> 제어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현장 적용 자동화 및 배포/</a:t>
                      </a:r>
                      <a:r>
                        <a:rPr lang="ko-KR" sz="800" dirty="0" err="1">
                          <a:effectLst/>
                          <a:latin typeface="Hyundai Sans Text KR" panose="020B0600000101010101" pitchFamily="34" charset="-127"/>
                          <a:ea typeface="Hyundai Sans Text KR" panose="020B0600000101010101" pitchFamily="34" charset="-127"/>
                        </a:rPr>
                        <a:t>엣지</a:t>
                      </a:r>
                      <a:r>
                        <a:rPr lang="ko-KR" sz="800" dirty="0">
                          <a:effectLst/>
                          <a:latin typeface="Hyundai Sans Text KR" panose="020B0600000101010101" pitchFamily="34" charset="-127"/>
                          <a:ea typeface="Hyundai Sans Text KR" panose="020B0600000101010101" pitchFamily="34" charset="-127"/>
                        </a:rPr>
                        <a:t> 실행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자동 </a:t>
                      </a:r>
                      <a:r>
                        <a:rPr lang="ko-KR" sz="800" dirty="0" err="1">
                          <a:effectLst/>
                          <a:latin typeface="Hyundai Sans Text KR" panose="020B0600000101010101" pitchFamily="34" charset="-127"/>
                          <a:ea typeface="Hyundai Sans Text KR" panose="020B0600000101010101" pitchFamily="34" charset="-127"/>
                        </a:rPr>
                        <a:t>재캘리브레이션</a:t>
                      </a:r>
                      <a:r>
                        <a:rPr lang="ko-KR" sz="800" dirty="0">
                          <a:effectLst/>
                          <a:latin typeface="Hyundai Sans Text KR" panose="020B0600000101010101" pitchFamily="34" charset="-127"/>
                          <a:ea typeface="Hyundai Sans Text KR" panose="020B0600000101010101" pitchFamily="34" charset="-127"/>
                        </a:rPr>
                        <a:t> 및 적응형 제어 기술</a:t>
                      </a: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sz="800" dirty="0">
                          <a:latin typeface="Hyundai Sans Text KR" panose="020B0600000101010101" pitchFamily="34" charset="-127"/>
                          <a:ea typeface="Hyundai Sans Text KR" panose="020B0600000101010101" pitchFamily="34" charset="-127"/>
                        </a:rPr>
                        <a:t>• 가상-실제 로봇 응답 차이</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그리퍼</a:t>
                      </a:r>
                      <a:r>
                        <a:rPr lang="ko-KR" sz="800" dirty="0">
                          <a:latin typeface="Hyundai Sans Text KR" panose="020B0600000101010101" pitchFamily="34" charset="-127"/>
                          <a:ea typeface="Hyundai Sans Text KR" panose="020B0600000101010101" pitchFamily="34" charset="-127"/>
                        </a:rPr>
                        <a:t> 힘/압력 제어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환경 변화 대응 및 자동 </a:t>
                      </a:r>
                      <a:r>
                        <a:rPr lang="ko-KR" sz="800" dirty="0" err="1">
                          <a:latin typeface="Hyundai Sans Text KR" panose="020B0600000101010101" pitchFamily="34" charset="-127"/>
                          <a:ea typeface="Hyundai Sans Text KR" panose="020B0600000101010101" pitchFamily="34" charset="-127"/>
                        </a:rPr>
                        <a:t>재보정</a:t>
                      </a:r>
                      <a:r>
                        <a:rPr lang="ko-KR" sz="800" dirty="0">
                          <a:latin typeface="Hyundai Sans Text KR" panose="020B0600000101010101" pitchFamily="34" charset="-127"/>
                          <a:ea typeface="Hyundai Sans Text KR" panose="020B0600000101010101" pitchFamily="34" charset="-127"/>
                        </a:rPr>
                        <a:t> 한계</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실시간 제어 오차의 즉각적 반영 어려움</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8540662"/>
                  </a:ext>
                </a:extLst>
              </a:tr>
              <a:tr h="1131832">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데이터 수집 및 분석</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공정 결과</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궤적</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그립 상태 데이터 수집 및 성공</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실패 패턴 분석</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err="1">
                          <a:effectLst/>
                          <a:latin typeface="Hyundai Sans Text KR" panose="020B0600000101010101" pitchFamily="34" charset="-127"/>
                          <a:ea typeface="Hyundai Sans Text KR" panose="020B0600000101010101" pitchFamily="34" charset="-127"/>
                        </a:rPr>
                        <a:t>유연체</a:t>
                      </a: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변형체 학습</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(3</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Physical AI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기반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유연체</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변형체 거동 및 성공</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실패 사례 학습</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[AI Agent </a:t>
                      </a:r>
                      <a:r>
                        <a:rPr lang="ko-KR" altLang="en-US" sz="800" b="1" dirty="0">
                          <a:effectLst/>
                          <a:latin typeface="Hyundai Sans Text KR" panose="020B0600000101010101" pitchFamily="34" charset="-127"/>
                          <a:ea typeface="Hyundai Sans Text KR" panose="020B0600000101010101" pitchFamily="34" charset="-127"/>
                        </a:rPr>
                        <a:t>기반 지속 학습</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(3</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작업 순서</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경로</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배치 지속 최적화</a:t>
                      </a:r>
                    </a:p>
                    <a:p>
                      <a:pPr>
                        <a:lnSpc>
                          <a:spcPct val="95000"/>
                        </a:lnSpc>
                        <a:buNone/>
                      </a:pPr>
                      <a:r>
                        <a:rPr lang="en-US" altLang="ko-KR" sz="500" dirty="0">
                          <a:effectLst/>
                          <a:latin typeface="Hyundai Sans Text KR" panose="020B0600000101010101" pitchFamily="34" charset="-127"/>
                          <a:ea typeface="Hyundai Sans Text KR" panose="020B0600000101010101" pitchFamily="34" charset="-127"/>
                        </a:rPr>
                        <a:t>  </a:t>
                      </a:r>
                      <a:r>
                        <a:rPr lang="en-US" altLang="ko-KR" sz="800" dirty="0">
                          <a:effectLst/>
                          <a:latin typeface="Hyundai Sans Text KR" panose="020B0600000101010101" pitchFamily="34" charset="-127"/>
                          <a:ea typeface="Hyundai Sans Text KR" panose="020B0600000101010101" pitchFamily="34" charset="-127"/>
                        </a:rPr>
                        <a:t>        • </a:t>
                      </a:r>
                      <a:r>
                        <a:rPr lang="ko-KR" altLang="en-US" sz="800" dirty="0">
                          <a:effectLst/>
                          <a:latin typeface="Hyundai Sans Text KR" panose="020B0600000101010101" pitchFamily="34" charset="-127"/>
                          <a:ea typeface="Hyundai Sans Text KR" panose="020B0600000101010101" pitchFamily="34" charset="-127"/>
                        </a:rPr>
                        <a:t>품질</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유지보수 예측 및 피드백 기반 자율 최적화</a:t>
                      </a:r>
                      <a:endPar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95000"/>
                        </a:lnSpc>
                        <a:buNone/>
                      </a:pPr>
                      <a:r>
                        <a:rPr lang="ko-KR" sz="800" b="1" dirty="0">
                          <a:effectLst/>
                          <a:latin typeface="Hyundai Sans Text KR" panose="020B0600000101010101" pitchFamily="34" charset="-127"/>
                          <a:ea typeface="Hyundai Sans Text KR" panose="020B0600000101010101" pitchFamily="34" charset="-127"/>
                        </a:rPr>
                        <a:t>[AI 자기학습 및 </a:t>
                      </a:r>
                      <a:r>
                        <a:rPr lang="ko-KR" sz="800" b="1" dirty="0" err="1">
                          <a:effectLst/>
                          <a:latin typeface="Hyundai Sans Text KR" panose="020B0600000101010101" pitchFamily="34" charset="-127"/>
                          <a:ea typeface="Hyundai Sans Text KR" panose="020B0600000101010101" pitchFamily="34" charset="-127"/>
                        </a:rPr>
                        <a:t>Physical</a:t>
                      </a:r>
                      <a:r>
                        <a:rPr lang="ko-KR" sz="800" b="1" dirty="0">
                          <a:effectLst/>
                          <a:latin typeface="Hyundai Sans Text KR" panose="020B0600000101010101" pitchFamily="34" charset="-127"/>
                          <a:ea typeface="Hyundai Sans Text KR" panose="020B0600000101010101" pitchFamily="34" charset="-127"/>
                        </a:rPr>
                        <a:t> AI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Physical</a:t>
                      </a:r>
                      <a:r>
                        <a:rPr lang="ko-KR" sz="800" dirty="0">
                          <a:effectLst/>
                          <a:latin typeface="Hyundai Sans Text KR" panose="020B0600000101010101" pitchFamily="34" charset="-127"/>
                          <a:ea typeface="Hyundai Sans Text KR" panose="020B0600000101010101" pitchFamily="34" charset="-127"/>
                        </a:rPr>
                        <a:t> AI 및 강화학습 기반 학습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성공/실패 사례 데이터베이스 및 </a:t>
                      </a:r>
                      <a:r>
                        <a:rPr lang="ko-KR" sz="800" dirty="0" err="1">
                          <a:effectLst/>
                          <a:latin typeface="Hyundai Sans Text KR" panose="020B0600000101010101" pitchFamily="34" charset="-127"/>
                          <a:ea typeface="Hyundai Sans Text KR" panose="020B0600000101010101" pitchFamily="34" charset="-127"/>
                        </a:rPr>
                        <a:t>폐루프</a:t>
                      </a:r>
                      <a:r>
                        <a:rPr lang="ko-KR" sz="800" dirty="0">
                          <a:effectLst/>
                          <a:latin typeface="Hyundai Sans Text KR" panose="020B0600000101010101" pitchFamily="34" charset="-127"/>
                          <a:ea typeface="Hyundai Sans Text KR" panose="020B0600000101010101" pitchFamily="34" charset="-127"/>
                        </a:rPr>
                        <a:t> 학습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디지털 트윈-현장-에이전트 연계 지속 학습 기술 </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r>
                        <a:rPr lang="ko-KR"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ko-KR" sz="800" kern="1200" dirty="0" err="1">
                          <a:solidFill>
                            <a:schemeClr val="tx1"/>
                          </a:solidFill>
                          <a:effectLst/>
                          <a:latin typeface="Hyundai Sans Text KR" panose="020B0600000101010101" pitchFamily="34" charset="-127"/>
                          <a:ea typeface="Hyundai Sans Text KR" panose="020B0600000101010101" pitchFamily="34" charset="-127"/>
                          <a:cs typeface="+mn-cs"/>
                        </a:rPr>
                        <a:t>MLOps</a:t>
                      </a:r>
                      <a:r>
                        <a:rPr lang="ko-KR"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기반 </a:t>
                      </a:r>
                      <a:r>
                        <a:rPr lang="ko-KR" altLang="ko-KR" sz="800" kern="1200" dirty="0" err="1">
                          <a:solidFill>
                            <a:schemeClr val="tx1"/>
                          </a:solidFill>
                          <a:effectLst/>
                          <a:latin typeface="Hyundai Sans Text KR" panose="020B0600000101010101" pitchFamily="34" charset="-127"/>
                          <a:ea typeface="Hyundai Sans Text KR" panose="020B0600000101010101" pitchFamily="34" charset="-127"/>
                          <a:cs typeface="+mn-cs"/>
                        </a:rPr>
                        <a:t>학습·재학습·모델</a:t>
                      </a:r>
                      <a:r>
                        <a:rPr lang="ko-KR"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운영 기술</a:t>
                      </a:r>
                      <a:b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ko-KR" sz="800" b="1" dirty="0">
                          <a:effectLst/>
                          <a:latin typeface="Hyundai Sans Text KR" panose="020B0600000101010101" pitchFamily="34" charset="-127"/>
                          <a:ea typeface="Hyundai Sans Text KR" panose="020B0600000101010101" pitchFamily="34" charset="-127"/>
                        </a:rPr>
                        <a:t>[AI </a:t>
                      </a:r>
                      <a:r>
                        <a:rPr lang="ko-KR" sz="800" b="1" dirty="0" err="1">
                          <a:effectLst/>
                          <a:latin typeface="Hyundai Sans Text KR" panose="020B0600000101010101" pitchFamily="34" charset="-127"/>
                          <a:ea typeface="Hyundai Sans Text KR" panose="020B0600000101010101" pitchFamily="34" charset="-127"/>
                        </a:rPr>
                        <a:t>Agent</a:t>
                      </a:r>
                      <a:r>
                        <a:rPr lang="ko-KR" sz="800" b="1" dirty="0">
                          <a:effectLst/>
                          <a:latin typeface="Hyundai Sans Text KR" panose="020B0600000101010101" pitchFamily="34" charset="-127"/>
                          <a:ea typeface="Hyundai Sans Text KR" panose="020B0600000101010101" pitchFamily="34" charset="-127"/>
                        </a:rPr>
                        <a:t>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AI </a:t>
                      </a:r>
                      <a:r>
                        <a:rPr lang="ko-KR" sz="800" dirty="0" err="1">
                          <a:effectLst/>
                          <a:latin typeface="Hyundai Sans Text KR" panose="020B0600000101010101" pitchFamily="34" charset="-127"/>
                          <a:ea typeface="Hyundai Sans Text KR" panose="020B0600000101010101" pitchFamily="34" charset="-127"/>
                        </a:rPr>
                        <a:t>Agent</a:t>
                      </a:r>
                      <a:r>
                        <a:rPr lang="ko-KR" sz="800" dirty="0">
                          <a:effectLst/>
                          <a:latin typeface="Hyundai Sans Text KR" panose="020B0600000101010101" pitchFamily="34" charset="-127"/>
                          <a:ea typeface="Hyundai Sans Text KR" panose="020B0600000101010101" pitchFamily="34" charset="-127"/>
                        </a:rPr>
                        <a:t> 기반 </a:t>
                      </a:r>
                      <a:r>
                        <a:rPr lang="ko-KR" sz="800" dirty="0" err="1">
                          <a:effectLst/>
                          <a:latin typeface="Hyundai Sans Text KR" panose="020B0600000101010101" pitchFamily="34" charset="-127"/>
                          <a:ea typeface="Hyundai Sans Text KR" panose="020B0600000101010101" pitchFamily="34" charset="-127"/>
                        </a:rPr>
                        <a:t>폐루프</a:t>
                      </a:r>
                      <a:r>
                        <a:rPr lang="ko-KR" sz="800" dirty="0">
                          <a:effectLst/>
                          <a:latin typeface="Hyundai Sans Text KR" panose="020B0600000101010101" pitchFamily="34" charset="-127"/>
                          <a:ea typeface="Hyundai Sans Text KR" panose="020B0600000101010101" pitchFamily="34" charset="-127"/>
                        </a:rPr>
                        <a:t> 학습 아키텍처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LLM/VLM 기반 자율 의사결정 및 공정 최적화 기술</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r>
                        <a:rPr lang="ko-KR"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강화학습 기반 계획 </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최적화 기술 </a:t>
                      </a:r>
                      <a:r>
                        <a:rPr lang="en-US" altLang="ko-KR" sz="800" dirty="0">
                          <a:effectLst/>
                          <a:latin typeface="Hyundai Sans Text KR" panose="020B0600000101010101" pitchFamily="34" charset="-127"/>
                          <a:ea typeface="Hyundai Sans Text KR" panose="020B0600000101010101" pitchFamily="34" charset="-127"/>
                        </a:rPr>
                        <a:t>(RL)</a:t>
                      </a: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유연체·변형체</a:t>
                      </a:r>
                      <a:r>
                        <a:rPr lang="ko-KR" sz="800" dirty="0">
                          <a:latin typeface="Hyundai Sans Text KR" panose="020B0600000101010101" pitchFamily="34" charset="-127"/>
                          <a:ea typeface="Hyundai Sans Text KR" panose="020B0600000101010101" pitchFamily="34" charset="-127"/>
                        </a:rPr>
                        <a:t> 거동 모델링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희귀 실패 데이터 부족</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학습 결과의 생산현장 일반화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en-US" altLang="ko-KR" sz="800" dirty="0">
                          <a:latin typeface="Hyundai Sans Text KR" panose="020B0600000101010101" pitchFamily="34" charset="-127"/>
                          <a:ea typeface="Hyundai Sans Text KR" panose="020B0600000101010101" pitchFamily="34" charset="-127"/>
                        </a:rPr>
                        <a:t>AI </a:t>
                      </a:r>
                      <a:r>
                        <a:rPr lang="ko-KR" altLang="en-US" sz="800" dirty="0">
                          <a:latin typeface="Hyundai Sans Text KR" panose="020B0600000101010101" pitchFamily="34" charset="-127"/>
                          <a:ea typeface="Hyundai Sans Text KR" panose="020B0600000101010101" pitchFamily="34" charset="-127"/>
                        </a:rPr>
                        <a:t>추천 결과의 신뢰성 확보 및 지속적 </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en-US"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자율 최적화 체계 구축 필요</a:t>
                      </a:r>
                      <a:endParaRPr lang="ko-KR" sz="800" dirty="0">
                        <a:latin typeface="Hyundai Sans Text KR" panose="020B0600000101010101" pitchFamily="34" charset="-127"/>
                        <a:ea typeface="Hyundai Sans Text KR" panose="020B0600000101010101" pitchFamily="34" charset="-127"/>
                      </a:endParaRP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792073"/>
                  </a:ext>
                </a:extLst>
              </a:tr>
            </a:tbl>
          </a:graphicData>
        </a:graphic>
      </p:graphicFrame>
      <p:sp>
        <p:nvSpPr>
          <p:cNvPr id="3" name="직사각형 2">
            <a:extLst>
              <a:ext uri="{FF2B5EF4-FFF2-40B4-BE49-F238E27FC236}">
                <a16:creationId xmlns:a16="http://schemas.microsoft.com/office/drawing/2014/main" id="{7F1B852C-9A6B-8BE1-23C7-57E02CADE9EC}"/>
              </a:ext>
            </a:extLst>
          </p:cNvPr>
          <p:cNvSpPr/>
          <p:nvPr/>
        </p:nvSpPr>
        <p:spPr>
          <a:xfrm rot="20700000">
            <a:off x="2492189" y="3272117"/>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rPr>
              <a:t>Need to translate KR Ver later</a:t>
            </a:r>
            <a:endParaRPr kumimoji="0" lang="ko-KR" altLang="en-US"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endParaRPr>
          </a:p>
        </p:txBody>
      </p:sp>
    </p:spTree>
    <p:extLst>
      <p:ext uri="{BB962C8B-B14F-4D97-AF65-F5344CB8AC3E}">
        <p14:creationId xmlns:p14="http://schemas.microsoft.com/office/powerpoint/2010/main" val="2131869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5572-B679-89DD-C3C9-5591CC85900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1B63AC9A-364D-F243-846E-A176BD598623}"/>
              </a:ext>
            </a:extLst>
          </p:cNvPr>
          <p:cNvSpPr>
            <a:spLocks noGrp="1"/>
          </p:cNvSpPr>
          <p:nvPr>
            <p:ph type="ctrTitle"/>
          </p:nvPr>
        </p:nvSpPr>
        <p:spPr>
          <a:xfrm>
            <a:off x="273049" y="179388"/>
            <a:ext cx="9328151"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④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troubleshooting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B6363568-9155-5D89-2EC1-C923027CDE1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E98D9A4D-3CA5-70A1-4439-DFFB291C9BC5}"/>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5A8401CA-DF7C-E001-702C-EF96CF15DA2B}"/>
              </a:ext>
            </a:extLst>
          </p:cNvPr>
          <p:cNvSpPr txBox="1"/>
          <p:nvPr/>
        </p:nvSpPr>
        <p:spPr>
          <a:xfrm>
            <a:off x="338778" y="830362"/>
            <a:ext cx="8724696"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response to trouble shooting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CAA93FC9-6114-56AB-4142-80F6FCC10538}"/>
              </a:ext>
            </a:extLst>
          </p:cNvPr>
          <p:cNvSpPr>
            <a:spLocks noChangeArrowheads="1"/>
          </p:cNvSpPr>
          <p:nvPr/>
        </p:nvSpPr>
        <p:spPr bwMode="auto">
          <a:xfrm>
            <a:off x="541148" y="1033817"/>
            <a:ext cx="938269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Establish an unmanned maintenance system that identifies root causes in real-time upon equipment failure, autonomously executes</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control (PLC) and physical (Humanoid) countermeasures, iteratively retries alternatives until resolved, and self-learns the "Lesson Learned."</a:t>
            </a:r>
          </a:p>
        </p:txBody>
      </p:sp>
      <p:graphicFrame>
        <p:nvGraphicFramePr>
          <p:cNvPr id="11" name="표 10">
            <a:extLst>
              <a:ext uri="{FF2B5EF4-FFF2-40B4-BE49-F238E27FC236}">
                <a16:creationId xmlns:a16="http://schemas.microsoft.com/office/drawing/2014/main" id="{596C8D31-B66E-9DB2-0013-A40FD8109106}"/>
              </a:ext>
            </a:extLst>
          </p:cNvPr>
          <p:cNvGraphicFramePr>
            <a:graphicFrameLocks noGrp="1"/>
          </p:cNvGraphicFramePr>
          <p:nvPr/>
        </p:nvGraphicFramePr>
        <p:xfrm>
          <a:off x="355727" y="1505993"/>
          <a:ext cx="12679198" cy="5275234"/>
        </p:xfrm>
        <a:graphic>
          <a:graphicData uri="http://schemas.openxmlformats.org/drawingml/2006/table">
            <a:tbl>
              <a:tblPr/>
              <a:tblGrid>
                <a:gridCol w="793708">
                  <a:extLst>
                    <a:ext uri="{9D8B030D-6E8A-4147-A177-3AD203B41FA5}">
                      <a16:colId xmlns:a16="http://schemas.microsoft.com/office/drawing/2014/main" val="3515855418"/>
                    </a:ext>
                  </a:extLst>
                </a:gridCol>
                <a:gridCol w="2869102">
                  <a:extLst>
                    <a:ext uri="{9D8B030D-6E8A-4147-A177-3AD203B41FA5}">
                      <a16:colId xmlns:a16="http://schemas.microsoft.com/office/drawing/2014/main" val="2891931337"/>
                    </a:ext>
                  </a:extLst>
                </a:gridCol>
                <a:gridCol w="2869102">
                  <a:extLst>
                    <a:ext uri="{9D8B030D-6E8A-4147-A177-3AD203B41FA5}">
                      <a16:colId xmlns:a16="http://schemas.microsoft.com/office/drawing/2014/main" val="3002806275"/>
                    </a:ext>
                  </a:extLst>
                </a:gridCol>
                <a:gridCol w="2869102">
                  <a:extLst>
                    <a:ext uri="{9D8B030D-6E8A-4147-A177-3AD203B41FA5}">
                      <a16:colId xmlns:a16="http://schemas.microsoft.com/office/drawing/2014/main" val="826399169"/>
                    </a:ext>
                  </a:extLst>
                </a:gridCol>
                <a:gridCol w="273084">
                  <a:extLst>
                    <a:ext uri="{9D8B030D-6E8A-4147-A177-3AD203B41FA5}">
                      <a16:colId xmlns:a16="http://schemas.microsoft.com/office/drawing/2014/main" val="2796269444"/>
                    </a:ext>
                  </a:extLst>
                </a:gridCol>
                <a:gridCol w="3005100">
                  <a:extLst>
                    <a:ext uri="{9D8B030D-6E8A-4147-A177-3AD203B41FA5}">
                      <a16:colId xmlns:a16="http://schemas.microsoft.com/office/drawing/2014/main" val="3458429665"/>
                    </a:ext>
                  </a:extLst>
                </a:gridCol>
              </a:tblGrid>
              <a:tr h="146516">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sz="90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en-US" altLang="ko-KR" sz="900" b="1" i="0" kern="1200">
                          <a:solidFill>
                            <a:schemeClr val="tx1"/>
                          </a:solidFill>
                          <a:effectLst/>
                          <a:latin typeface="현대산스 Text"/>
                          <a:ea typeface="현대산스 Text"/>
                          <a:cs typeface="+mn-cs"/>
                        </a:rPr>
                        <a:t>Development</a:t>
                      </a:r>
                      <a:r>
                        <a:rPr lang="ko-KR" altLang="en-US" sz="900" b="1" i="0" kern="1200">
                          <a:solidFill>
                            <a:schemeClr val="tx1"/>
                          </a:solidFill>
                          <a:effectLst/>
                          <a:latin typeface="현대산스 Text"/>
                          <a:ea typeface="현대산스 Text"/>
                          <a:cs typeface="+mn-cs"/>
                        </a:rPr>
                        <a:t> </a:t>
                      </a:r>
                      <a:r>
                        <a:rPr lang="en-US" sz="900" b="1" i="0" kern="1200">
                          <a:solidFill>
                            <a:schemeClr val="tx1"/>
                          </a:solidFill>
                          <a:effectLst/>
                          <a:latin typeface="현대산스 Text"/>
                          <a:ea typeface="현대산스 Text"/>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3004279">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sz="800" b="1" dirty="0">
                          <a:effectLst/>
                          <a:latin typeface="Hyundai Sans Text KR"/>
                          <a:ea typeface="Hyundai Sans Text KR"/>
                        </a:rPr>
                        <a:t>[Real-time Fault Detection &amp; Visual Context]</a:t>
                      </a:r>
                      <a:endParaRPr lang="en-US" sz="800" dirty="0">
                        <a:latin typeface="Hyundai Sans Text KR"/>
                        <a:ea typeface="Hyundai Sans Text KR"/>
                      </a:endParaRPr>
                    </a:p>
                    <a:p>
                      <a:pPr lvl="0" algn="l">
                        <a:buNone/>
                      </a:pPr>
                      <a:r>
                        <a:rPr lang="en-US" sz="800" dirty="0">
                          <a:effectLst/>
                          <a:latin typeface="Hyundai Sans Text KR"/>
                          <a:ea typeface="Hyundai Sans Text KR"/>
                        </a:rPr>
                        <a:t>Real-time collection of equip.  alarms/error codes and </a:t>
                      </a:r>
                    </a:p>
                    <a:p>
                      <a:pPr lvl="0" algn="l">
                        <a:buNone/>
                      </a:pPr>
                      <a:r>
                        <a:rPr lang="en-US" sz="800" dirty="0">
                          <a:effectLst/>
                          <a:latin typeface="Hyundai Sans Text KR"/>
                          <a:ea typeface="Hyundai Sans Text KR"/>
                        </a:rPr>
                        <a:t>integration of high-res vision (CCTV/Robot cameras) from the </a:t>
                      </a:r>
                    </a:p>
                    <a:p>
                      <a:pPr lvl="0" algn="l">
                        <a:buNone/>
                      </a:pPr>
                      <a:r>
                        <a:rPr lang="en-US" sz="800" dirty="0">
                          <a:effectLst/>
                          <a:latin typeface="Hyundai Sans Text KR"/>
                          <a:ea typeface="Hyundai Sans Text KR"/>
                        </a:rPr>
                        <a:t>fault zone</a:t>
                      </a:r>
                      <a:br>
                        <a:rPr lang="en-US" sz="800" dirty="0">
                          <a:effectLst/>
                          <a:latin typeface="Hyundai Sans Text KR"/>
                          <a:ea typeface="Hyundai Sans Text KR"/>
                        </a:rPr>
                      </a:br>
                      <a:r>
                        <a:rPr lang="en-US" sz="800" b="1" dirty="0">
                          <a:effectLst/>
                          <a:latin typeface="Hyundai Sans Text KR"/>
                          <a:ea typeface="Hyundai Sans Text KR"/>
                        </a:rPr>
                        <a:t>[Humanoid Remote/Autonomous Network]</a:t>
                      </a:r>
                      <a:r>
                        <a:rPr lang="en-US" sz="800" dirty="0">
                          <a:effectLst/>
                          <a:latin typeface="Hyundai Sans Text KR"/>
                          <a:ea typeface="Hyundai Sans Text KR"/>
                        </a:rPr>
                        <a:t> Establishing an </a:t>
                      </a:r>
                    </a:p>
                    <a:p>
                      <a:pPr lvl="0" algn="l">
                        <a:buNone/>
                      </a:pPr>
                      <a:r>
                        <a:rPr lang="en-US" sz="800" dirty="0">
                          <a:effectLst/>
                          <a:latin typeface="Hyundai Sans Text KR"/>
                          <a:ea typeface="Hyundai Sans Text KR"/>
                        </a:rPr>
                        <a:t>ultra-low latency communication network with humanoid </a:t>
                      </a:r>
                    </a:p>
                    <a:p>
                      <a:pPr lvl="0" algn="l">
                        <a:buNone/>
                      </a:pPr>
                      <a:r>
                        <a:rPr lang="en-US" sz="800" dirty="0">
                          <a:effectLst/>
                          <a:latin typeface="Hyundai Sans Text KR"/>
                          <a:ea typeface="Hyundai Sans Text KR"/>
                        </a:rPr>
                        <a:t>robots deployed for physical interventions</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algn="l">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[Real-time Fault Detection &amp; Visual Context]</a:t>
                      </a:r>
                      <a:endParaRPr lang="en-US" sz="800" b="0" i="0" u="none" strike="noStrike" noProof="0" dirty="0">
                        <a:solidFill>
                          <a:srgbClr val="000000"/>
                        </a:solidFill>
                        <a:effectLst/>
                        <a:latin typeface="Hyundai Sans Text KR"/>
                        <a:ea typeface="Hyundai Sans Text KR"/>
                      </a:endParaRPr>
                    </a:p>
                    <a:p>
                      <a:pPr marL="0" lvl="0" indent="0" algn="l">
                        <a:buFont typeface="Arial"/>
                        <a:buChar char="•"/>
                      </a:pPr>
                      <a:r>
                        <a:rPr lang="en-US" sz="800" b="0" i="0" u="none" strike="noStrike" noProof="0" dirty="0">
                          <a:solidFill>
                            <a:schemeClr val="tx1"/>
                          </a:solidFill>
                          <a:effectLst/>
                          <a:latin typeface="Hyundai Sans Text KR"/>
                          <a:ea typeface="Hyundai Sans Text KR"/>
                        </a:rPr>
                        <a:t> </a:t>
                      </a:r>
                      <a:r>
                        <a:rPr lang="en-US" sz="800" b="0" i="0" u="none" strike="noStrike" noProof="0" dirty="0" err="1">
                          <a:solidFill>
                            <a:schemeClr val="tx1"/>
                          </a:solidFill>
                          <a:effectLst/>
                          <a:latin typeface="Hyundai Sans Text KR"/>
                          <a:ea typeface="Hyundai Sans Text KR"/>
                        </a:rPr>
                        <a:t>IIoT</a:t>
                      </a:r>
                      <a:r>
                        <a:rPr lang="en-US" sz="800" b="0" i="0" u="none" strike="noStrike" noProof="0" dirty="0">
                          <a:solidFill>
                            <a:schemeClr val="tx1"/>
                          </a:solidFill>
                          <a:effectLst/>
                          <a:latin typeface="Hyundai Sans Text KR"/>
                          <a:ea typeface="Hyundai Sans Text KR"/>
                        </a:rPr>
                        <a:t> sensors and PLC real-time data ingestion.</a:t>
                      </a:r>
                      <a:endParaRPr lang="en-US" sz="800" b="0" i="0" u="none" strike="noStrike" noProof="0" dirty="0">
                        <a:solidFill>
                          <a:srgbClr val="000000"/>
                        </a:solidFill>
                        <a:effectLst/>
                        <a:latin typeface="Hyundai Sans Text KR"/>
                        <a:ea typeface="Hyundai Sans Text KR"/>
                      </a:endParaRPr>
                    </a:p>
                    <a:p>
                      <a:pPr marL="0" lvl="0" indent="0" algn="l">
                        <a:buFont typeface="Arial"/>
                        <a:buChar char="•"/>
                      </a:pPr>
                      <a:r>
                        <a:rPr lang="en-US" sz="800" b="0" i="0" u="none" strike="noStrike" noProof="0" dirty="0">
                          <a:solidFill>
                            <a:schemeClr val="tx1"/>
                          </a:solidFill>
                          <a:effectLst/>
                          <a:latin typeface="Hyundai Sans Text KR"/>
                          <a:ea typeface="Hyundai Sans Text KR"/>
                        </a:rPr>
                        <a:t> Time-series DB (Influx) collects equipment condition-based  </a:t>
                      </a:r>
                    </a:p>
                    <a:p>
                      <a:pPr marL="0" lvl="0" indent="0" algn="l">
                        <a:buFont typeface="Arial"/>
                        <a:buNone/>
                      </a:pPr>
                      <a:r>
                        <a:rPr lang="en-US" sz="800" b="0" i="0" u="none" strike="noStrike" noProof="0" dirty="0">
                          <a:solidFill>
                            <a:schemeClr val="tx1"/>
                          </a:solidFill>
                          <a:effectLst/>
                          <a:latin typeface="Hyundai Sans Text KR"/>
                          <a:ea typeface="Hyundai Sans Text KR"/>
                        </a:rPr>
                        <a:t>   monitoring data (i.e. motor speed, variable temperature, </a:t>
                      </a:r>
                    </a:p>
                    <a:p>
                      <a:pPr marL="0" lvl="0" indent="0" algn="l">
                        <a:buFont typeface="Arial"/>
                        <a:buNone/>
                      </a:pPr>
                      <a:r>
                        <a:rPr lang="en-US" sz="800" b="0" i="0" u="none" strike="noStrike" noProof="0" dirty="0">
                          <a:solidFill>
                            <a:schemeClr val="tx1"/>
                          </a:solidFill>
                          <a:effectLst/>
                          <a:latin typeface="Hyundai Sans Text KR"/>
                          <a:ea typeface="Hyundai Sans Text KR"/>
                        </a:rPr>
                        <a:t>   vibration etc.)</a:t>
                      </a:r>
                      <a:endParaRPr lang="en-US" sz="800" b="0" i="0" u="none" strike="noStrike" noProof="0" dirty="0">
                        <a:solidFill>
                          <a:srgbClr val="000000"/>
                        </a:solidFill>
                        <a:effectLst/>
                        <a:latin typeface="Hyundai Sans Text KR"/>
                        <a:ea typeface="Hyundai Sans Text KR"/>
                      </a:endParaRPr>
                    </a:p>
                    <a:p>
                      <a:pPr marL="0" lvl="0" indent="0" algn="l">
                        <a:buFont typeface="Arial"/>
                        <a:buChar char="•"/>
                      </a:pPr>
                      <a:r>
                        <a:rPr lang="en-US" sz="800" b="0" i="0" u="none" strike="noStrike" noProof="0" dirty="0">
                          <a:solidFill>
                            <a:schemeClr val="tx1"/>
                          </a:solidFill>
                          <a:effectLst/>
                          <a:latin typeface="Hyundai Sans Text KR"/>
                          <a:ea typeface="Hyundai Sans Text KR"/>
                        </a:rPr>
                        <a:t> Relational DB (PostgreSQL) for PLC alarm data, process Pack</a:t>
                      </a:r>
                    </a:p>
                    <a:p>
                      <a:pPr marL="0" lvl="0" indent="0" algn="l">
                        <a:buFont typeface="Arial"/>
                        <a:buNone/>
                      </a:pPr>
                      <a:r>
                        <a:rPr lang="en-US" sz="800" b="0" i="0" u="none" strike="noStrike" noProof="0" dirty="0">
                          <a:solidFill>
                            <a:schemeClr val="tx1"/>
                          </a:solidFill>
                          <a:effectLst/>
                          <a:latin typeface="Hyundai Sans Text KR"/>
                          <a:ea typeface="Hyundai Sans Text KR"/>
                        </a:rPr>
                        <a:t>  ML state</a:t>
                      </a:r>
                      <a:endParaRPr lang="en-US" sz="800" b="0" i="0" u="none" strike="noStrike" noProof="0" dirty="0">
                        <a:solidFill>
                          <a:srgbClr val="000000"/>
                        </a:solidFill>
                        <a:effectLst/>
                        <a:latin typeface="Hyundai Sans Text KR"/>
                        <a:ea typeface="Hyundai Sans Text KR"/>
                      </a:endParaRPr>
                    </a:p>
                    <a:p>
                      <a:pPr marL="0" lvl="0" indent="0" algn="l">
                        <a:buFont typeface="Arial"/>
                        <a:buChar char="•"/>
                      </a:pPr>
                      <a:r>
                        <a:rPr lang="en-US" sz="800" b="0" i="0" u="none" strike="noStrike" noProof="0" dirty="0">
                          <a:solidFill>
                            <a:schemeClr val="tx1"/>
                          </a:solidFill>
                          <a:effectLst/>
                          <a:latin typeface="Hyundai Sans Text KR"/>
                          <a:ea typeface="Hyundai Sans Text KR"/>
                        </a:rPr>
                        <a:t> Computer vision and PLC alarms integrated to IoT Platform</a:t>
                      </a:r>
                      <a:endParaRPr lang="en-US" sz="800" b="0" i="0" u="none" strike="noStrike" noProof="0" dirty="0">
                        <a:solidFill>
                          <a:srgbClr val="000000"/>
                        </a:solidFill>
                        <a:effectLst/>
                        <a:latin typeface="Hyundai Sans Text KR"/>
                        <a:ea typeface="Hyundai Sans Text KR"/>
                      </a:endParaRPr>
                    </a:p>
                    <a:p>
                      <a:pPr marL="0" lvl="0" indent="0" algn="l">
                        <a:buFont typeface="Arial"/>
                        <a:buChar char="•"/>
                      </a:pPr>
                      <a:r>
                        <a:rPr lang="en-US" sz="800" b="0" i="0" u="none" strike="noStrike" noProof="0" dirty="0">
                          <a:solidFill>
                            <a:schemeClr val="tx1"/>
                          </a:solidFill>
                          <a:effectLst/>
                          <a:latin typeface="Hyundai Sans Text KR"/>
                          <a:ea typeface="Hyundai Sans Text KR"/>
                        </a:rPr>
                        <a:t> Computer Vision exposed to MCP Gateway for AI </a:t>
                      </a:r>
                    </a:p>
                    <a:p>
                      <a:pPr marL="0" lvl="0" indent="0" algn="l">
                        <a:buFont typeface="Arial"/>
                        <a:buNone/>
                      </a:pPr>
                      <a:r>
                        <a:rPr lang="en-US" sz="800" b="0" i="0" u="none" strike="noStrike" noProof="0" dirty="0">
                          <a:solidFill>
                            <a:schemeClr val="tx1"/>
                          </a:solidFill>
                          <a:effectLst/>
                          <a:latin typeface="Hyundai Sans Text KR"/>
                          <a:ea typeface="Hyundai Sans Text KR"/>
                        </a:rPr>
                        <a:t>   orchestration</a:t>
                      </a:r>
                      <a:endParaRPr lang="en-US" sz="800" b="0" i="0" u="none" strike="noStrike" noProof="0" dirty="0">
                        <a:solidFill>
                          <a:srgbClr val="000000"/>
                        </a:solidFill>
                        <a:effectLst/>
                        <a:latin typeface="Hyundai Sans Text KR"/>
                        <a:ea typeface="Hyundai Sans Text KR"/>
                      </a:endParaRPr>
                    </a:p>
                    <a:p>
                      <a:pPr marL="0" lvl="0" indent="0" algn="l">
                        <a:buFont typeface="Arial"/>
                        <a:buChar char="•"/>
                      </a:pPr>
                      <a:r>
                        <a:rPr lang="en-US" sz="800" b="0" i="0" u="none" strike="noStrike" noProof="0" dirty="0">
                          <a:solidFill>
                            <a:schemeClr val="tx1"/>
                          </a:solidFill>
                          <a:effectLst/>
                          <a:latin typeface="Hyundai Sans Text KR"/>
                          <a:ea typeface="Hyundai Sans Text KR"/>
                        </a:rPr>
                        <a:t> Use best in class industry standards for PLC protocols, </a:t>
                      </a:r>
                    </a:p>
                    <a:p>
                      <a:pPr marL="0" lvl="0" indent="0" algn="l">
                        <a:buFont typeface="Arial"/>
                        <a:buNone/>
                      </a:pPr>
                      <a:r>
                        <a:rPr lang="en-US" sz="800" b="0" i="0" u="none" strike="noStrike" noProof="0" dirty="0">
                          <a:solidFill>
                            <a:schemeClr val="tx1"/>
                          </a:solidFill>
                          <a:effectLst/>
                          <a:latin typeface="Hyundai Sans Text KR"/>
                          <a:ea typeface="Hyundai Sans Text KR"/>
                        </a:rPr>
                        <a:t>  communication (OPC-UA, OPC-UA Companion Specification, </a:t>
                      </a:r>
                    </a:p>
                    <a:p>
                      <a:pPr marL="0" lvl="0" indent="0" algn="l">
                        <a:buFont typeface="Arial"/>
                        <a:buNone/>
                      </a:pPr>
                      <a:r>
                        <a:rPr lang="en-US" sz="800" b="0" i="0" u="none" strike="noStrike" noProof="0" dirty="0">
                          <a:solidFill>
                            <a:schemeClr val="tx1"/>
                          </a:solidFill>
                          <a:effectLst/>
                          <a:latin typeface="Hyundai Sans Text KR"/>
                          <a:ea typeface="Hyundai Sans Text KR"/>
                        </a:rPr>
                        <a:t>  and industrial automation standards);</a:t>
                      </a:r>
                      <a:endParaRPr lang="en-US" sz="800" b="0" i="0" u="none" strike="noStrike" noProof="0" dirty="0">
                        <a:solidFill>
                          <a:srgbClr val="000000"/>
                        </a:solidFill>
                        <a:effectLst/>
                        <a:latin typeface="Hyundai Sans Text KR"/>
                        <a:ea typeface="Hyundai Sans Text KR"/>
                      </a:endParaRPr>
                    </a:p>
                    <a:p>
                      <a:pPr marL="0" lvl="0" indent="0" algn="l">
                        <a:buFont typeface="Arial"/>
                        <a:buChar char="•"/>
                      </a:pPr>
                      <a:r>
                        <a:rPr lang="en-US" sz="800" b="0" i="0" u="none" strike="noStrike" noProof="0" dirty="0">
                          <a:solidFill>
                            <a:schemeClr val="tx1"/>
                          </a:solidFill>
                          <a:effectLst/>
                          <a:latin typeface="Hyundai Sans Text KR"/>
                          <a:ea typeface="Hyundai Sans Text KR"/>
                        </a:rPr>
                        <a:t> Connector and data pipeline to systems /app DB: Production </a:t>
                      </a:r>
                    </a:p>
                    <a:p>
                      <a:pPr marL="0" lvl="0" indent="0" algn="l">
                        <a:buFont typeface="Arial"/>
                        <a:buNone/>
                      </a:pPr>
                      <a:r>
                        <a:rPr lang="en-US" sz="800" b="0" i="0" u="none" strike="noStrike" noProof="0" dirty="0">
                          <a:solidFill>
                            <a:schemeClr val="tx1"/>
                          </a:solidFill>
                          <a:effectLst/>
                          <a:latin typeface="Hyundai Sans Text KR"/>
                          <a:ea typeface="Hyundai Sans Text KR"/>
                        </a:rPr>
                        <a:t>   and SAP.</a:t>
                      </a:r>
                      <a:endParaRPr lang="en-US" sz="800" b="0" i="0" u="none" strike="noStrike" noProof="0" dirty="0">
                        <a:solidFill>
                          <a:srgbClr val="000000"/>
                        </a:solidFill>
                        <a:effectLst/>
                        <a:latin typeface="Hyundai Sans Text KR"/>
                        <a:ea typeface="Hyundai Sans Text KR"/>
                      </a:endParaRPr>
                    </a:p>
                    <a:p>
                      <a:pPr marL="0" lvl="0" indent="0" algn="l">
                        <a:buFont typeface="Arial"/>
                        <a:buChar char="•"/>
                      </a:pPr>
                      <a:r>
                        <a:rPr lang="en-US" sz="800" b="0" i="0" u="none" strike="noStrike" noProof="0" dirty="0">
                          <a:solidFill>
                            <a:schemeClr val="tx1"/>
                          </a:solidFill>
                          <a:effectLst/>
                          <a:latin typeface="Hyundai Sans Text KR"/>
                          <a:ea typeface="Hyundai Sans Text KR"/>
                        </a:rPr>
                        <a:t> Near field camera deployment with visual, video processing </a:t>
                      </a:r>
                    </a:p>
                    <a:p>
                      <a:pPr marL="0" lvl="0" indent="0" algn="l">
                        <a:buFont typeface="Arial"/>
                        <a:buNone/>
                      </a:pPr>
                      <a:r>
                        <a:rPr lang="en-US" sz="800" b="0" i="0" u="none" strike="noStrike" noProof="0" dirty="0">
                          <a:solidFill>
                            <a:schemeClr val="tx1"/>
                          </a:solidFill>
                          <a:effectLst/>
                          <a:latin typeface="Hyundai Sans Text KR"/>
                          <a:ea typeface="Hyundai Sans Text KR"/>
                        </a:rPr>
                        <a:t>  capability </a:t>
                      </a:r>
                      <a:endParaRPr lang="en-US" sz="800" b="0" i="0" u="none" strike="noStrike" noProof="0" dirty="0">
                        <a:solidFill>
                          <a:srgbClr val="000000"/>
                        </a:solidFill>
                        <a:effectLst/>
                        <a:latin typeface="Hyundai Sans Text KR"/>
                        <a:ea typeface="Hyundai Sans Text KR"/>
                      </a:endParaRPr>
                    </a:p>
                    <a:p>
                      <a:pPr marL="0" lvl="0" algn="l">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[Humanoid Remote/Autonomous Network]</a:t>
                      </a:r>
                      <a:endParaRPr lang="en-US" sz="800" b="0" i="0" u="none" strike="noStrike" noProof="0" dirty="0">
                        <a:solidFill>
                          <a:srgbClr val="000000"/>
                        </a:solidFill>
                        <a:effectLst/>
                        <a:latin typeface="Hyundai Sans Text KR"/>
                        <a:ea typeface="Hyundai Sans Text KR"/>
                      </a:endParaRPr>
                    </a:p>
                    <a:p>
                      <a:pPr marL="0" lvl="0" indent="0" algn="l">
                        <a:buFont typeface="Arial"/>
                        <a:buChar char="•"/>
                      </a:pPr>
                      <a:r>
                        <a:rPr lang="en-US" sz="800" b="0" i="0" u="none" strike="noStrike" noProof="0" dirty="0">
                          <a:solidFill>
                            <a:schemeClr val="tx1"/>
                          </a:solidFill>
                          <a:effectLst/>
                          <a:latin typeface="Hyundai Sans Text KR"/>
                          <a:ea typeface="Hyundai Sans Text KR"/>
                        </a:rPr>
                        <a:t> Establishing wired/wireless ultra-high-speed communication </a:t>
                      </a:r>
                    </a:p>
                    <a:p>
                      <a:pPr marL="0" lvl="0" indent="0" algn="l">
                        <a:buFont typeface="Arial"/>
                        <a:buNone/>
                      </a:pPr>
                      <a:r>
                        <a:rPr lang="en-US" sz="800" b="0" i="0" u="none" strike="noStrike" noProof="0" dirty="0">
                          <a:solidFill>
                            <a:schemeClr val="tx1"/>
                          </a:solidFill>
                          <a:effectLst/>
                          <a:latin typeface="Hyundai Sans Text KR"/>
                          <a:ea typeface="Hyundai Sans Text KR"/>
                        </a:rPr>
                        <a:t>   infrastructure for real-time and support Time Sensitive  </a:t>
                      </a:r>
                    </a:p>
                    <a:p>
                      <a:pPr marL="0" lvl="0" indent="0" algn="l">
                        <a:buFont typeface="Arial"/>
                        <a:buNone/>
                      </a:pPr>
                      <a:r>
                        <a:rPr lang="en-US" sz="800" b="0" i="0" u="none" strike="noStrike" noProof="0" dirty="0">
                          <a:solidFill>
                            <a:schemeClr val="tx1"/>
                          </a:solidFill>
                          <a:effectLst/>
                          <a:latin typeface="Hyundai Sans Text KR"/>
                          <a:ea typeface="Hyundai Sans Text KR"/>
                        </a:rPr>
                        <a:t>   Network (TSN).</a:t>
                      </a:r>
                      <a:endParaRPr lang="en-US" sz="800" b="0" i="0" u="none" strike="noStrike" noProof="0" dirty="0">
                        <a:solidFill>
                          <a:srgbClr val="000000"/>
                        </a:solidFill>
                        <a:effectLst/>
                        <a:latin typeface="Hyundai Sans Text KR"/>
                        <a:ea typeface="Hyundai Sans Text KR"/>
                      </a:endParaRPr>
                    </a:p>
                    <a:p>
                      <a:pPr marL="0" lvl="0" indent="0" algn="l">
                        <a:buFont typeface="Arial"/>
                        <a:buChar char="•"/>
                      </a:pPr>
                      <a:r>
                        <a:rPr lang="en-US" sz="800" b="0" i="0" u="none" strike="noStrike" noProof="0" dirty="0">
                          <a:solidFill>
                            <a:schemeClr val="tx1"/>
                          </a:solidFill>
                          <a:effectLst/>
                          <a:latin typeface="Hyundai Sans Text KR"/>
                          <a:ea typeface="Hyundai Sans Text KR"/>
                        </a:rPr>
                        <a:t> TSN PLC ready solutions on the edge to support real-time </a:t>
                      </a:r>
                    </a:p>
                    <a:p>
                      <a:pPr marL="0" lvl="0" indent="0" algn="l">
                        <a:buFont typeface="Arial"/>
                        <a:buNone/>
                      </a:pPr>
                      <a:r>
                        <a:rPr lang="en-US" sz="800" b="0" i="0" u="none" strike="noStrike" noProof="0" dirty="0">
                          <a:solidFill>
                            <a:schemeClr val="tx1"/>
                          </a:solidFill>
                          <a:effectLst/>
                          <a:latin typeface="Hyundai Sans Text KR"/>
                          <a:ea typeface="Hyundai Sans Text KR"/>
                        </a:rPr>
                        <a:t>  high-speed communication between equipment.</a:t>
                      </a:r>
                      <a:endParaRPr lang="en-US" sz="800" b="0" i="0" u="none" strike="noStrike" noProof="0" dirty="0">
                        <a:solidFill>
                          <a:srgbClr val="000000"/>
                        </a:solidFill>
                        <a:effectLst/>
                        <a:latin typeface="Hyundai Sans Text KR"/>
                        <a:ea typeface="Hyundai Sans Text KR"/>
                      </a:endParaRPr>
                    </a:p>
                    <a:p>
                      <a:pPr marL="0" lvl="0" indent="0" algn="l">
                        <a:buFont typeface="Arial"/>
                        <a:buChar char="•"/>
                      </a:pPr>
                      <a:r>
                        <a:rPr lang="en-US" sz="800" b="0" i="0" u="none" strike="noStrike" noProof="0" dirty="0">
                          <a:solidFill>
                            <a:schemeClr val="tx1"/>
                          </a:solidFill>
                          <a:effectLst/>
                          <a:latin typeface="Hyundai Sans Text KR"/>
                          <a:ea typeface="Hyundai Sans Text KR"/>
                        </a:rPr>
                        <a:t> Automatic UNS standardization of new equipment including </a:t>
                      </a:r>
                    </a:p>
                    <a:p>
                      <a:pPr marL="0" lvl="0" indent="0" algn="l">
                        <a:buFont typeface="Arial"/>
                        <a:buNone/>
                      </a:pPr>
                      <a:r>
                        <a:rPr lang="en-US" sz="800" b="0" i="0" u="none" strike="noStrike" noProof="0" dirty="0">
                          <a:solidFill>
                            <a:schemeClr val="tx1"/>
                          </a:solidFill>
                          <a:effectLst/>
                          <a:latin typeface="Hyundai Sans Text KR"/>
                          <a:ea typeface="Hyundai Sans Text KR"/>
                        </a:rPr>
                        <a:t>  industrial Robotics, autonomous guided vehicles and robotics </a:t>
                      </a:r>
                    </a:p>
                    <a:p>
                      <a:pPr marL="0" lvl="0" indent="0" algn="l">
                        <a:buFont typeface="Arial"/>
                        <a:buNone/>
                      </a:pPr>
                      <a:r>
                        <a:rPr lang="en-US" sz="800" b="0" i="0" u="none" strike="noStrike" noProof="0" dirty="0">
                          <a:solidFill>
                            <a:schemeClr val="tx1"/>
                          </a:solidFill>
                          <a:effectLst/>
                          <a:latin typeface="Hyundai Sans Text KR"/>
                          <a:ea typeface="Hyundai Sans Text KR"/>
                        </a:rPr>
                        <a:t>  including Humanoids.</a:t>
                      </a:r>
                      <a:endParaRPr lang="en-US" sz="800" b="0" i="0" u="none" strike="noStrike" noProof="0" dirty="0">
                        <a:solidFill>
                          <a:srgbClr val="000000"/>
                        </a:solidFill>
                        <a:effectLst/>
                        <a:latin typeface="Hyundai Sans Text KR"/>
                        <a:ea typeface="Hyundai Sans Text KR"/>
                      </a:endParaRPr>
                    </a:p>
                  </a:txBody>
                  <a:tcPr marL="36000" marR="0" marT="0" marB="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[Real-time Fault Detection &amp; Visual Context]</a:t>
                      </a:r>
                      <a:r>
                        <a:rPr lang="en-US" sz="800" b="0" i="0" u="none" strike="noStrike" noProof="0" dirty="0">
                          <a:solidFill>
                            <a:srgbClr val="000000"/>
                          </a:solidFill>
                          <a:effectLst/>
                          <a:latin typeface="Hyundai Sans Text KR"/>
                          <a:ea typeface="Hyundai Sans Text KR"/>
                        </a:rPr>
                        <a:t> </a:t>
                      </a:r>
                    </a:p>
                    <a:p>
                      <a:pPr marL="0" lvl="0" indent="0" algn="l">
                        <a:buFont typeface="Arial"/>
                        <a:buChar char="•"/>
                      </a:pPr>
                      <a:r>
                        <a:rPr lang="en-US" sz="800" b="0" i="0" u="none" strike="noStrike" noProof="0" dirty="0">
                          <a:solidFill>
                            <a:schemeClr val="tx1"/>
                          </a:solidFill>
                          <a:effectLst/>
                          <a:latin typeface="Hyundai Sans Text KR"/>
                          <a:ea typeface="Hyundai Sans Text KR"/>
                        </a:rPr>
                        <a:t> Equipment and process including alarm and equipment state </a:t>
                      </a:r>
                    </a:p>
                    <a:p>
                      <a:pPr marL="0" lvl="0" indent="0" algn="l">
                        <a:buFont typeface="Arial"/>
                        <a:buNone/>
                      </a:pPr>
                      <a:r>
                        <a:rPr lang="en-US" sz="800" b="0" i="0" u="none" strike="noStrike" noProof="0" dirty="0">
                          <a:solidFill>
                            <a:schemeClr val="tx1"/>
                          </a:solidFill>
                          <a:effectLst/>
                          <a:latin typeface="Hyundai Sans Text KR"/>
                          <a:ea typeface="Hyundai Sans Text KR"/>
                        </a:rPr>
                        <a:t>   aligns with the Factory process</a:t>
                      </a:r>
                      <a:endParaRPr lang="en-US" sz="800" b="0" i="0" u="none" strike="noStrike" noProof="0" dirty="0">
                        <a:solidFill>
                          <a:srgbClr val="000000"/>
                        </a:solidFill>
                        <a:effectLst/>
                        <a:latin typeface="Hyundai Sans Text KR"/>
                        <a:ea typeface="Hyundai Sans Text KR"/>
                      </a:endParaRPr>
                    </a:p>
                    <a:p>
                      <a:pPr marL="0" lvl="0" indent="0" algn="l">
                        <a:buFont typeface="Arial"/>
                        <a:buChar char="•"/>
                      </a:pPr>
                      <a:r>
                        <a:rPr lang="en-US" sz="800" b="0" i="0" u="none" strike="noStrike" noProof="0" dirty="0">
                          <a:solidFill>
                            <a:schemeClr val="tx1"/>
                          </a:solidFill>
                          <a:effectLst/>
                          <a:latin typeface="Hyundai Sans Text KR"/>
                          <a:ea typeface="Hyundai Sans Text KR"/>
                        </a:rPr>
                        <a:t> Visual, vision, video to assist in fault identification and trouble</a:t>
                      </a:r>
                    </a:p>
                    <a:p>
                      <a:pPr marL="0" lvl="0" indent="0" algn="l">
                        <a:buFont typeface="Arial"/>
                        <a:buNone/>
                      </a:pPr>
                      <a:r>
                        <a:rPr lang="en-US" sz="800" b="0" i="0" u="none" strike="noStrike" noProof="0" dirty="0">
                          <a:solidFill>
                            <a:schemeClr val="tx1"/>
                          </a:solidFill>
                          <a:effectLst/>
                          <a:latin typeface="Hyundai Sans Text KR"/>
                          <a:ea typeface="Hyundai Sans Text KR"/>
                        </a:rPr>
                        <a:t>   shooting </a:t>
                      </a:r>
                      <a:endParaRPr lang="en-US" sz="800" b="0" i="0" u="none" strike="noStrike" noProof="0" dirty="0">
                        <a:solidFill>
                          <a:srgbClr val="000000"/>
                        </a:solidFill>
                        <a:effectLst/>
                        <a:latin typeface="Hyundai Sans Text KR"/>
                        <a:ea typeface="Hyundai Sans Text KR"/>
                      </a:endParaRPr>
                    </a:p>
                    <a:p>
                      <a:pPr marL="0" lvl="0" algn="l">
                        <a:buNone/>
                      </a:pPr>
                      <a:endParaRPr lang="en-US" sz="800" b="0" i="0" u="none" strike="noStrike" noProof="0" dirty="0">
                        <a:solidFill>
                          <a:srgbClr val="000000"/>
                        </a:solidFill>
                        <a:effectLst/>
                        <a:latin typeface="Hyundai Sans Text KR"/>
                        <a:ea typeface="Hyundai Sans Text KR"/>
                      </a:endParaRPr>
                    </a:p>
                    <a:p>
                      <a:pPr marL="0" lvl="0" algn="l">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[Humanoid Remote/Autonomous Network]</a:t>
                      </a:r>
                      <a:endParaRPr lang="en-US" sz="800" b="0" i="0" u="none" strike="noStrike" noProof="0" dirty="0">
                        <a:solidFill>
                          <a:srgbClr val="000000"/>
                        </a:solidFill>
                        <a:effectLst/>
                        <a:latin typeface="Hyundai Sans Text KR"/>
                        <a:ea typeface="Hyundai Sans Text KR"/>
                      </a:endParaRPr>
                    </a:p>
                    <a:p>
                      <a:pPr marL="0" lvl="0" indent="0" algn="l">
                        <a:lnSpc>
                          <a:spcPct val="100000"/>
                        </a:lnSpc>
                        <a:spcBef>
                          <a:spcPts val="0"/>
                        </a:spcBef>
                        <a:spcAft>
                          <a:spcPts val="0"/>
                        </a:spcAft>
                        <a:buFont typeface="Arial"/>
                        <a:buChar char="•"/>
                      </a:pPr>
                      <a:r>
                        <a:rPr lang="en-US" sz="800" b="0" i="0" u="none" strike="noStrike" noProof="0" dirty="0">
                          <a:solidFill>
                            <a:schemeClr val="tx1"/>
                          </a:solidFill>
                          <a:effectLst/>
                          <a:latin typeface="Hyundai Sans Text KR"/>
                          <a:ea typeface="Hyundai Sans Text KR"/>
                        </a:rPr>
                        <a:t> Defined Humanoid maintenance / vision related data that is </a:t>
                      </a:r>
                    </a:p>
                    <a:p>
                      <a:pPr marL="0" lvl="0" indent="0" algn="l">
                        <a:lnSpc>
                          <a:spcPct val="100000"/>
                        </a:lnSpc>
                        <a:spcBef>
                          <a:spcPts val="0"/>
                        </a:spcBef>
                        <a:spcAft>
                          <a:spcPts val="0"/>
                        </a:spcAft>
                        <a:buFont typeface="Arial"/>
                        <a:buNone/>
                      </a:pPr>
                      <a:r>
                        <a:rPr lang="en-US" sz="800" b="0" i="0" u="none" strike="noStrike" noProof="0" dirty="0">
                          <a:solidFill>
                            <a:schemeClr val="tx1"/>
                          </a:solidFill>
                          <a:effectLst/>
                          <a:latin typeface="Hyundai Sans Text KR"/>
                          <a:ea typeface="Hyundai Sans Text KR"/>
                        </a:rPr>
                        <a:t>   required for ultra-high speed real-time requirements.</a:t>
                      </a:r>
                      <a:endParaRPr lang="en-US" sz="800" b="0" i="0" u="none" strike="noStrike" noProof="0" dirty="0">
                        <a:solidFill>
                          <a:srgbClr val="000000"/>
                        </a:solidFill>
                        <a:effectLst/>
                        <a:latin typeface="Hyundai Sans Text KR"/>
                        <a:ea typeface="Hyundai Sans Text KR"/>
                      </a:endParaRPr>
                    </a:p>
                    <a:p>
                      <a:pPr marL="0" lvl="0" indent="0" algn="l">
                        <a:lnSpc>
                          <a:spcPct val="100000"/>
                        </a:lnSpc>
                        <a:spcBef>
                          <a:spcPts val="0"/>
                        </a:spcBef>
                        <a:spcAft>
                          <a:spcPts val="0"/>
                        </a:spcAft>
                        <a:buFont typeface="Arial"/>
                        <a:buChar char="•"/>
                      </a:pPr>
                      <a:r>
                        <a:rPr lang="en-US" sz="800" b="0" i="0" u="none" strike="noStrike" noProof="0" dirty="0">
                          <a:solidFill>
                            <a:schemeClr val="tx1"/>
                          </a:solidFill>
                          <a:effectLst/>
                          <a:latin typeface="Hyundai Sans Text KR"/>
                          <a:ea typeface="Hyundai Sans Text KR"/>
                        </a:rPr>
                        <a:t> Humanoid task-based tool selection for key selected </a:t>
                      </a:r>
                    </a:p>
                    <a:p>
                      <a:pPr marL="0" lvl="0" indent="0" algn="l">
                        <a:lnSpc>
                          <a:spcPct val="100000"/>
                        </a:lnSpc>
                        <a:spcBef>
                          <a:spcPts val="0"/>
                        </a:spcBef>
                        <a:spcAft>
                          <a:spcPts val="0"/>
                        </a:spcAft>
                        <a:buFont typeface="Arial"/>
                        <a:buNone/>
                      </a:pPr>
                      <a:r>
                        <a:rPr lang="en-US" sz="800" b="0" i="0" u="none" strike="noStrike" noProof="0" dirty="0">
                          <a:solidFill>
                            <a:schemeClr val="tx1"/>
                          </a:solidFill>
                          <a:effectLst/>
                          <a:latin typeface="Hyundai Sans Text KR"/>
                          <a:ea typeface="Hyundai Sans Text KR"/>
                        </a:rPr>
                        <a:t>   maintenance tasks</a:t>
                      </a:r>
                      <a:endParaRPr lang="en-US" sz="800" b="0" i="0" u="none" strike="noStrike" noProof="0" dirty="0">
                        <a:solidFill>
                          <a:srgbClr val="000000"/>
                        </a:solidFill>
                        <a:effectLst/>
                        <a:latin typeface="Hyundai Sans Text KR"/>
                        <a:ea typeface="Hyundai Sans Text KR"/>
                      </a:endParaRPr>
                    </a:p>
                    <a:p>
                      <a:pPr lvl="0" algn="l">
                        <a:buNone/>
                      </a:pPr>
                      <a:endParaRPr lang="en-US" sz="800" b="0" dirty="0">
                        <a:effectLst/>
                        <a:latin typeface="Hyundai Sans Text KR"/>
                        <a:ea typeface="Hyundai Sans Text KR"/>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lvl="0" indent="-171450" algn="l">
                        <a:buFont typeface="Arial"/>
                        <a:buChar char="•"/>
                      </a:pPr>
                      <a:r>
                        <a:rPr lang="en-US" sz="800" b="0" i="0" u="none" strike="noStrike" noProof="0" dirty="0">
                          <a:solidFill>
                            <a:schemeClr val="tx1"/>
                          </a:solidFill>
                          <a:effectLst/>
                          <a:latin typeface="Hyundai Sans Text KR"/>
                          <a:ea typeface="Hyundai Sans Text KR"/>
                        </a:rPr>
                        <a:t>Fragmentation of alarm protocols and error  code systems across numerous equipment vendors</a:t>
                      </a:r>
                      <a:endParaRPr lang="en-US" sz="800" b="0" i="0" u="none" strike="noStrike" noProof="0" dirty="0">
                        <a:solidFill>
                          <a:srgbClr val="000000"/>
                        </a:solidFill>
                        <a:effectLst/>
                        <a:latin typeface="Hyundai Sans Text KR"/>
                        <a:ea typeface="Hyundai Sans Text KR"/>
                      </a:endParaRPr>
                    </a:p>
                    <a:p>
                      <a:pPr marL="171450" lvl="0" indent="-171450" algn="l">
                        <a:buFont typeface="Arial"/>
                        <a:buChar char="•"/>
                      </a:pPr>
                      <a:r>
                        <a:rPr lang="en-US" sz="800" b="0" i="0" u="none" strike="noStrike" noProof="0" dirty="0">
                          <a:solidFill>
                            <a:schemeClr val="tx1"/>
                          </a:solidFill>
                          <a:effectLst/>
                          <a:latin typeface="Hyundai Sans Text KR"/>
                          <a:ea typeface="Hyundai Sans Text KR"/>
                        </a:rPr>
                        <a:t>Non-compliance to standards on PLC equipment process, alarm and tag naming standards.</a:t>
                      </a:r>
                      <a:endParaRPr lang="en-US" sz="800" b="0" i="0" u="none" strike="noStrike" noProof="0" dirty="0">
                        <a:solidFill>
                          <a:srgbClr val="000000"/>
                        </a:solidFill>
                        <a:effectLst/>
                        <a:latin typeface="Hyundai Sans Text KR"/>
                        <a:ea typeface="Hyundai Sans Text KR"/>
                      </a:endParaRPr>
                    </a:p>
                    <a:p>
                      <a:pPr marL="171450" lvl="0" indent="-171450" algn="l">
                        <a:buFont typeface="Arial"/>
                        <a:buChar char="•"/>
                      </a:pPr>
                      <a:r>
                        <a:rPr lang="en-US" sz="800" b="0" i="0" u="none" strike="noStrike" noProof="0" dirty="0">
                          <a:solidFill>
                            <a:schemeClr val="tx1"/>
                          </a:solidFill>
                          <a:effectLst/>
                          <a:latin typeface="Hyundai Sans Text KR"/>
                          <a:ea typeface="Hyundai Sans Text KR"/>
                        </a:rPr>
                        <a:t>Non-standard protocols used and vendor unique protocols.</a:t>
                      </a:r>
                      <a:endParaRPr lang="en-US" sz="800" b="0" i="0" u="none" strike="noStrike" noProof="0" dirty="0">
                        <a:solidFill>
                          <a:srgbClr val="000000"/>
                        </a:solidFill>
                        <a:effectLst/>
                        <a:latin typeface="Hyundai Sans Text KR"/>
                        <a:ea typeface="Hyundai Sans Text KR"/>
                      </a:endParaRPr>
                    </a:p>
                    <a:p>
                      <a:pPr marL="171450" lvl="0" indent="-171450" algn="l">
                        <a:buFont typeface="Arial"/>
                        <a:buChar char="•"/>
                      </a:pPr>
                      <a:r>
                        <a:rPr lang="en-US" sz="800" b="0" i="0" u="none" strike="noStrike" noProof="0" dirty="0">
                          <a:solidFill>
                            <a:schemeClr val="tx1"/>
                          </a:solidFill>
                          <a:effectLst/>
                          <a:latin typeface="Hyundai Sans Text KR"/>
                          <a:ea typeface="Hyundai Sans Text KR"/>
                        </a:rPr>
                        <a:t>Vendor locked software code and inability to access equipment alarms, tags and data due to vendor closed system. </a:t>
                      </a:r>
                    </a:p>
                    <a:p>
                      <a:pPr marL="171450" lvl="0" indent="-171450" algn="l">
                        <a:buFont typeface="Arial"/>
                        <a:buChar char="•"/>
                      </a:pPr>
                      <a:r>
                        <a:rPr lang="en-US" sz="800" b="0" i="0" u="none" strike="noStrike" noProof="0" dirty="0">
                          <a:solidFill>
                            <a:schemeClr val="tx1"/>
                          </a:solidFill>
                          <a:effectLst/>
                          <a:latin typeface="Hyundai Sans Text KR"/>
                          <a:ea typeface="Hyundai Sans Text KR"/>
                        </a:rPr>
                        <a:t>Securing network bandwidth to transmit humanoid vision data without latency</a:t>
                      </a: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6956695"/>
                  </a:ext>
                </a:extLst>
              </a:tr>
              <a:tr h="1848787">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sz="800" b="1" dirty="0">
                          <a:effectLst/>
                          <a:latin typeface="Hyundai Sans Text KR"/>
                          <a:ea typeface="Hyundai Sans Text KR"/>
                        </a:rPr>
                        <a:t>[Digitization of Maintenance Knowledge &amp; Manuals]</a:t>
                      </a:r>
                      <a:r>
                        <a:rPr lang="en-US" sz="800" dirty="0">
                          <a:effectLst/>
                          <a:latin typeface="Hyundai Sans Text KR"/>
                          <a:ea typeface="Hyundai Sans Text KR"/>
                        </a:rPr>
                        <a:t> </a:t>
                      </a:r>
                    </a:p>
                    <a:p>
                      <a:pPr algn="l">
                        <a:buNone/>
                      </a:pPr>
                      <a:r>
                        <a:rPr lang="en-US" sz="800" dirty="0">
                          <a:effectLst/>
                          <a:latin typeface="Hyundai Sans Text KR"/>
                          <a:ea typeface="Hyundai Sans Text KR"/>
                        </a:rPr>
                        <a:t>Text mining and integrating tens of thousands of pages of P&amp;ID drawings, maintenance manuals, and historical </a:t>
                      </a:r>
                    </a:p>
                    <a:p>
                      <a:pPr algn="l">
                        <a:buNone/>
                      </a:pPr>
                      <a:r>
                        <a:rPr lang="en-US" sz="800" dirty="0">
                          <a:effectLst/>
                          <a:latin typeface="Hyundai Sans Text KR"/>
                          <a:ea typeface="Hyundai Sans Text KR"/>
                        </a:rPr>
                        <a:t>troubleshooting logs</a:t>
                      </a:r>
                      <a:br>
                        <a:rPr lang="en-US" sz="800" dirty="0">
                          <a:effectLst/>
                          <a:latin typeface="Hyundai Sans Text KR"/>
                          <a:ea typeface="Hyundai Sans Text KR"/>
                        </a:rPr>
                      </a:br>
                      <a:r>
                        <a:rPr lang="en-US" sz="800" b="1" dirty="0">
                          <a:effectLst/>
                          <a:latin typeface="Hyundai Sans Text KR"/>
                          <a:ea typeface="Hyundai Sans Text KR"/>
                        </a:rPr>
                        <a:t>[Fault Context Synchronization]</a:t>
                      </a:r>
                      <a:r>
                        <a:rPr lang="en-US" sz="800" dirty="0">
                          <a:effectLst/>
                          <a:latin typeface="Hyundai Sans Text KR"/>
                          <a:ea typeface="Hyundai Sans Text KR"/>
                        </a:rPr>
                        <a:t> Providing AI with a </a:t>
                      </a:r>
                    </a:p>
                    <a:p>
                      <a:pPr algn="l">
                        <a:buNone/>
                      </a:pPr>
                      <a:r>
                        <a:rPr lang="en-US" sz="800" dirty="0">
                          <a:effectLst/>
                          <a:latin typeface="Hyundai Sans Text KR"/>
                          <a:ea typeface="Hyundai Sans Text KR"/>
                        </a:rPr>
                        <a:t>synchronized timeline combining maintenance manuals and </a:t>
                      </a:r>
                    </a:p>
                    <a:p>
                      <a:pPr algn="l">
                        <a:buNone/>
                      </a:pPr>
                      <a:r>
                        <a:rPr lang="en-US" sz="800" dirty="0">
                          <a:effectLst/>
                          <a:latin typeface="Hyundai Sans Text KR"/>
                          <a:ea typeface="Hyundai Sans Text KR"/>
                        </a:rPr>
                        <a:t>time-series data (temperature, vibration, pressure) at the exact moment of the error code</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buNone/>
                      </a:pPr>
                      <a:r>
                        <a:rPr lang="en-US" sz="800" b="1" i="0" u="none" strike="noStrike" kern="1200" noProof="0">
                          <a:solidFill>
                            <a:srgbClr val="000000"/>
                          </a:solidFill>
                          <a:effectLst/>
                          <a:latin typeface="Hyundai Sans Text KR"/>
                          <a:ea typeface="Hyundai Sans Text KR"/>
                          <a:cs typeface="+mn-cs"/>
                        </a:rPr>
                        <a:t>[Digitization of Maintenance Knowledge &amp; Manuals]</a:t>
                      </a:r>
                      <a:r>
                        <a:rPr lang="en-US" sz="800" b="0" i="0" u="none" strike="noStrike" kern="1200" noProof="0">
                          <a:solidFill>
                            <a:srgbClr val="000000"/>
                          </a:solidFill>
                          <a:effectLst/>
                          <a:latin typeface="Hyundai Sans Text KR"/>
                          <a:ea typeface="Hyundai Sans Text KR"/>
                          <a:cs typeface="+mn-cs"/>
                        </a:rPr>
                        <a:t> </a:t>
                      </a:r>
                    </a:p>
                    <a:p>
                      <a:pPr marL="0" lvl="0" indent="0" algn="l">
                        <a:buFont typeface="Arial"/>
                        <a:buChar char="•"/>
                      </a:pPr>
                      <a:r>
                        <a:rPr lang="en-US" sz="800" b="0" i="0" u="none" strike="noStrike" kern="1200" noProof="0">
                          <a:solidFill>
                            <a:schemeClr val="tx1"/>
                          </a:solidFill>
                          <a:effectLst/>
                          <a:latin typeface="Hyundai Sans Text KR"/>
                          <a:ea typeface="Hyundai Sans Text KR"/>
                          <a:cs typeface="+mn-cs"/>
                        </a:rPr>
                        <a:t> Rapid ingestion of multi-lingual equipment manuals, </a:t>
                      </a:r>
                    </a:p>
                    <a:p>
                      <a:pPr marL="0" lvl="0" indent="0" algn="l">
                        <a:buFont typeface="Arial"/>
                        <a:buNone/>
                      </a:pPr>
                      <a:r>
                        <a:rPr lang="en-US" sz="800" b="0" i="0" u="none" strike="noStrike" kern="1200" noProof="0">
                          <a:solidFill>
                            <a:schemeClr val="tx1"/>
                          </a:solidFill>
                          <a:effectLst/>
                          <a:latin typeface="Hyundai Sans Text KR"/>
                          <a:ea typeface="Hyundai Sans Text KR"/>
                          <a:cs typeface="+mn-cs"/>
                        </a:rPr>
                        <a:t>   breakdown-reports. </a:t>
                      </a:r>
                      <a:endParaRPr lang="en-US" sz="800" b="0" i="0" u="none" strike="noStrike" kern="1200" noProof="0">
                        <a:solidFill>
                          <a:srgbClr val="000000"/>
                        </a:solidFill>
                        <a:effectLst/>
                        <a:latin typeface="Hyundai Sans Text KR"/>
                        <a:ea typeface="Hyundai Sans Text KR"/>
                        <a:cs typeface="+mn-cs"/>
                      </a:endParaRPr>
                    </a:p>
                    <a:p>
                      <a:pPr marL="0" lvl="0" indent="0" algn="l">
                        <a:buFont typeface="Arial"/>
                        <a:buChar char="•"/>
                      </a:pPr>
                      <a:r>
                        <a:rPr lang="en-US" sz="800" b="0" i="0" u="none" strike="noStrike" kern="1200" noProof="0">
                          <a:solidFill>
                            <a:schemeClr val="tx1"/>
                          </a:solidFill>
                          <a:effectLst/>
                          <a:latin typeface="Hyundai Sans Text KR"/>
                          <a:ea typeface="Hyundai Sans Text KR"/>
                          <a:cs typeface="+mn-cs"/>
                        </a:rPr>
                        <a:t> Data ingestion of complex engineering drawings (e.g. EPlan) </a:t>
                      </a:r>
                    </a:p>
                    <a:p>
                      <a:pPr marL="0" lvl="0" indent="0" algn="l">
                        <a:buFont typeface="Arial"/>
                        <a:buNone/>
                      </a:pPr>
                      <a:r>
                        <a:rPr lang="en-US" sz="800" b="0" i="0" u="none" strike="noStrike" kern="1200" noProof="0">
                          <a:solidFill>
                            <a:schemeClr val="tx1"/>
                          </a:solidFill>
                          <a:effectLst/>
                          <a:latin typeface="Hyundai Sans Text KR"/>
                          <a:ea typeface="Hyundai Sans Text KR"/>
                          <a:cs typeface="+mn-cs"/>
                        </a:rPr>
                        <a:t>  including mechanical, electrical and engineering workflow </a:t>
                      </a:r>
                    </a:p>
                    <a:p>
                      <a:pPr marL="0" lvl="0" indent="0" algn="l">
                        <a:buFont typeface="Arial"/>
                        <a:buNone/>
                      </a:pPr>
                      <a:r>
                        <a:rPr lang="en-US" sz="800" b="0" i="0" u="none" strike="noStrike" kern="1200" noProof="0">
                          <a:solidFill>
                            <a:schemeClr val="tx1"/>
                          </a:solidFill>
                          <a:effectLst/>
                          <a:latin typeface="Hyundai Sans Text KR"/>
                          <a:ea typeface="Hyundai Sans Text KR"/>
                          <a:cs typeface="+mn-cs"/>
                        </a:rPr>
                        <a:t>  SoPs. </a:t>
                      </a:r>
                      <a:endParaRPr lang="en-US" sz="800" b="0" i="0" u="none" strike="noStrike" kern="1200" noProof="0">
                        <a:solidFill>
                          <a:srgbClr val="000000"/>
                        </a:solidFill>
                        <a:effectLst/>
                        <a:latin typeface="Hyundai Sans Text KR"/>
                        <a:ea typeface="Hyundai Sans Text KR"/>
                        <a:cs typeface="+mn-cs"/>
                      </a:endParaRPr>
                    </a:p>
                    <a:p>
                      <a:pPr marL="0" lvl="0" indent="0" algn="l">
                        <a:buFont typeface="Arial"/>
                        <a:buChar char="•"/>
                      </a:pPr>
                      <a:r>
                        <a:rPr lang="en-US" sz="800" b="0" i="0" u="none" strike="noStrike" kern="1200" noProof="0">
                          <a:solidFill>
                            <a:schemeClr val="tx1"/>
                          </a:solidFill>
                          <a:effectLst/>
                          <a:latin typeface="Hyundai Sans Text KR"/>
                          <a:ea typeface="Hyundai Sans Text KR"/>
                          <a:cs typeface="+mn-cs"/>
                        </a:rPr>
                        <a:t> Enterprise level Master Data Management and process </a:t>
                      </a:r>
                    </a:p>
                    <a:p>
                      <a:pPr marL="0" lvl="0" indent="0" algn="l">
                        <a:buFont typeface="Arial"/>
                        <a:buNone/>
                      </a:pPr>
                      <a:r>
                        <a:rPr lang="en-US" sz="800" b="0" i="0" u="none" strike="noStrike" kern="1200" noProof="0">
                          <a:solidFill>
                            <a:schemeClr val="tx1"/>
                          </a:solidFill>
                          <a:effectLst/>
                          <a:latin typeface="Hyundai Sans Text KR"/>
                          <a:ea typeface="Hyundai Sans Text KR"/>
                          <a:cs typeface="+mn-cs"/>
                        </a:rPr>
                        <a:t>   standardization across all Supply Chain pillars </a:t>
                      </a:r>
                    </a:p>
                    <a:p>
                      <a:pPr marL="0" lvl="0" indent="0" algn="l">
                        <a:buFont typeface="Arial"/>
                        <a:buNone/>
                      </a:pPr>
                      <a:r>
                        <a:rPr lang="en-US" sz="800" b="0" i="0" u="none" strike="noStrike" kern="1200" noProof="0">
                          <a:solidFill>
                            <a:schemeClr val="tx1"/>
                          </a:solidFill>
                          <a:effectLst/>
                          <a:latin typeface="Hyundai Sans Text KR"/>
                          <a:ea typeface="Hyundai Sans Text KR"/>
                          <a:cs typeface="+mn-cs"/>
                        </a:rPr>
                        <a:t>   (maintenance, production, quality, logistics)</a:t>
                      </a:r>
                      <a:endParaRPr lang="en-US" sz="800" b="0" i="0" u="none" strike="noStrike" kern="1200" noProof="0">
                        <a:solidFill>
                          <a:srgbClr val="000000"/>
                        </a:solidFill>
                        <a:effectLst/>
                        <a:latin typeface="Hyundai Sans Text KR"/>
                        <a:ea typeface="Hyundai Sans Text KR"/>
                        <a:cs typeface="+mn-cs"/>
                      </a:endParaRPr>
                    </a:p>
                    <a:p>
                      <a:pPr marL="0" lvl="0" indent="0" algn="l">
                        <a:buFont typeface="Arial"/>
                        <a:buChar char="•"/>
                      </a:pPr>
                      <a:r>
                        <a:rPr lang="en-US" sz="800" b="0" i="0" u="none" strike="noStrike" kern="1200" noProof="0">
                          <a:solidFill>
                            <a:schemeClr val="tx1"/>
                          </a:solidFill>
                          <a:effectLst/>
                          <a:latin typeface="Hyundai Sans Text KR"/>
                          <a:ea typeface="Hyundai Sans Text KR"/>
                          <a:cs typeface="+mn-cs"/>
                        </a:rPr>
                        <a:t> Data streaming, pipelines and data platform towards data </a:t>
                      </a:r>
                    </a:p>
                    <a:p>
                      <a:pPr marL="0" lvl="0" indent="0" algn="l">
                        <a:buFont typeface="Arial"/>
                        <a:buNone/>
                      </a:pPr>
                      <a:r>
                        <a:rPr lang="en-US" sz="800" b="0" i="0" u="none" strike="noStrike" kern="1200" noProof="0">
                          <a:solidFill>
                            <a:schemeClr val="tx1"/>
                          </a:solidFill>
                          <a:effectLst/>
                          <a:latin typeface="Hyundai Sans Text KR"/>
                          <a:ea typeface="Hyundai Sans Text KR"/>
                          <a:cs typeface="+mn-cs"/>
                        </a:rPr>
                        <a:t>   product creation for advanced use-cases such as analytics </a:t>
                      </a:r>
                    </a:p>
                    <a:p>
                      <a:pPr marL="0" lvl="0" indent="0" algn="l">
                        <a:buFont typeface="Arial"/>
                        <a:buNone/>
                      </a:pPr>
                      <a:r>
                        <a:rPr lang="en-US" sz="800" b="0" i="0" u="none" strike="noStrike" kern="1200" noProof="0">
                          <a:solidFill>
                            <a:schemeClr val="tx1"/>
                          </a:solidFill>
                          <a:effectLst/>
                          <a:latin typeface="Hyundai Sans Text KR"/>
                          <a:ea typeface="Hyundai Sans Text KR"/>
                          <a:cs typeface="+mn-cs"/>
                        </a:rPr>
                        <a:t>   and AI/ML etc). </a:t>
                      </a:r>
                      <a:endParaRPr lang="en-US" sz="800" b="0" i="0" u="none" strike="noStrike" kern="1200" noProof="0">
                        <a:solidFill>
                          <a:srgbClr val="000000"/>
                        </a:solidFill>
                        <a:effectLst/>
                        <a:latin typeface="Hyundai Sans Text KR"/>
                        <a:ea typeface="Hyundai Sans Text KR"/>
                        <a:cs typeface="+mn-cs"/>
                      </a:endParaRPr>
                    </a:p>
                    <a:p>
                      <a:pPr lvl="0" algn="l">
                        <a:buNone/>
                      </a:pPr>
                      <a:r>
                        <a:rPr lang="en-US" sz="800" b="1" i="0" u="none" strike="noStrike" kern="1200" noProof="0">
                          <a:solidFill>
                            <a:srgbClr val="000000"/>
                          </a:solidFill>
                          <a:effectLst/>
                          <a:latin typeface="Hyundai Sans Text KR"/>
                          <a:ea typeface="Hyundai Sans Text KR"/>
                          <a:cs typeface="+mn-cs"/>
                        </a:rPr>
                        <a:t>[Fault Context Synchronization]</a:t>
                      </a:r>
                      <a:endParaRPr lang="en-US" sz="800" b="0" i="0" u="none" strike="noStrike" kern="1200" noProof="0">
                        <a:solidFill>
                          <a:srgbClr val="000000"/>
                        </a:solidFill>
                        <a:effectLst/>
                        <a:latin typeface="Hyundai Sans Text KR"/>
                        <a:ea typeface="Hyundai Sans Text KR"/>
                        <a:cs typeface="+mn-cs"/>
                      </a:endParaRPr>
                    </a:p>
                    <a:p>
                      <a:pPr marL="0" lvl="0" indent="0" algn="l">
                        <a:buFont typeface="Arial"/>
                        <a:buChar char="•"/>
                      </a:pPr>
                      <a:r>
                        <a:rPr lang="en-US" sz="800" b="0" i="0" u="none" strike="noStrike" kern="1200" noProof="0">
                          <a:solidFill>
                            <a:schemeClr val="tx1"/>
                          </a:solidFill>
                          <a:effectLst/>
                          <a:latin typeface="Hyundai Sans Text KR"/>
                          <a:ea typeface="Hyundai Sans Text KR"/>
                          <a:cs typeface="+mn-cs"/>
                        </a:rPr>
                        <a:t> Time stamp data synchronization and real-time agents at </a:t>
                      </a:r>
                    </a:p>
                    <a:p>
                      <a:pPr marL="0" lvl="0" indent="0" algn="l">
                        <a:buFont typeface="Arial"/>
                        <a:buNone/>
                      </a:pPr>
                      <a:r>
                        <a:rPr lang="en-US" sz="800" b="0" i="0" u="none" strike="noStrike" kern="1200" noProof="0">
                          <a:solidFill>
                            <a:schemeClr val="tx1"/>
                          </a:solidFill>
                          <a:effectLst/>
                          <a:latin typeface="Hyundai Sans Text KR"/>
                          <a:ea typeface="Hyundai Sans Text KR"/>
                          <a:cs typeface="+mn-cs"/>
                        </a:rPr>
                        <a:t>  edge to drive real-time root cause analysis and prescriptive </a:t>
                      </a:r>
                    </a:p>
                    <a:p>
                      <a:pPr marL="0" lvl="0" indent="0" algn="l">
                        <a:buFont typeface="Arial"/>
                        <a:buNone/>
                      </a:pPr>
                      <a:r>
                        <a:rPr lang="en-US" sz="800" b="0" i="0" u="none" strike="noStrike" kern="1200" noProof="0">
                          <a:solidFill>
                            <a:schemeClr val="tx1"/>
                          </a:solidFill>
                          <a:effectLst/>
                          <a:latin typeface="Hyundai Sans Text KR"/>
                          <a:ea typeface="Hyundai Sans Text KR"/>
                          <a:cs typeface="+mn-cs"/>
                        </a:rPr>
                        <a:t>  self-learning for maintenance efficiency. </a:t>
                      </a:r>
                      <a:endParaRPr lang="en-US" sz="800" b="0" i="0" u="none" strike="noStrike" kern="1200" noProof="0">
                        <a:solidFill>
                          <a:srgbClr val="000000"/>
                        </a:solidFill>
                        <a:effectLst/>
                        <a:latin typeface="Hyundai Sans Text KR"/>
                        <a:ea typeface="Hyundai Sans Text KR"/>
                        <a:cs typeface="+mn-cs"/>
                      </a:endParaRPr>
                    </a:p>
                  </a:txBody>
                  <a:tcPr marL="36000" marR="0" marT="0" marB="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algn="l">
                        <a:lnSpc>
                          <a:spcPct val="100000"/>
                        </a:lnSpc>
                        <a:spcBef>
                          <a:spcPts val="0"/>
                        </a:spcBef>
                        <a:spcAft>
                          <a:spcPts val="0"/>
                        </a:spcAft>
                        <a:buNone/>
                      </a:pPr>
                      <a:r>
                        <a:rPr lang="en-US" sz="800" b="1" i="0" u="none" strike="noStrike" kern="1200" noProof="0">
                          <a:solidFill>
                            <a:srgbClr val="000000"/>
                          </a:solidFill>
                          <a:effectLst/>
                          <a:latin typeface="Hyundai Sans Text KR"/>
                          <a:ea typeface="Hyundai Sans Text KR"/>
                          <a:cs typeface="+mn-cs"/>
                        </a:rPr>
                        <a:t>[Digitization of Maintenance Knowledge &amp; Manuals] </a:t>
                      </a:r>
                      <a:endParaRPr lang="en-US" sz="800" b="0" i="0" u="none" strike="noStrike" kern="1200" noProof="0">
                        <a:solidFill>
                          <a:srgbClr val="000000"/>
                        </a:solidFill>
                        <a:effectLst/>
                        <a:latin typeface="Hyundai Sans Text KR"/>
                        <a:ea typeface="Hyundai Sans Text KR"/>
                        <a:cs typeface="+mn-cs"/>
                      </a:endParaRPr>
                    </a:p>
                    <a:p>
                      <a:pPr marL="0" lvl="0" indent="0" algn="l">
                        <a:lnSpc>
                          <a:spcPct val="100000"/>
                        </a:lnSpc>
                        <a:spcBef>
                          <a:spcPts val="0"/>
                        </a:spcBef>
                        <a:spcAft>
                          <a:spcPts val="0"/>
                        </a:spcAft>
                        <a:buFont typeface="Arial"/>
                        <a:buChar char="•"/>
                      </a:pPr>
                      <a:r>
                        <a:rPr lang="en-US" sz="800" b="0" i="0" u="none" strike="noStrike" kern="1200" noProof="0">
                          <a:solidFill>
                            <a:schemeClr val="tx1"/>
                          </a:solidFill>
                          <a:effectLst/>
                          <a:latin typeface="Hyundai Sans Text KR"/>
                          <a:ea typeface="Hyundai Sans Text KR"/>
                          <a:cs typeface="+mn-cs"/>
                        </a:rPr>
                        <a:t> Document repository with version control</a:t>
                      </a:r>
                      <a:endParaRPr lang="en-US" sz="800" b="0" i="0" u="none" strike="noStrike" kern="1200" noProof="0">
                        <a:solidFill>
                          <a:srgbClr val="000000"/>
                        </a:solidFill>
                        <a:effectLst/>
                        <a:latin typeface="Hyundai Sans Text KR"/>
                        <a:ea typeface="Hyundai Sans Text KR"/>
                        <a:cs typeface="+mn-cs"/>
                      </a:endParaRPr>
                    </a:p>
                    <a:p>
                      <a:pPr marL="0" lvl="0" indent="0" algn="l">
                        <a:lnSpc>
                          <a:spcPct val="100000"/>
                        </a:lnSpc>
                        <a:spcBef>
                          <a:spcPts val="0"/>
                        </a:spcBef>
                        <a:spcAft>
                          <a:spcPts val="0"/>
                        </a:spcAft>
                        <a:buFont typeface="Arial"/>
                        <a:buChar char="•"/>
                      </a:pPr>
                      <a:r>
                        <a:rPr lang="en-US" sz="800" b="0" i="0" u="none" strike="noStrike" kern="1200" noProof="0">
                          <a:solidFill>
                            <a:schemeClr val="tx1"/>
                          </a:solidFill>
                          <a:effectLst/>
                          <a:latin typeface="Hyundai Sans Text KR"/>
                          <a:ea typeface="Hyundai Sans Text KR"/>
                          <a:cs typeface="+mn-cs"/>
                        </a:rPr>
                        <a:t> Human-constructed SoPs in place aligned to the factory </a:t>
                      </a:r>
                    </a:p>
                    <a:p>
                      <a:pPr marL="0" lvl="0" indent="0" algn="l">
                        <a:lnSpc>
                          <a:spcPct val="100000"/>
                        </a:lnSpc>
                        <a:spcBef>
                          <a:spcPts val="0"/>
                        </a:spcBef>
                        <a:spcAft>
                          <a:spcPts val="0"/>
                        </a:spcAft>
                        <a:buFont typeface="Arial"/>
                        <a:buNone/>
                      </a:pPr>
                      <a:r>
                        <a:rPr lang="en-US" sz="800" b="0" i="0" u="none" strike="noStrike" kern="1200" noProof="0">
                          <a:solidFill>
                            <a:schemeClr val="tx1"/>
                          </a:solidFill>
                          <a:effectLst/>
                          <a:latin typeface="Hyundai Sans Text KR"/>
                          <a:ea typeface="Hyundai Sans Text KR"/>
                          <a:cs typeface="+mn-cs"/>
                        </a:rPr>
                        <a:t>   process, standardized, contextualized and updated.</a:t>
                      </a:r>
                      <a:endParaRPr lang="en-US" sz="800" b="0" i="0" u="none" strike="noStrike" kern="1200" noProof="0">
                        <a:solidFill>
                          <a:srgbClr val="000000"/>
                        </a:solidFill>
                        <a:effectLst/>
                        <a:latin typeface="Hyundai Sans Text KR"/>
                        <a:ea typeface="Hyundai Sans Text KR"/>
                        <a:cs typeface="+mn-cs"/>
                      </a:endParaRPr>
                    </a:p>
                    <a:p>
                      <a:pPr marL="0" lvl="0" algn="l">
                        <a:lnSpc>
                          <a:spcPct val="100000"/>
                        </a:lnSpc>
                        <a:spcBef>
                          <a:spcPts val="0"/>
                        </a:spcBef>
                        <a:spcAft>
                          <a:spcPts val="0"/>
                        </a:spcAft>
                        <a:buNone/>
                      </a:pPr>
                      <a:endParaRPr lang="en-US" sz="800" b="0" i="0" u="none" strike="noStrike" kern="1200" noProof="0">
                        <a:solidFill>
                          <a:srgbClr val="000000"/>
                        </a:solidFill>
                        <a:effectLst/>
                        <a:latin typeface="Hyundai Sans Text KR"/>
                        <a:ea typeface="Hyundai Sans Text KR"/>
                        <a:cs typeface="+mn-cs"/>
                      </a:endParaRPr>
                    </a:p>
                    <a:p>
                      <a:pPr marL="0" lvl="0" algn="l">
                        <a:lnSpc>
                          <a:spcPct val="100000"/>
                        </a:lnSpc>
                        <a:spcBef>
                          <a:spcPts val="0"/>
                        </a:spcBef>
                        <a:spcAft>
                          <a:spcPts val="0"/>
                        </a:spcAft>
                        <a:buNone/>
                      </a:pPr>
                      <a:r>
                        <a:rPr lang="en-US" sz="800" b="1" i="0" u="none" strike="noStrike" kern="1200" noProof="0">
                          <a:solidFill>
                            <a:srgbClr val="000000"/>
                          </a:solidFill>
                          <a:effectLst/>
                          <a:latin typeface="Hyundai Sans Text KR"/>
                          <a:ea typeface="Hyundai Sans Text KR"/>
                          <a:cs typeface="+mn-cs"/>
                        </a:rPr>
                        <a:t>[Fault Context Synchronization]</a:t>
                      </a:r>
                      <a:endParaRPr lang="en-US" sz="800" b="0" i="0" u="none" strike="noStrike" kern="1200" noProof="0">
                        <a:solidFill>
                          <a:srgbClr val="000000"/>
                        </a:solidFill>
                        <a:effectLst/>
                        <a:latin typeface="Hyundai Sans Text KR"/>
                        <a:ea typeface="Hyundai Sans Text KR"/>
                        <a:cs typeface="+mn-cs"/>
                      </a:endParaRPr>
                    </a:p>
                    <a:p>
                      <a:pPr marL="0" lvl="0" indent="0" algn="l">
                        <a:lnSpc>
                          <a:spcPct val="100000"/>
                        </a:lnSpc>
                        <a:spcBef>
                          <a:spcPts val="0"/>
                        </a:spcBef>
                        <a:spcAft>
                          <a:spcPts val="0"/>
                        </a:spcAft>
                        <a:buFont typeface="Arial"/>
                        <a:buChar char="•"/>
                      </a:pPr>
                      <a:r>
                        <a:rPr lang="en-US" sz="800" b="0" i="0" u="none" strike="noStrike" kern="1200" noProof="0">
                          <a:solidFill>
                            <a:schemeClr val="tx1"/>
                          </a:solidFill>
                          <a:effectLst/>
                          <a:latin typeface="Hyundai Sans Text KR"/>
                          <a:ea typeface="Hyundai Sans Text KR"/>
                          <a:cs typeface="+mn-cs"/>
                        </a:rPr>
                        <a:t> Data source is contextualized and seamless connectivity to </a:t>
                      </a:r>
                    </a:p>
                    <a:p>
                      <a:pPr marL="0" lvl="0" indent="0" algn="l">
                        <a:lnSpc>
                          <a:spcPct val="100000"/>
                        </a:lnSpc>
                        <a:spcBef>
                          <a:spcPts val="0"/>
                        </a:spcBef>
                        <a:spcAft>
                          <a:spcPts val="0"/>
                        </a:spcAft>
                        <a:buFont typeface="Arial"/>
                        <a:buNone/>
                      </a:pPr>
                      <a:r>
                        <a:rPr lang="en-US" sz="800" b="0" i="0" u="none" strike="noStrike" kern="1200" noProof="0">
                          <a:solidFill>
                            <a:schemeClr val="tx1"/>
                          </a:solidFill>
                          <a:effectLst/>
                          <a:latin typeface="Hyundai Sans Text KR"/>
                          <a:ea typeface="Hyundai Sans Text KR"/>
                          <a:cs typeface="+mn-cs"/>
                        </a:rPr>
                        <a:t>   IIoT Platform</a:t>
                      </a:r>
                      <a:endParaRPr lang="en-US" sz="800" b="0" i="0" u="none" strike="noStrike" kern="1200" noProof="0">
                        <a:solidFill>
                          <a:srgbClr val="000000"/>
                        </a:solidFill>
                        <a:effectLst/>
                        <a:latin typeface="Hyundai Sans Text KR"/>
                        <a:ea typeface="Hyundai Sans Text KR"/>
                        <a:cs typeface="+mn-cs"/>
                      </a:endParaRPr>
                    </a:p>
                    <a:p>
                      <a:pPr lvl="0" algn="l">
                        <a:buNone/>
                      </a:pPr>
                      <a:endParaRPr lang="en-US" sz="800" b="0" kern="1200">
                        <a:solidFill>
                          <a:schemeClr val="tx1"/>
                        </a:solidFill>
                        <a:effectLst/>
                        <a:latin typeface="Hyundai Sans Text KR"/>
                        <a:ea typeface="Hyundai Sans Text KR"/>
                        <a:cs typeface="+mn-cs"/>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kern="1200">
                        <a:solidFill>
                          <a:schemeClr val="tx1"/>
                        </a:solidFill>
                        <a:effectLst/>
                        <a:latin typeface="Hyundai Sans Text KR"/>
                        <a:ea typeface="Hyundai Sans Text KR"/>
                        <a:cs typeface="+mn-cs"/>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lvl="0" indent="-171450" algn="l">
                        <a:buFont typeface="Arial"/>
                        <a:buChar char="•"/>
                      </a:pPr>
                      <a:r>
                        <a:rPr lang="en-US" sz="800" b="0" i="0" u="none" strike="noStrike" noProof="0" dirty="0">
                          <a:solidFill>
                            <a:schemeClr val="tx1"/>
                          </a:solidFill>
                          <a:effectLst/>
                          <a:latin typeface="Hyundai Sans Text KR"/>
                          <a:ea typeface="Hyundai Sans Text KR"/>
                        </a:rPr>
                        <a:t>Extremely low data quality of past maintenance logs, often written in unstructured text or handwriting by workers</a:t>
                      </a:r>
                      <a:endParaRPr lang="en-US" sz="800" b="0" i="0" u="none" strike="noStrike" noProof="0" dirty="0">
                        <a:solidFill>
                          <a:srgbClr val="000000"/>
                        </a:solidFill>
                        <a:effectLst/>
                        <a:latin typeface="Hyundai Sans Text KR"/>
                        <a:ea typeface="Hyundai Sans Text KR"/>
                      </a:endParaRPr>
                    </a:p>
                    <a:p>
                      <a:pPr marL="171450" lvl="0" indent="-171450" algn="l">
                        <a:buFont typeface="Arial"/>
                        <a:buChar char="•"/>
                      </a:pPr>
                      <a:r>
                        <a:rPr lang="en-US" sz="800" b="0" i="0" u="none" strike="noStrike" noProof="0" dirty="0">
                          <a:solidFill>
                            <a:schemeClr val="tx1"/>
                          </a:solidFill>
                          <a:effectLst/>
                          <a:latin typeface="Hyundai Sans Text KR"/>
                          <a:ea typeface="Hyundai Sans Text KR"/>
                        </a:rPr>
                        <a:t>Unstructured breakdown report and quality of RCA and diagnosis</a:t>
                      </a:r>
                    </a:p>
                    <a:p>
                      <a:pPr marL="171450" lvl="0" indent="-171450" algn="l">
                        <a:buFont typeface="Arial"/>
                        <a:buChar char="•"/>
                      </a:pPr>
                      <a:r>
                        <a:rPr lang="en-US" sz="800" b="0" i="0" u="none" strike="noStrike" noProof="0" dirty="0">
                          <a:solidFill>
                            <a:schemeClr val="tx1"/>
                          </a:solidFill>
                          <a:effectLst/>
                          <a:latin typeface="Hyundai Sans Text KR"/>
                          <a:ea typeface="Hyundai Sans Text KR"/>
                        </a:rPr>
                        <a:t>Different equipment and core systems </a:t>
                      </a:r>
                    </a:p>
                    <a:p>
                      <a:pPr marL="171450" lvl="0" indent="-171450" algn="l">
                        <a:buFont typeface="Arial"/>
                        <a:buChar char="•"/>
                      </a:pPr>
                      <a:r>
                        <a:rPr lang="en-US" sz="800" b="0" i="0" u="none" strike="noStrike" noProof="0" dirty="0">
                          <a:solidFill>
                            <a:schemeClr val="tx1"/>
                          </a:solidFill>
                          <a:effectLst/>
                          <a:latin typeface="Hyundai Sans Text KR"/>
                          <a:ea typeface="Hyundai Sans Text KR"/>
                        </a:rPr>
                        <a:t>Technical difficulty in converting complex drawings and manuals into vector formats understandable by AI</a:t>
                      </a: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333179"/>
                  </a:ext>
                </a:extLst>
              </a:tr>
            </a:tbl>
          </a:graphicData>
        </a:graphic>
      </p:graphicFrame>
    </p:spTree>
    <p:extLst>
      <p:ext uri="{BB962C8B-B14F-4D97-AF65-F5344CB8AC3E}">
        <p14:creationId xmlns:p14="http://schemas.microsoft.com/office/powerpoint/2010/main" val="3940279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0F3B9-1357-855E-6FBD-BE52609ABE93}"/>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6E8B6E9-5407-4FD6-0D07-0C28D5B0EB05}"/>
              </a:ext>
            </a:extLst>
          </p:cNvPr>
          <p:cNvSpPr>
            <a:spLocks noGrp="1"/>
          </p:cNvSpPr>
          <p:nvPr>
            <p:ph type="ctrTitle"/>
          </p:nvPr>
        </p:nvSpPr>
        <p:spPr>
          <a:xfrm>
            <a:off x="273049" y="179388"/>
            <a:ext cx="9366251"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④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troubleshooting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8CE547DC-75E6-7D65-5309-605515C6E8A2}"/>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A175EB01-AB08-30C3-000C-AE14893F4CE3}"/>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E4C58624-E9D1-9FA2-FD53-EA5F5BE56EED}"/>
              </a:ext>
            </a:extLst>
          </p:cNvPr>
          <p:cNvSpPr txBox="1"/>
          <p:nvPr/>
        </p:nvSpPr>
        <p:spPr>
          <a:xfrm>
            <a:off x="338778" y="868462"/>
            <a:ext cx="8724696"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response to trouble shooting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5B62E0FA-FD9A-8D79-2C20-AA8326F644AD}"/>
              </a:ext>
            </a:extLst>
          </p:cNvPr>
          <p:cNvSpPr>
            <a:spLocks noChangeArrowheads="1"/>
          </p:cNvSpPr>
          <p:nvPr/>
        </p:nvSpPr>
        <p:spPr bwMode="auto">
          <a:xfrm>
            <a:off x="541148" y="1119542"/>
            <a:ext cx="938269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Establish an unmanned maintenance system that identifies root causes in real-time upon equipment failure, autonomously executes</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control (PLC) and physical (Humanoid) countermeasures, iteratively retries alternatives until resolved, and self-learns the "Lesson Learned."</a:t>
            </a:r>
          </a:p>
        </p:txBody>
      </p:sp>
      <p:graphicFrame>
        <p:nvGraphicFramePr>
          <p:cNvPr id="11" name="표 10">
            <a:extLst>
              <a:ext uri="{FF2B5EF4-FFF2-40B4-BE49-F238E27FC236}">
                <a16:creationId xmlns:a16="http://schemas.microsoft.com/office/drawing/2014/main" id="{6D1055BC-F0DD-291E-2C9A-1804F70A0F3F}"/>
              </a:ext>
            </a:extLst>
          </p:cNvPr>
          <p:cNvGraphicFramePr>
            <a:graphicFrameLocks noGrp="1"/>
          </p:cNvGraphicFramePr>
          <p:nvPr/>
        </p:nvGraphicFramePr>
        <p:xfrm>
          <a:off x="355727" y="1597982"/>
          <a:ext cx="12160119" cy="4383717"/>
        </p:xfrm>
        <a:graphic>
          <a:graphicData uri="http://schemas.openxmlformats.org/drawingml/2006/table">
            <a:tbl>
              <a:tblPr/>
              <a:tblGrid>
                <a:gridCol w="761214">
                  <a:extLst>
                    <a:ext uri="{9D8B030D-6E8A-4147-A177-3AD203B41FA5}">
                      <a16:colId xmlns:a16="http://schemas.microsoft.com/office/drawing/2014/main" val="3515855418"/>
                    </a:ext>
                  </a:extLst>
                </a:gridCol>
                <a:gridCol w="2901110">
                  <a:extLst>
                    <a:ext uri="{9D8B030D-6E8A-4147-A177-3AD203B41FA5}">
                      <a16:colId xmlns:a16="http://schemas.microsoft.com/office/drawing/2014/main" val="2891931337"/>
                    </a:ext>
                  </a:extLst>
                </a:gridCol>
                <a:gridCol w="2901110">
                  <a:extLst>
                    <a:ext uri="{9D8B030D-6E8A-4147-A177-3AD203B41FA5}">
                      <a16:colId xmlns:a16="http://schemas.microsoft.com/office/drawing/2014/main" val="3002806275"/>
                    </a:ext>
                  </a:extLst>
                </a:gridCol>
                <a:gridCol w="2901110">
                  <a:extLst>
                    <a:ext uri="{9D8B030D-6E8A-4147-A177-3AD203B41FA5}">
                      <a16:colId xmlns:a16="http://schemas.microsoft.com/office/drawing/2014/main" val="826399169"/>
                    </a:ext>
                  </a:extLst>
                </a:gridCol>
                <a:gridCol w="171450">
                  <a:extLst>
                    <a:ext uri="{9D8B030D-6E8A-4147-A177-3AD203B41FA5}">
                      <a16:colId xmlns:a16="http://schemas.microsoft.com/office/drawing/2014/main" val="2796269444"/>
                    </a:ext>
                  </a:extLst>
                </a:gridCol>
                <a:gridCol w="2524125">
                  <a:extLst>
                    <a:ext uri="{9D8B030D-6E8A-4147-A177-3AD203B41FA5}">
                      <a16:colId xmlns:a16="http://schemas.microsoft.com/office/drawing/2014/main" val="3458429665"/>
                    </a:ext>
                  </a:extLst>
                </a:gridCol>
              </a:tblGrid>
              <a:tr h="172261">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sz="900" b="1" i="0" kern="120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en-US" altLang="ko-KR" sz="900" b="1" i="0" kern="1200">
                          <a:solidFill>
                            <a:schemeClr val="tx1"/>
                          </a:solidFill>
                          <a:effectLst/>
                          <a:latin typeface="현대산스 Text"/>
                          <a:ea typeface="현대산스 Text" panose="020B0600000101010101" pitchFamily="50" charset="-127"/>
                          <a:cs typeface="+mn-cs"/>
                        </a:rPr>
                        <a:t>Development</a:t>
                      </a:r>
                      <a:r>
                        <a:rPr lang="ko-KR" altLang="en-US" sz="900" b="1" i="0" kern="1200">
                          <a:solidFill>
                            <a:schemeClr val="tx1"/>
                          </a:solidFill>
                          <a:effectLst/>
                          <a:latin typeface="현대산스 Text"/>
                          <a:ea typeface="현대산스 Text" panose="020B0600000101010101" pitchFamily="50" charset="-127"/>
                          <a:cs typeface="+mn-cs"/>
                        </a:rPr>
                        <a:t> </a:t>
                      </a:r>
                      <a:r>
                        <a:rPr lang="en-US" sz="900" b="1" i="0" kern="1200">
                          <a:solidFill>
                            <a:schemeClr val="tx1"/>
                          </a:solidFill>
                          <a:effectLst/>
                          <a:latin typeface="현대산스 Text"/>
                          <a:ea typeface="현대산스 Text" panose="020B0600000101010101" pitchFamily="50" charset="-127"/>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901948">
                <a:tc>
                  <a:txBody>
                    <a:bodyPr/>
                    <a:lstStyle/>
                    <a:p>
                      <a:pPr lvl="0"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a:cs typeface="+mn-cs"/>
                        </a:rPr>
                        <a:t>Decision</a:t>
                      </a:r>
                    </a:p>
                  </a:txBody>
                  <a:tcPr marL="0" marR="0" marT="0" marB="0" anchor="ctr">
                    <a:lnL w="6350">
                      <a:solidFill>
                        <a:srgbClr val="CCCCCC"/>
                      </a:solidFill>
                    </a:lnL>
                    <a:lnR w="12700">
                      <a:solidFill>
                        <a:schemeClr val="tx1"/>
                      </a:solidFill>
                    </a:lnR>
                    <a:lnT w="6350">
                      <a:solidFill>
                        <a:srgbClr val="CCCCCC"/>
                      </a:solidFill>
                    </a:lnT>
                    <a:lnB w="6350">
                      <a:solidFill>
                        <a:srgbClr val="CCCCCC"/>
                      </a:solidFill>
                    </a:lnB>
                    <a:solidFill>
                      <a:srgbClr val="F2F7FC"/>
                    </a:solidFill>
                  </a:tcPr>
                </a:tc>
                <a:tc>
                  <a:txBody>
                    <a:bodyPr/>
                    <a:lstStyle/>
                    <a:p>
                      <a:pPr lvl="0" algn="l">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[Root Cause Analysis (RCA)]</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Knowledge Graph-based fault </a:t>
                      </a:r>
                    </a:p>
                    <a:p>
                      <a:pPr lvl="0" algn="l">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cause diagnosis and prediction by synthesizing error codes, </a:t>
                      </a:r>
                    </a:p>
                    <a:p>
                      <a:pPr lvl="0" algn="l">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equipment-generated data, and vision images (e.g., accurately </a:t>
                      </a:r>
                    </a:p>
                    <a:p>
                      <a:pPr lvl="0" algn="l">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diagnosing PLC/Robot logic errors, sensor false detections, </a:t>
                      </a:r>
                    </a:p>
                    <a:p>
                      <a:pPr lvl="0" algn="l">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failures, and mechanical jamming)</a:t>
                      </a:r>
                      <a:b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b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[Multi-modal Countermeasure Generation &amp; Iterative Logic]</a:t>
                      </a:r>
                      <a:b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b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① 1st Action: Proposing improvement logic and automatic </a:t>
                      </a:r>
                    </a:p>
                    <a:p>
                      <a:pPr lvl="0" algn="l">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correction for faulty programs</a:t>
                      </a:r>
                    </a:p>
                    <a:p>
                      <a:pPr lvl="0" algn="l">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② 2nd Action (1st fail): Dispatch humanoid to remove jammed part (H/W action)</a:t>
                      </a:r>
                      <a:b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b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[Safety &amp; Interference Validation] Pre-verifying power lockout </a:t>
                      </a:r>
                    </a:p>
                    <a:p>
                      <a:pPr lvl="0" algn="l">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(LOTO) and collision risks with other equipment using a rule </a:t>
                      </a:r>
                    </a:p>
                    <a:p>
                      <a:pPr lvl="0" algn="l">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engine and digital twin before humanoid deployment</a:t>
                      </a:r>
                    </a:p>
                  </a:txBody>
                  <a:tcPr marL="36000" marR="0" marT="0" marB="0">
                    <a:lnL w="12700">
                      <a:solidFill>
                        <a:schemeClr val="tx1"/>
                      </a:solidFill>
                    </a:lnL>
                    <a:lnR w="12700">
                      <a:solidFill>
                        <a:schemeClr val="tx1"/>
                      </a:solidFill>
                    </a:lnR>
                    <a:lnT w="6350">
                      <a:solidFill>
                        <a:srgbClr val="CCCCCC"/>
                      </a:solidFill>
                    </a:lnT>
                    <a:lnB w="6350">
                      <a:solidFill>
                        <a:srgbClr val="CCCCCC"/>
                      </a:solidFill>
                    </a:lnB>
                    <a:noFill/>
                  </a:tcPr>
                </a:tc>
                <a:tc>
                  <a:txBody>
                    <a:bodyPr/>
                    <a:lstStyle/>
                    <a:p>
                      <a:pPr marL="0" lvl="0" algn="l">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[Root Cause Analysis (RCA)] </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Knowledge Graph: Mapping Symptom ➔ Cause ➔  Action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SG"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Generative AI (RAG), Agentic AI</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a:buNone/>
                      </a:pP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algn="l">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[Multi-modal Countermeasure Generation &amp; Iterative Logic]</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Knowledge graph and LLM for PLC programs</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SG"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Digital Twin action-to-effect prediction before execution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a:buNone/>
                      </a:pP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algn="l">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[Safety &amp; Interference Validation]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Digital Twin collision and interference simulation</a:t>
                      </a: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Virtual PLC sandbox for pre-execution verification</a:t>
                      </a:r>
                    </a:p>
                  </a:txBody>
                  <a:tcPr marL="36000" marR="0" marT="0" marB="0">
                    <a:lnL w="12700">
                      <a:solidFill>
                        <a:schemeClr val="tx1"/>
                      </a:solidFill>
                    </a:lnL>
                    <a:lnR w="6350">
                      <a:solidFill>
                        <a:schemeClr val="bg1">
                          <a:lumMod val="75000"/>
                        </a:schemeClr>
                      </a:solidFill>
                    </a:lnR>
                    <a:lnT w="6350">
                      <a:solidFill>
                        <a:srgbClr val="CCCCCC"/>
                      </a:solidFill>
                    </a:lnT>
                    <a:lnB w="6350">
                      <a:solidFill>
                        <a:srgbClr val="CCCCCC"/>
                      </a:solidFill>
                    </a:lnB>
                    <a:noFill/>
                  </a:tcPr>
                </a:tc>
                <a:tc>
                  <a:txBody>
                    <a:bodyPr/>
                    <a:lstStyle/>
                    <a:p>
                      <a:pPr lvl="0" algn="l">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[Root Cause Analysis (RCA)]</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a:t>
                      </a:r>
                    </a:p>
                    <a:p>
                      <a:pPr marL="0" marR="0" lvl="0" indent="0" algn="l">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Standardized fault-code master across equipment vendors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SAP PM breakdown history restructured for RCA consumption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Diagnostic result UI with evidence presentation for PIC</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a:lnSpc>
                          <a:spcPct val="100000"/>
                        </a:lnSpc>
                        <a:spcBef>
                          <a:spcPts val="0"/>
                        </a:spcBef>
                        <a:spcAft>
                          <a:spcPts val="0"/>
                        </a:spcAft>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[Multi-modal Countermeasure Generation &amp; Iterative Logic]</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HITL approval workflow and authority matrix</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PLC change control: version, approval, rollback, audit log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Auto work-order issuance and parts reservation to SAP</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a:lnSpc>
                          <a:spcPct val="100000"/>
                        </a:lnSpc>
                        <a:spcBef>
                          <a:spcPts val="0"/>
                        </a:spcBef>
                        <a:spcAft>
                          <a:spcPts val="0"/>
                        </a:spcAft>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[Safety &amp; Interference Validation]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Digitized LOTO permit integrated with EHS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Safety zone and access control </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txBody>
                  <a:tcPr marL="36000" marR="0" marT="0" marB="0">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l">
                        <a:buNone/>
                      </a:pPr>
                      <a:endParaRPr lang="en-US" sz="800" b="0">
                        <a:effectLst/>
                        <a:latin typeface="Hyundai Sans Text KR"/>
                        <a:ea typeface="Hyundai Sans Text KR"/>
                      </a:endParaRPr>
                    </a:p>
                  </a:txBody>
                  <a:tcPr marL="36000" marR="0" marT="0" marB="0">
                    <a:lnL w="6350">
                      <a:solidFill>
                        <a:schemeClr val="bg1">
                          <a:lumMod val="75000"/>
                        </a:schemeClr>
                      </a:solidFill>
                    </a:lnL>
                    <a:lnR w="6350">
                      <a:solidFill>
                        <a:schemeClr val="bg1">
                          <a:lumMod val="75000"/>
                        </a:schemeClr>
                      </a:solidFill>
                    </a:lnR>
                    <a:lnT w="0">
                      <a:noFill/>
                    </a:lnT>
                    <a:lnB w="0">
                      <a:noFill/>
                    </a:lnB>
                    <a:noFill/>
                  </a:tcPr>
                </a:tc>
                <a:tc>
                  <a:txBody>
                    <a:bodyPr/>
                    <a:lstStyle/>
                    <a:p>
                      <a:pPr lvl="0" algn="l">
                        <a:buNone/>
                      </a:pPr>
                      <a:r>
                        <a:rPr lang="en-US" sz="800" b="0" i="0" u="none" strike="noStrike" noProof="0">
                          <a:solidFill>
                            <a:srgbClr val="000000"/>
                          </a:solidFill>
                          <a:effectLst/>
                          <a:latin typeface="Hyundai Sans Text KR"/>
                          <a:ea typeface="Hyundai Sans Text KR"/>
                        </a:rPr>
                        <a:t>• Controlling Hallucination where Generative AI </a:t>
                      </a:r>
                    </a:p>
                    <a:p>
                      <a:pPr lvl="0" algn="l">
                        <a:buNone/>
                      </a:pPr>
                      <a:r>
                        <a:rPr lang="en-US" sz="800" b="0" i="0" u="none" strike="noStrike" noProof="0">
                          <a:solidFill>
                            <a:srgbClr val="000000"/>
                          </a:solidFill>
                          <a:effectLst/>
                          <a:latin typeface="Hyundai Sans Text KR"/>
                          <a:ea typeface="Hyundai Sans Text KR"/>
                        </a:rPr>
                        <a:t>misinterprets manuals and issues incorrect re</a:t>
                      </a:r>
                    </a:p>
                    <a:p>
                      <a:pPr lvl="0" algn="l">
                        <a:buNone/>
                      </a:pPr>
                      <a:r>
                        <a:rPr lang="en-US" sz="800" b="0" i="0" u="none" strike="noStrike" noProof="0">
                          <a:solidFill>
                            <a:srgbClr val="000000"/>
                          </a:solidFill>
                          <a:effectLst/>
                          <a:latin typeface="Hyundai Sans Text KR"/>
                          <a:ea typeface="Hyundai Sans Text KR"/>
                        </a:rPr>
                        <a:t>pair instructions</a:t>
                      </a:r>
                      <a:br>
                        <a:rPr lang="en-US" sz="800" b="0" i="0" u="none" strike="noStrike" noProof="0">
                          <a:solidFill>
                            <a:srgbClr val="000000"/>
                          </a:solidFill>
                          <a:effectLst/>
                          <a:latin typeface="Hyundai Sans Text KR"/>
                          <a:ea typeface="Hyundai Sans Text KR"/>
                        </a:rPr>
                      </a:br>
                      <a:r>
                        <a:rPr lang="en-US" sz="800" b="0" i="0" u="none" strike="noStrike" noProof="0">
                          <a:solidFill>
                            <a:srgbClr val="000000"/>
                          </a:solidFill>
                          <a:effectLst/>
                          <a:latin typeface="Hyundai Sans Text KR"/>
                          <a:ea typeface="Hyundai Sans Text KR"/>
                        </a:rPr>
                        <a:t>• Complexity of the Dynamic Decision Tree </a:t>
                      </a:r>
                    </a:p>
                    <a:p>
                      <a:pPr lvl="0" algn="l">
                        <a:buNone/>
                      </a:pPr>
                      <a:r>
                        <a:rPr lang="en-US" sz="800" b="0" i="0" u="none" strike="noStrike" noProof="0">
                          <a:solidFill>
                            <a:srgbClr val="000000"/>
                          </a:solidFill>
                          <a:effectLst/>
                          <a:latin typeface="Hyundai Sans Text KR"/>
                          <a:ea typeface="Hyundai Sans Text KR"/>
                        </a:rPr>
                        <a:t>required to roll back to the previous state and </a:t>
                      </a:r>
                    </a:p>
                    <a:p>
                      <a:pPr lvl="0" algn="l">
                        <a:buNone/>
                      </a:pPr>
                      <a:r>
                        <a:rPr lang="en-US" sz="800" b="0" i="0" u="none" strike="noStrike" noProof="0">
                          <a:solidFill>
                            <a:srgbClr val="000000"/>
                          </a:solidFill>
                          <a:effectLst/>
                          <a:latin typeface="Hyundai Sans Text KR"/>
                          <a:ea typeface="Hyundai Sans Text KR"/>
                        </a:rPr>
                        <a:t>find new alternatives if an action fails</a:t>
                      </a:r>
                    </a:p>
                    <a:p>
                      <a:pPr lvl="0" algn="l">
                        <a:buNone/>
                      </a:pPr>
                      <a:endParaRPr lang="en-US" sz="800" b="0">
                        <a:effectLst/>
                        <a:latin typeface="Hyundai Sans Text KR"/>
                        <a:ea typeface="Hyundai Sans Text KR"/>
                      </a:endParaRPr>
                    </a:p>
                  </a:txBody>
                  <a:tcPr marL="36000" marR="0" marT="0" marB="0">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2809961013"/>
                  </a:ext>
                </a:extLst>
              </a:tr>
              <a:tr h="1086827">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sz="800" b="1" dirty="0">
                          <a:effectLst/>
                          <a:latin typeface="Hyundai Sans Text KR" panose="020B0600000101010101" pitchFamily="34" charset="-127"/>
                          <a:ea typeface="Hyundai Sans Text KR" panose="020B0600000101010101" pitchFamily="34" charset="-127"/>
                        </a:rPr>
                        <a:t>[S/W Autonomous Control Action]</a:t>
                      </a:r>
                      <a:r>
                        <a:rPr lang="en-US" sz="800" dirty="0">
                          <a:effectLst/>
                          <a:latin typeface="Hyundai Sans Text KR" panose="020B0600000101010101" pitchFamily="34" charset="-127"/>
                          <a:ea typeface="Hyundai Sans Text KR" panose="020B0600000101010101" pitchFamily="34" charset="-127"/>
                        </a:rPr>
                        <a:t> Resolving logic errors and </a:t>
                      </a:r>
                    </a:p>
                    <a:p>
                      <a:pPr algn="l">
                        <a:buNone/>
                      </a:pPr>
                      <a:r>
                        <a:rPr lang="en-US" sz="800" dirty="0">
                          <a:effectLst/>
                          <a:latin typeface="Hyundai Sans Text KR" panose="020B0600000101010101" pitchFamily="34" charset="-127"/>
                          <a:ea typeface="Hyundai Sans Text KR" panose="020B0600000101010101" pitchFamily="34" charset="-127"/>
                        </a:rPr>
                        <a:t>Autonomously changing process conditions by transmitting </a:t>
                      </a:r>
                    </a:p>
                    <a:p>
                      <a:pPr algn="l">
                        <a:buNone/>
                      </a:pPr>
                      <a:r>
                        <a:rPr lang="en-US" sz="800" dirty="0">
                          <a:effectLst/>
                          <a:latin typeface="Hyundai Sans Text KR" panose="020B0600000101010101" pitchFamily="34" charset="-127"/>
                          <a:ea typeface="Hyundai Sans Text KR" panose="020B0600000101010101" pitchFamily="34" charset="-127"/>
                        </a:rPr>
                        <a:t>direct reset commands or parameter and recipe updates to the equipment PLC through IoT platforms and edge controllers</a:t>
                      </a:r>
                    </a:p>
                    <a:p>
                      <a:pPr algn="l">
                        <a:buNone/>
                      </a:pPr>
                      <a:r>
                        <a:rPr lang="en-US" sz="800" b="1" dirty="0">
                          <a:effectLst/>
                          <a:latin typeface="Hyundai Sans Text KR" panose="020B0600000101010101" pitchFamily="34" charset="-127"/>
                          <a:ea typeface="Hyundai Sans Text KR" panose="020B0600000101010101" pitchFamily="34" charset="-127"/>
                        </a:rPr>
                        <a:t>[H/W Physical Autonomous Action]</a:t>
                      </a:r>
                      <a:r>
                        <a:rPr lang="en-US" sz="800" dirty="0">
                          <a:effectLst/>
                          <a:latin typeface="Hyundai Sans Text KR" panose="020B0600000101010101" pitchFamily="34" charset="-127"/>
                          <a:ea typeface="Hyundai Sans Text KR" panose="020B0600000101010101" pitchFamily="34" charset="-127"/>
                        </a:rPr>
                        <a:t> Performing physical </a:t>
                      </a:r>
                    </a:p>
                    <a:p>
                      <a:pPr algn="l">
                        <a:buNone/>
                      </a:pPr>
                      <a:r>
                        <a:rPr lang="en-US" sz="800" dirty="0">
                          <a:effectLst/>
                          <a:latin typeface="Hyundai Sans Text KR" panose="020B0600000101010101" pitchFamily="34" charset="-127"/>
                          <a:ea typeface="Hyundai Sans Text KR" panose="020B0600000101010101" pitchFamily="34" charset="-127"/>
                        </a:rPr>
                        <a:t>maintenance, such as moving a humanoid robot to the site to </a:t>
                      </a:r>
                    </a:p>
                    <a:p>
                      <a:pPr algn="l">
                        <a:buNone/>
                      </a:pPr>
                      <a:r>
                        <a:rPr lang="en-US" sz="800" dirty="0">
                          <a:effectLst/>
                          <a:latin typeface="Hyundai Sans Text KR" panose="020B0600000101010101" pitchFamily="34" charset="-127"/>
                          <a:ea typeface="Hyundai Sans Text KR" panose="020B0600000101010101" pitchFamily="34" charset="-127"/>
                        </a:rPr>
                        <a:t>clear jams and replace faulty parts during component jamming or failure troubleshooting"</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[H/W Physical Autonomous Action]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Virtual PLC and edge computing</a:t>
                      </a:r>
                      <a:br>
                        <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br>
                      <a:br>
                        <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b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marR="0" lvl="0" indent="0" algn="l">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[H/W Physical Autonomous Action]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a:buClr>
                          <a:srgbClr val="000000"/>
                        </a:buClr>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Near field GPU processing with high computation power</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a:buNone/>
                      </a:pPr>
                      <a:endParaRPr lang="en-US" sz="8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[S/W Autonomous Control Action]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Core system orchestration to drive closed loop control action   </a:t>
                      </a:r>
                    </a:p>
                    <a:p>
                      <a:pPr marL="0" lvl="0" indent="0" algn="l">
                        <a:buFont typeface="Aria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between IoT and PLC. </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[H/W Physical Autonomous Action]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Autonomous task-based Force &amp; Torque Compliance Control</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Task coordinated vision guided manipulation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sz="800" b="0">
                          <a:effectLst/>
                          <a:latin typeface="Hyundai Sans Text KR"/>
                          <a:ea typeface="Hyundai Sans Text KR"/>
                        </a:rPr>
                        <a:t>• Extreme difficulty in humanoid manipulation </a:t>
                      </a:r>
                    </a:p>
                    <a:p>
                      <a:pPr algn="l">
                        <a:buNone/>
                      </a:pPr>
                      <a:r>
                        <a:rPr lang="en-US" sz="800" b="0">
                          <a:effectLst/>
                          <a:latin typeface="Hyundai Sans Text KR"/>
                          <a:ea typeface="Hyundai Sans Text KR"/>
                        </a:rPr>
                        <a:t>   requiring unstructured and delicate force, </a:t>
                      </a:r>
                    </a:p>
                    <a:p>
                      <a:pPr algn="l">
                        <a:buNone/>
                      </a:pPr>
                      <a:r>
                        <a:rPr lang="en-US" sz="800" b="0">
                          <a:effectLst/>
                          <a:latin typeface="Hyundai Sans Text KR"/>
                          <a:ea typeface="Hyundai Sans Text KR"/>
                        </a:rPr>
                        <a:t>   such as extracting tightly jammed parts or </a:t>
                      </a:r>
                    </a:p>
                    <a:p>
                      <a:pPr algn="l">
                        <a:buNone/>
                      </a:pPr>
                      <a:r>
                        <a:rPr lang="en-US" sz="800" b="0">
                          <a:effectLst/>
                          <a:latin typeface="Hyundai Sans Text KR"/>
                          <a:ea typeface="Hyundai Sans Text KR"/>
                        </a:rPr>
                        <a:t>   connecting fine wires</a:t>
                      </a: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8653458"/>
                  </a:ext>
                </a:extLst>
              </a:tr>
              <a:tr h="1222681">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sz="800" b="1" dirty="0">
                          <a:effectLst/>
                          <a:latin typeface="Hyundai Sans Text KR" panose="020B0600000101010101" pitchFamily="34" charset="-127"/>
                          <a:ea typeface="Hyundai Sans Text KR" panose="020B0600000101010101" pitchFamily="34" charset="-127"/>
                        </a:rPr>
                        <a:t>[Autonomous Lesson Learned Generation]</a:t>
                      </a:r>
                      <a:r>
                        <a:rPr lang="en-US" sz="800" dirty="0">
                          <a:effectLst/>
                          <a:latin typeface="Hyundai Sans Text KR" panose="020B0600000101010101" pitchFamily="34" charset="-127"/>
                          <a:ea typeface="Hyundai Sans Text KR" panose="020B0600000101010101" pitchFamily="34" charset="-127"/>
                        </a:rPr>
                        <a:t> Upon successful </a:t>
                      </a:r>
                    </a:p>
                    <a:p>
                      <a:pPr algn="l">
                        <a:buNone/>
                      </a:pPr>
                      <a:r>
                        <a:rPr lang="en-US" sz="800" dirty="0">
                          <a:effectLst/>
                          <a:latin typeface="Hyundai Sans Text KR" panose="020B0600000101010101" pitchFamily="34" charset="-127"/>
                          <a:ea typeface="Hyundai Sans Text KR" panose="020B0600000101010101" pitchFamily="34" charset="-127"/>
                        </a:rPr>
                        <a:t>troubleshooting, automatically updating the Knowledge Graph with a new node detailing "which action was effective for which symptom"</a:t>
                      </a:r>
                      <a:br>
                        <a:rPr lang="en-US" sz="800" dirty="0">
                          <a:effectLst/>
                          <a:latin typeface="Hyundai Sans Text KR" panose="020B0600000101010101" pitchFamily="34" charset="-127"/>
                          <a:ea typeface="Hyundai Sans Text KR" panose="020B0600000101010101" pitchFamily="34" charset="-127"/>
                        </a:rPr>
                      </a:br>
                      <a:r>
                        <a:rPr lang="en-US" sz="800" b="1" dirty="0">
                          <a:effectLst/>
                          <a:latin typeface="Hyundai Sans Text KR" panose="020B0600000101010101" pitchFamily="34" charset="-127"/>
                          <a:ea typeface="Hyundai Sans Text KR" panose="020B0600000101010101" pitchFamily="34" charset="-127"/>
                        </a:rPr>
                        <a:t>[Humanoid Skill Reinforcement Learning]</a:t>
                      </a:r>
                      <a:r>
                        <a:rPr lang="en-US" sz="800" dirty="0">
                          <a:effectLst/>
                          <a:latin typeface="Hyundai Sans Text KR" panose="020B0600000101010101" pitchFamily="34" charset="-127"/>
                          <a:ea typeface="Hyundai Sans Text KR" panose="020B0600000101010101" pitchFamily="34" charset="-127"/>
                        </a:rPr>
                        <a:t> If a humanoid </a:t>
                      </a:r>
                    </a:p>
                    <a:p>
                      <a:pPr algn="l">
                        <a:buNone/>
                      </a:pPr>
                      <a:r>
                        <a:rPr lang="en-US" sz="800" dirty="0">
                          <a:effectLst/>
                          <a:latin typeface="Hyundai Sans Text KR" panose="020B0600000101010101" pitchFamily="34" charset="-127"/>
                          <a:ea typeface="Hyundai Sans Text KR" panose="020B0600000101010101" pitchFamily="34" charset="-127"/>
                        </a:rPr>
                        <a:t>succeeds after multiple failed attempts to extract a part, the AI uses reinforcement learning on that successful force and </a:t>
                      </a:r>
                    </a:p>
                    <a:p>
                      <a:pPr algn="l">
                        <a:buNone/>
                      </a:pPr>
                      <a:r>
                        <a:rPr lang="en-US" sz="800" dirty="0">
                          <a:effectLst/>
                          <a:latin typeface="Hyundai Sans Text KR" panose="020B0600000101010101" pitchFamily="34" charset="-127"/>
                          <a:ea typeface="Hyundai Sans Text KR" panose="020B0600000101010101" pitchFamily="34" charset="-127"/>
                        </a:rPr>
                        <a:t>trajectory to improve future success rates</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[Autonomous Lesson Learned Generation]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KG auto-update pipeline: symptom → cause → action → </a:t>
                      </a:r>
                    </a:p>
                    <a:p>
                      <a:pPr marL="0" lvl="0" indent="0" algn="l">
                        <a:buFont typeface="Aria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outcome nodes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MLOps</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continuous diagnostic model retraining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[Humanoid Skill Reinforcement Learning]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Reinforcement Learning (Humanoid physical skill learning)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MLOps</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robot control model redeployment to edge</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0" marT="0" marB="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algn="l">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[Autonomous Lesson Learned Generation]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Lesson Learned repository with automatic SOP update that </a:t>
                      </a:r>
                    </a:p>
                    <a:p>
                      <a:pPr marL="0" lvl="0" indent="0" algn="l">
                        <a:buFont typeface="Aria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can include visual, video captured</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Structured outcome capture at work order closure</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[Humanoid Skill Reinforcement Learning]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Skill library registry and version management</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Task catalogue of autonomy-eligible maintenance tasks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sz="800" b="0" dirty="0">
                          <a:effectLst/>
                          <a:latin typeface="Hyundai Sans Text KR"/>
                          <a:ea typeface="Hyundai Sans Text KR"/>
                        </a:rPr>
                        <a:t>• Lack of technology to extract the humanoid’s </a:t>
                      </a:r>
                    </a:p>
                    <a:p>
                      <a:pPr algn="l">
                        <a:buNone/>
                      </a:pPr>
                      <a:r>
                        <a:rPr lang="en-US" sz="800" b="0" dirty="0">
                          <a:effectLst/>
                          <a:latin typeface="Hyundai Sans Text KR"/>
                          <a:ea typeface="Hyundai Sans Text KR"/>
                        </a:rPr>
                        <a:t>   physical success experience (force, angle, </a:t>
                      </a:r>
                    </a:p>
                    <a:p>
                      <a:pPr algn="l">
                        <a:buNone/>
                      </a:pPr>
                      <a:r>
                        <a:rPr lang="en-US" sz="800" b="0" dirty="0">
                          <a:effectLst/>
                          <a:latin typeface="Hyundai Sans Text KR"/>
                          <a:ea typeface="Hyundai Sans Text KR"/>
                        </a:rPr>
                        <a:t>   friction) into quantitative data and transfer it </a:t>
                      </a:r>
                    </a:p>
                    <a:p>
                      <a:pPr algn="l">
                        <a:buNone/>
                      </a:pPr>
                      <a:r>
                        <a:rPr lang="en-US" sz="800" b="0" dirty="0">
                          <a:effectLst/>
                          <a:latin typeface="Hyundai Sans Text KR"/>
                          <a:ea typeface="Hyundai Sans Text KR"/>
                        </a:rPr>
                        <a:t>   into AI model weights (Skill Transfer)</a:t>
                      </a: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4706191"/>
                  </a:ext>
                </a:extLst>
              </a:tr>
            </a:tbl>
          </a:graphicData>
        </a:graphic>
      </p:graphicFrame>
    </p:spTree>
    <p:extLst>
      <p:ext uri="{BB962C8B-B14F-4D97-AF65-F5344CB8AC3E}">
        <p14:creationId xmlns:p14="http://schemas.microsoft.com/office/powerpoint/2010/main" val="2285152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ED6664C-3E3E-3B64-5B92-EEF0AEB0509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B56FC477-0831-D66D-1979-542302D200C7}"/>
              </a:ext>
            </a:extLst>
          </p:cNvPr>
          <p:cNvSpPr>
            <a:spLocks noGrp="1"/>
          </p:cNvSpPr>
          <p:nvPr>
            <p:ph type="ctrTitle"/>
          </p:nvPr>
        </p:nvSpPr>
        <p:spPr>
          <a:xfrm>
            <a:off x="273049" y="179388"/>
            <a:ext cx="9632951"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④ 트러블 슈팅 대응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409E7FFA-435F-BA3F-5E5E-6025D5A96E01}"/>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A3DE9406-562D-B4DD-1072-9E5839874AB8}"/>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EE9BD657-A94C-7E03-32BB-0FB089C3FB86}"/>
              </a:ext>
            </a:extLst>
          </p:cNvPr>
          <p:cNvSpPr txBox="1"/>
          <p:nvPr/>
        </p:nvSpPr>
        <p:spPr>
          <a:xfrm>
            <a:off x="338778" y="830362"/>
            <a:ext cx="429444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트러블 슈팅 대응 자율화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8DE1C949-A2F2-676B-3C7C-C0C9A225DB91}"/>
              </a:ext>
            </a:extLst>
          </p:cNvPr>
          <p:cNvSpPr>
            <a:spLocks noChangeArrowheads="1"/>
          </p:cNvSpPr>
          <p:nvPr/>
        </p:nvSpPr>
        <p:spPr bwMode="auto">
          <a:xfrm>
            <a:off x="541148" y="1055182"/>
            <a:ext cx="7322838"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목표 </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설비 장애 발생 시 실시간으로 원인을 규명하고</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제어</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(PLC)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및 물리적</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a:t>
            </a:r>
            <a:r>
              <a:rPr kumimoji="0" lang="ko-KR" altLang="en-US" sz="1100" b="0" i="0" u="none" strike="noStrike" kern="1200" cap="none" spc="0" normalizeH="0" baseline="0" noProof="0" dirty="0" err="1">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휴머노이드</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조치를 자율적으로 수행하며</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해결될 때까지 대안을 반복 실행한 후 </a:t>
            </a:r>
            <a:r>
              <a:rPr kumimoji="0" lang="ko-KR" altLang="en-US" sz="1200" b="1" i="0" u="none" strike="noStrike" kern="1200" cap="none" spc="0" normalizeH="0" baseline="0" noProof="0" dirty="0" err="1">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레슨런</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(Lesson Learned)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을 스스로 학습하는 무인 정비 체계 구축</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a:t>
            </a:r>
            <a:endPar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p:txBody>
      </p:sp>
      <p:graphicFrame>
        <p:nvGraphicFramePr>
          <p:cNvPr id="3" name="표 2">
            <a:extLst>
              <a:ext uri="{FF2B5EF4-FFF2-40B4-BE49-F238E27FC236}">
                <a16:creationId xmlns:a16="http://schemas.microsoft.com/office/drawing/2014/main" id="{F0C1C71E-C2A3-27F9-FFF2-CFC6AB153E8A}"/>
              </a:ext>
            </a:extLst>
          </p:cNvPr>
          <p:cNvGraphicFramePr>
            <a:graphicFrameLocks noGrp="1"/>
          </p:cNvGraphicFramePr>
          <p:nvPr/>
        </p:nvGraphicFramePr>
        <p:xfrm>
          <a:off x="284178" y="1609726"/>
          <a:ext cx="12517423" cy="5076824"/>
        </p:xfrm>
        <a:graphic>
          <a:graphicData uri="http://schemas.openxmlformats.org/drawingml/2006/table">
            <a:tbl>
              <a:tblPr/>
              <a:tblGrid>
                <a:gridCol w="745821">
                  <a:extLst>
                    <a:ext uri="{9D8B030D-6E8A-4147-A177-3AD203B41FA5}">
                      <a16:colId xmlns:a16="http://schemas.microsoft.com/office/drawing/2014/main" val="2849626013"/>
                    </a:ext>
                  </a:extLst>
                </a:gridCol>
                <a:gridCol w="3808738">
                  <a:extLst>
                    <a:ext uri="{9D8B030D-6E8A-4147-A177-3AD203B41FA5}">
                      <a16:colId xmlns:a16="http://schemas.microsoft.com/office/drawing/2014/main" val="3246794898"/>
                    </a:ext>
                  </a:extLst>
                </a:gridCol>
                <a:gridCol w="2486007">
                  <a:extLst>
                    <a:ext uri="{9D8B030D-6E8A-4147-A177-3AD203B41FA5}">
                      <a16:colId xmlns:a16="http://schemas.microsoft.com/office/drawing/2014/main" val="1211390470"/>
                    </a:ext>
                  </a:extLst>
                </a:gridCol>
                <a:gridCol w="2486007">
                  <a:extLst>
                    <a:ext uri="{9D8B030D-6E8A-4147-A177-3AD203B41FA5}">
                      <a16:colId xmlns:a16="http://schemas.microsoft.com/office/drawing/2014/main" val="3879085157"/>
                    </a:ext>
                  </a:extLst>
                </a:gridCol>
                <a:gridCol w="180975">
                  <a:extLst>
                    <a:ext uri="{9D8B030D-6E8A-4147-A177-3AD203B41FA5}">
                      <a16:colId xmlns:a16="http://schemas.microsoft.com/office/drawing/2014/main" val="3461907946"/>
                    </a:ext>
                  </a:extLst>
                </a:gridCol>
                <a:gridCol w="2809875">
                  <a:extLst>
                    <a:ext uri="{9D8B030D-6E8A-4147-A177-3AD203B41FA5}">
                      <a16:colId xmlns:a16="http://schemas.microsoft.com/office/drawing/2014/main" val="1082217511"/>
                    </a:ext>
                  </a:extLst>
                </a:gridCol>
              </a:tblGrid>
              <a:tr h="224011">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DX</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94862131"/>
                  </a:ext>
                </a:extLst>
              </a:tr>
              <a:tr h="741385">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a:t>
                      </a:r>
                      <a:r>
                        <a:rPr lang="en-US"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실시간 장애 인지 및 현장 시야 확보</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설비의 알람</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에러 코드 실시간 수집 및 장애 발생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구역의 고해상도 비전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(CCTV/</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로봇 카메라</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데이터 연동</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휴머노이드 원격</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제어망</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물리적 조치를 위해 투입되는 휴머노이드 로봇과의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초저지연 통신망 개통</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900" b="0" kern="1200" dirty="0" err="1">
                          <a:solidFill>
                            <a:schemeClr val="tx1"/>
                          </a:solidFill>
                          <a:effectLst/>
                          <a:latin typeface="Hyundai Sans Text KR" panose="020B0600000101010101" pitchFamily="34" charset="-127"/>
                          <a:ea typeface="Hyundai Sans Text KR" panose="020B0600000101010101" pitchFamily="34" charset="-127"/>
                          <a:cs typeface="+mn-cs"/>
                        </a:rPr>
                        <a:t>IIoT</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플랫폼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현장 데이터 실시간 수집</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AI Smart Vision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장애 상황 시각적 인지</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무선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유선 초고속 통신 인프라 구축</a:t>
                      </a:r>
                      <a:endPar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오픈소스 표준 데이터 </a:t>
                      </a:r>
                      <a:r>
                        <a:rPr lang="ko-KR" altLang="en-US" sz="900" b="0" kern="1200" dirty="0" err="1">
                          <a:solidFill>
                            <a:schemeClr val="tx1"/>
                          </a:solidFill>
                          <a:effectLst/>
                          <a:latin typeface="Hyundai Sans Text KR" panose="020B0600000101010101" pitchFamily="34" charset="-127"/>
                          <a:ea typeface="Hyundai Sans Text KR" panose="020B0600000101010101" pitchFamily="34" charset="-127"/>
                          <a:cs typeface="+mn-cs"/>
                        </a:rPr>
                        <a:t>프로코톨</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 제정</a:t>
                      </a: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수많은 설비 제조사</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(Vendor)</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마다 각기 다른 알람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프로토콜과 에러 코드 체계의 파편화</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휴머노이드의</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시야</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(Vision)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데이터를 지연 없이 전송하기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위한 대역폭 확보</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46573300"/>
                  </a:ext>
                </a:extLst>
              </a:tr>
              <a:tr h="871689">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정비 지식 및 매뉴얼 데이터화</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수만 페이지에 달하는 설비 도면</a:t>
                      </a:r>
                      <a:r>
                        <a:rPr lang="en-US" altLang="ko-KR" sz="900" dirty="0">
                          <a:solidFill>
                            <a:schemeClr val="tx1"/>
                          </a:solidFill>
                          <a:effectLst/>
                          <a:latin typeface="Hyundai Sans Text KR" panose="020B0600000101010101" pitchFamily="34" charset="-127"/>
                          <a:ea typeface="Hyundai Sans Text KR" panose="020B0600000101010101" pitchFamily="34" charset="-127"/>
                        </a:rPr>
                        <a:t>(P&amp;ID),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정비 매뉴얼</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과거 작업자의 트러블 슈팅 이력</a:t>
                      </a:r>
                      <a:r>
                        <a:rPr lang="en-US" altLang="ko-KR" sz="900" dirty="0">
                          <a:solidFill>
                            <a:schemeClr val="tx1"/>
                          </a:solidFill>
                          <a:effectLst/>
                          <a:latin typeface="Hyundai Sans Text KR" panose="020B0600000101010101" pitchFamily="34" charset="-127"/>
                          <a:ea typeface="Hyundai Sans Text KR" panose="020B0600000101010101" pitchFamily="34" charset="-127"/>
                        </a:rPr>
                        <a:t>(Log)</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을 텍스트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마이닝하여</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통합</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장애 컨텍스트</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(Context)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동기화</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에러 코드 발생 시점의 설비 온도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진동</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압력 등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시계열 데이터와 정비 매뉴얼을 하나의 타임라인으로 묶어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에 제공</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Text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Mining / OCR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비정형 문서 데이터화</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시계열 </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Database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및 </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AI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모델</a:t>
                      </a: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시간 흐름 기반 영상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텍스트 통합</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S</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DM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설비 기준 정보 및 부품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BOM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관리</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과거 정비 이력이 작업자의 수기나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비표준화된</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텍스트로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작성되어 있어 데이터의 품질</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(Quality)</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이 매우 낮음</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복잡한 도면과 매뉴얼을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가 이해할 수 있는 벡터</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(Vector)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형태로 변환하는 기술적 난이도</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26434180"/>
                  </a:ext>
                </a:extLst>
              </a:tr>
              <a:tr h="1235702">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근본 원인 분석 </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(RCA)]</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에러 코드와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설비 생성 데이터</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비전 이미지 종합하여     </a:t>
                      </a: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Knowledge Graph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기반의 고장 원인 진단</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예측</a:t>
                      </a: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예</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PLC / Robot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논리 오류</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센서 </a:t>
                      </a:r>
                      <a:r>
                        <a:rPr lang="ko-KR" altLang="en-US" sz="900" b="0" kern="1200" dirty="0" err="1">
                          <a:solidFill>
                            <a:schemeClr val="tx1"/>
                          </a:solidFill>
                          <a:effectLst/>
                          <a:latin typeface="Hyundai Sans Text KR" panose="020B0600000101010101" pitchFamily="34" charset="-127"/>
                          <a:ea typeface="Hyundai Sans Text KR" panose="020B0600000101010101" pitchFamily="34" charset="-127"/>
                          <a:cs typeface="+mn-cs"/>
                        </a:rPr>
                        <a:t>오감지</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고장</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기계적 고착 등을 정확히 진단</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다중 </a:t>
                      </a:r>
                      <a:r>
                        <a:rPr lang="ko-KR" altLang="en-US" sz="900" b="1" dirty="0" err="1">
                          <a:solidFill>
                            <a:schemeClr val="tx1"/>
                          </a:solidFill>
                          <a:effectLst/>
                          <a:latin typeface="Hyundai Sans Text KR" panose="020B0600000101010101" pitchFamily="34" charset="-127"/>
                          <a:ea typeface="Hyundai Sans Text KR" panose="020B0600000101010101" pitchFamily="34" charset="-127"/>
                        </a:rPr>
                        <a:t>모달</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대책 생성 및 반복 로직</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ko-KR" altLang="en-US" sz="900" dirty="0">
                          <a:solidFill>
                            <a:schemeClr val="tx1"/>
                          </a:solidFill>
                          <a:effectLst/>
                          <a:latin typeface="Hyundai Sans Text KR" panose="020B0600000101010101" pitchFamily="34" charset="-127"/>
                          <a:ea typeface="Hyundai Sans Text KR" panose="020B0600000101010101" pitchFamily="34" charset="-127"/>
                        </a:rPr>
                        <a:t>①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1</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차 대책</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오류 프로그램에 대한 개선 로직 제안 및 자동 수정</a:t>
                      </a:r>
                      <a:br>
                        <a:rPr lang="en-US" altLang="ko-KR" sz="900" dirty="0">
                          <a:solidFill>
                            <a:schemeClr val="tx1"/>
                          </a:solidFill>
                          <a:effectLst/>
                          <a:highlight>
                            <a:srgbClr val="FFFF00"/>
                          </a:highlight>
                          <a:latin typeface="Hyundai Sans Text KR" panose="020B0600000101010101" pitchFamily="34" charset="-127"/>
                          <a:ea typeface="Hyundai Sans Text KR" panose="020B0600000101010101" pitchFamily="34" charset="-127"/>
                        </a:rPr>
                      </a:br>
                      <a:r>
                        <a:rPr lang="en-US" altLang="ko-KR" sz="900" dirty="0">
                          <a:solidFill>
                            <a:schemeClr val="tx1"/>
                          </a:solidFill>
                          <a:effectLst/>
                          <a:latin typeface="Hyundai Sans Text KR" panose="020B0600000101010101" pitchFamily="34" charset="-127"/>
                          <a:ea typeface="Hyundai Sans Text KR" panose="020B0600000101010101" pitchFamily="34" charset="-127"/>
                        </a:rPr>
                        <a:t>② 2</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차 대책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(1</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차 실패 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투입 및 부품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탈거</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(H/W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조치</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br>
                        <a:rPr lang="en-US" altLang="ko-KR"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안전 및 간섭 검증</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투입 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해당 구역의 전원 차단</a:t>
                      </a:r>
                      <a:r>
                        <a:rPr lang="en-US" altLang="ko-KR" sz="900" dirty="0">
                          <a:solidFill>
                            <a:schemeClr val="tx1"/>
                          </a:solidFill>
                          <a:effectLst/>
                          <a:latin typeface="Hyundai Sans Text KR" panose="020B0600000101010101" pitchFamily="34" charset="-127"/>
                          <a:ea typeface="Hyundai Sans Text KR" panose="020B0600000101010101" pitchFamily="34" charset="-127"/>
                        </a:rPr>
                        <a:t>(LOTO)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여부 및 타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설비와의 충돌 가능성을 규칙 엔진과 디지털 트윈으로 사전 검증</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Diagnostic 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근본 원인 분석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(RCA)</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Generative AI (RAG):</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매뉴얼 기반 조치 순서</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(Step)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자동 생성</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Knowledge Graph:</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증상 ➔ 원인 ➔ 조치 매핑</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Rule Engine:</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정비 안전 수칙</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(LOTO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등</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강제</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ko-KR" altLang="en-US"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ko-KR" altLang="en-US"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생성형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가 매뉴얼을 잘못 해석하여 엉뚱한 정비 지시를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내리는 환각</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(Hallucination)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현상 통제</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조치 실패 시</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이전 상태로 롤백</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(Roll-back)</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하고 새로운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대안을 찾는 동적 의사결정 트리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(Dynamic Decision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Tree)</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의 복잡성</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80332924"/>
                  </a:ext>
                </a:extLst>
              </a:tr>
              <a:tr h="1022962">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[S/W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제어 조치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SG" altLang="ko-KR" sz="900" dirty="0">
                          <a:solidFill>
                            <a:schemeClr val="tx1"/>
                          </a:solidFill>
                          <a:effectLst/>
                          <a:latin typeface="Hyundai Sans Text KR" panose="020B0600000101010101" pitchFamily="34" charset="-127"/>
                          <a:ea typeface="Hyundai Sans Text KR" panose="020B0600000101010101" pitchFamily="34" charset="-127"/>
                        </a:rPr>
                        <a:t>IoT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플랫폼과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엣지</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컨트롤러를 통해 설비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PLC</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에 직접 리셋</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명령이나 파라미터 및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레서피</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변경값을</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전송하여 논리 오류 해결 및 공정조건 자율변경</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[H/W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물리적 자율 조치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부품 끼임</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(Jamming)</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이나 고장 조치 시</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err="1">
                          <a:solidFill>
                            <a:schemeClr val="tx1"/>
                          </a:solidFill>
                          <a:effectLst/>
                          <a:latin typeface="Hyundai Sans Text KR" panose="020B0600000101010101" pitchFamily="34" charset="-127"/>
                          <a:ea typeface="Hyundai Sans Text KR" panose="020B0600000101010101" pitchFamily="34" charset="-127"/>
                          <a:cs typeface="+mn-cs"/>
                        </a:rPr>
                        <a:t>휴머노이드</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로봇이</a:t>
                      </a: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lnSpc>
                          <a:spcPct val="110000"/>
                        </a:lnSpc>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현장으로 이동하여 끼임 제거 및 이상 부품 교체 등의 물리적 정비 수행</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Virtual PLC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및 </a:t>
                      </a:r>
                      <a:r>
                        <a:rPr lang="ko-KR" altLang="en-US" sz="900" b="0" kern="1200" dirty="0" err="1">
                          <a:solidFill>
                            <a:schemeClr val="tx1"/>
                          </a:solidFill>
                          <a:effectLst/>
                          <a:latin typeface="Hyundai Sans Text KR" panose="020B0600000101010101" pitchFamily="34" charset="-127"/>
                          <a:ea typeface="Hyundai Sans Text KR" panose="020B0600000101010101" pitchFamily="34" charset="-127"/>
                          <a:cs typeface="+mn-cs"/>
                        </a:rPr>
                        <a:t>엣지</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 컴퓨팅</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Humanoid Robotics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비정형 물리적 정비</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Vision-AI Guided Manipulation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시각 기반 조작</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Force &amp; Torque Compliance Control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부품 파손 방지 힘 제어</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꽉 끼인 부품을 빼내거나 미세한 선을 연결하는 등</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비정형적이고</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섬세한 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(Force)</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이 요구되는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조작</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(Manipulation)</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의 극단적 난이도</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84136130"/>
                  </a:ext>
                </a:extLst>
              </a:tr>
              <a:tr h="981075">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err="1">
                          <a:solidFill>
                            <a:schemeClr val="tx1"/>
                          </a:solidFill>
                          <a:effectLst/>
                          <a:latin typeface="Hyundai Sans Text KR" panose="020B0600000101010101" pitchFamily="34" charset="-127"/>
                          <a:ea typeface="Hyundai Sans Text KR" panose="020B0600000101010101" pitchFamily="34" charset="-127"/>
                        </a:rPr>
                        <a:t>레슨런</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(Lesson Learned)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생성</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트러블 슈팅이 최종 성공하면</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어떤 증상에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어떤 조치가 유효했는지</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를 지식 그래프에 새로운 노드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(Node)</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로 자동 업데이트</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스킬 강화학습</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휴머노이드가</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부품을 빼내는 데 여러 번 실패하다 성공한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경우</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그 성공적인 힘의 조절과 궤적을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가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강화학습하여</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다음 정비 시 성공률 향상</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Knowledge Graph Auto-updating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지식 자동 확장</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Reinforcement Learning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물리 스킬 학습</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b="0" dirty="0" err="1">
                          <a:solidFill>
                            <a:schemeClr val="tx1"/>
                          </a:solidFill>
                          <a:effectLst/>
                          <a:latin typeface="Hyundai Sans Text KR" panose="020B0600000101010101" pitchFamily="34" charset="-127"/>
                          <a:ea typeface="Hyundai Sans Text KR" panose="020B0600000101010101" pitchFamily="34" charset="-127"/>
                        </a:rPr>
                        <a:t>MLOps</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진단 모델 및 로봇 제어 모델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재배포</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휴머노이드의</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물리적 성공 경험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각도</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마찰력</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을 정량적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데이터로 추출하여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AI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모델의 가중치로 변환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(Skill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Transfer)</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하는 기술의 부재</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48779735"/>
                  </a:ext>
                </a:extLst>
              </a:tr>
            </a:tbl>
          </a:graphicData>
        </a:graphic>
      </p:graphicFrame>
      <p:sp>
        <p:nvSpPr>
          <p:cNvPr id="7" name="직사각형 6">
            <a:extLst>
              <a:ext uri="{FF2B5EF4-FFF2-40B4-BE49-F238E27FC236}">
                <a16:creationId xmlns:a16="http://schemas.microsoft.com/office/drawing/2014/main" id="{8C269A63-0816-35FA-9E68-5E78AE9503F3}"/>
              </a:ext>
            </a:extLst>
          </p:cNvPr>
          <p:cNvSpPr/>
          <p:nvPr/>
        </p:nvSpPr>
        <p:spPr>
          <a:xfrm rot="20700000">
            <a:off x="2689412" y="3232570"/>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rPr>
              <a:t>Need to translate KR Ver later</a:t>
            </a:r>
            <a:endParaRPr kumimoji="0" lang="ko-KR" altLang="en-US"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endParaRPr>
          </a:p>
        </p:txBody>
      </p:sp>
    </p:spTree>
    <p:extLst>
      <p:ext uri="{BB962C8B-B14F-4D97-AF65-F5344CB8AC3E}">
        <p14:creationId xmlns:p14="http://schemas.microsoft.com/office/powerpoint/2010/main" val="1278171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E0678-7A65-DD79-C5DA-5A7544AD2349}"/>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8027964E-44DB-41EB-4CDD-CD6105DC887C}"/>
              </a:ext>
            </a:extLst>
          </p:cNvPr>
          <p:cNvSpPr>
            <a:spLocks noGrp="1"/>
          </p:cNvSpPr>
          <p:nvPr>
            <p:ph type="ctrTitle"/>
          </p:nvPr>
        </p:nvSpPr>
        <p:spPr>
          <a:xfrm>
            <a:off x="273050" y="179388"/>
            <a:ext cx="9632950"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⑤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quality defect analysis and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AE747EDD-1BC6-CBE1-97D3-9D633A1F22A7}"/>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065F522F-5D36-9911-6303-671D841A06E3}"/>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DE49331B-8082-D941-2F0F-0A09EB51C1CA}"/>
              </a:ext>
            </a:extLst>
          </p:cNvPr>
          <p:cNvSpPr txBox="1"/>
          <p:nvPr/>
        </p:nvSpPr>
        <p:spPr>
          <a:xfrm>
            <a:off x="249128" y="819109"/>
            <a:ext cx="945130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quality defect cause analysis and response </a:t>
            </a:r>
            <a:r>
              <a:rPr kumimoji="0" lang="en-US" altLang="ko-KR" sz="11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SG" altLang="ko-KR" sz="11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19C4AF73-60DB-94B1-9666-A767B6CB8A3F}"/>
              </a:ext>
            </a:extLst>
          </p:cNvPr>
          <p:cNvSpPr>
            <a:spLocks noChangeArrowheads="1"/>
          </p:cNvSpPr>
          <p:nvPr/>
        </p:nvSpPr>
        <p:spPr bwMode="auto">
          <a:xfrm>
            <a:off x="197014" y="1043658"/>
            <a:ext cx="9502922" cy="646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Establish an unmanned quality control system that integrates data from VDR inbound, logistic to final assembly,</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autonomously diagnosing root causes (Part/Logistic/Equipment/Worker) of defects, and executing actions such as equipment parameter correction</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and automated engineering ticket issuance.</a:t>
            </a:r>
          </a:p>
        </p:txBody>
      </p:sp>
      <p:graphicFrame>
        <p:nvGraphicFramePr>
          <p:cNvPr id="9" name="표 8">
            <a:extLst>
              <a:ext uri="{FF2B5EF4-FFF2-40B4-BE49-F238E27FC236}">
                <a16:creationId xmlns:a16="http://schemas.microsoft.com/office/drawing/2014/main" id="{F0FD4704-F623-84EB-D717-F9E8BE2AC3E4}"/>
              </a:ext>
            </a:extLst>
          </p:cNvPr>
          <p:cNvGraphicFramePr>
            <a:graphicFrameLocks noGrp="1"/>
          </p:cNvGraphicFramePr>
          <p:nvPr/>
        </p:nvGraphicFramePr>
        <p:xfrm>
          <a:off x="259976" y="1710994"/>
          <a:ext cx="12170149" cy="4670755"/>
        </p:xfrm>
        <a:graphic>
          <a:graphicData uri="http://schemas.openxmlformats.org/drawingml/2006/table">
            <a:tbl>
              <a:tblPr/>
              <a:tblGrid>
                <a:gridCol w="712513">
                  <a:extLst>
                    <a:ext uri="{9D8B030D-6E8A-4147-A177-3AD203B41FA5}">
                      <a16:colId xmlns:a16="http://schemas.microsoft.com/office/drawing/2014/main" val="3515855418"/>
                    </a:ext>
                  </a:extLst>
                </a:gridCol>
                <a:gridCol w="2961962">
                  <a:extLst>
                    <a:ext uri="{9D8B030D-6E8A-4147-A177-3AD203B41FA5}">
                      <a16:colId xmlns:a16="http://schemas.microsoft.com/office/drawing/2014/main" val="2891931337"/>
                    </a:ext>
                  </a:extLst>
                </a:gridCol>
                <a:gridCol w="2961962">
                  <a:extLst>
                    <a:ext uri="{9D8B030D-6E8A-4147-A177-3AD203B41FA5}">
                      <a16:colId xmlns:a16="http://schemas.microsoft.com/office/drawing/2014/main" val="3002806275"/>
                    </a:ext>
                  </a:extLst>
                </a:gridCol>
                <a:gridCol w="2961962">
                  <a:extLst>
                    <a:ext uri="{9D8B030D-6E8A-4147-A177-3AD203B41FA5}">
                      <a16:colId xmlns:a16="http://schemas.microsoft.com/office/drawing/2014/main" val="2343065846"/>
                    </a:ext>
                  </a:extLst>
                </a:gridCol>
                <a:gridCol w="152400">
                  <a:extLst>
                    <a:ext uri="{9D8B030D-6E8A-4147-A177-3AD203B41FA5}">
                      <a16:colId xmlns:a16="http://schemas.microsoft.com/office/drawing/2014/main" val="3952207524"/>
                    </a:ext>
                  </a:extLst>
                </a:gridCol>
                <a:gridCol w="2419350">
                  <a:extLst>
                    <a:ext uri="{9D8B030D-6E8A-4147-A177-3AD203B41FA5}">
                      <a16:colId xmlns:a16="http://schemas.microsoft.com/office/drawing/2014/main" val="3458429665"/>
                    </a:ext>
                  </a:extLst>
                </a:gridCol>
              </a:tblGrid>
              <a:tr h="178024">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sz="90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2667559">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lvl="0" indent="0" algn="l">
                        <a:buNone/>
                      </a:pPr>
                      <a:r>
                        <a:rPr lang="en-US" sz="800" b="1" dirty="0">
                          <a:solidFill>
                            <a:schemeClr val="tx1"/>
                          </a:solidFill>
                          <a:effectLst/>
                          <a:latin typeface="Hyundai Sans Text KR" panose="020B0600000101010101" pitchFamily="34" charset="-127"/>
                          <a:ea typeface="Hyundai Sans Text KR" panose="020B0600000101010101" pitchFamily="34" charset="-127"/>
                        </a:rPr>
                        <a:t>[End-to-End Core Quality Data Collection by Process]</a:t>
                      </a:r>
                      <a:br>
                        <a:rPr lang="en-US" sz="800" dirty="0">
                          <a:solidFill>
                            <a:schemeClr val="tx1"/>
                          </a:solidFill>
                          <a:effectLst/>
                          <a:latin typeface="Hyundai Sans Text KR" panose="020B0600000101010101" pitchFamily="34" charset="-127"/>
                          <a:ea typeface="Hyundai Sans Text KR" panose="020B0600000101010101" pitchFamily="34" charset="-127"/>
                        </a:rPr>
                      </a:br>
                      <a:endParaRPr lang="en-US" sz="800" b="1" dirty="0">
                        <a:solidFill>
                          <a:schemeClr val="tx1"/>
                        </a:solidFill>
                        <a:effectLst/>
                        <a:latin typeface="Hyundai Sans Text KR" panose="020B0600000101010101" pitchFamily="34" charset="-127"/>
                        <a:ea typeface="Hyundai Sans Text KR" panose="020B0600000101010101" pitchFamily="34" charset="-127"/>
                      </a:endParaRPr>
                    </a:p>
                    <a:p>
                      <a:pPr marL="57150" lvl="0" indent="-57150" algn="l">
                        <a:buFont typeface="Arial"/>
                        <a:buChar char="•"/>
                      </a:pPr>
                      <a:r>
                        <a:rPr lang="en-US" sz="800" b="0" dirty="0">
                          <a:solidFill>
                            <a:schemeClr val="tx1"/>
                          </a:solidFill>
                          <a:effectLst/>
                          <a:latin typeface="Hyundai Sans Text KR" panose="020B0600000101010101" pitchFamily="34" charset="-127"/>
                          <a:ea typeface="Hyundai Sans Text KR" panose="020B0600000101010101" pitchFamily="34" charset="-127"/>
                        </a:rPr>
                        <a:t>Supplier Incoming Items: Lot tracking data, inspection data, </a:t>
                      </a:r>
                    </a:p>
                    <a:p>
                      <a:pPr marL="0" lvl="0" indent="0" algn="l">
                        <a:buFont typeface="Arial"/>
                        <a:buNone/>
                      </a:pPr>
                      <a:r>
                        <a:rPr lang="en-US" sz="800" b="0" dirty="0">
                          <a:solidFill>
                            <a:schemeClr val="tx1"/>
                          </a:solidFill>
                          <a:effectLst/>
                          <a:latin typeface="Hyundai Sans Text KR" panose="020B0600000101010101" pitchFamily="34" charset="-127"/>
                          <a:ea typeface="Hyundai Sans Text KR" panose="020B0600000101010101" pitchFamily="34" charset="-127"/>
                        </a:rPr>
                        <a:t>   transportation environment monitoring</a:t>
                      </a:r>
                    </a:p>
                    <a:p>
                      <a:pPr marL="57150" lvl="0" indent="-57150" algn="l">
                        <a:buFont typeface="Arial"/>
                        <a:buChar char="•"/>
                      </a:pPr>
                      <a:r>
                        <a:rPr lang="en-US" sz="800" b="0" dirty="0">
                          <a:solidFill>
                            <a:schemeClr val="tx1"/>
                          </a:solidFill>
                          <a:effectLst/>
                          <a:latin typeface="Hyundai Sans Text KR" panose="020B0600000101010101" pitchFamily="34" charset="-127"/>
                          <a:ea typeface="Hyundai Sans Text KR" panose="020B0600000101010101" pitchFamily="34" charset="-127"/>
                        </a:rPr>
                        <a:t>Body : Body quality data such as BIW frame accuracy, welding </a:t>
                      </a:r>
                    </a:p>
                    <a:p>
                      <a:pPr marL="0" lvl="0" indent="0" algn="l">
                        <a:buFont typeface="Arial"/>
                        <a:buNone/>
                      </a:pPr>
                      <a:r>
                        <a:rPr lang="en-US" sz="800" b="0" dirty="0">
                          <a:solidFill>
                            <a:schemeClr val="tx1"/>
                          </a:solidFill>
                          <a:effectLst/>
                          <a:latin typeface="Hyundai Sans Text KR" panose="020B0600000101010101" pitchFamily="34" charset="-127"/>
                          <a:ea typeface="Hyundai Sans Text KR" panose="020B0600000101010101" pitchFamily="34" charset="-127"/>
                        </a:rPr>
                        <a:t>   data, gap/step data, etc.</a:t>
                      </a:r>
                    </a:p>
                    <a:p>
                      <a:pPr marL="57150" lvl="0" indent="-57150" algn="l">
                        <a:buFont typeface="Arial"/>
                        <a:buChar char="•"/>
                      </a:pPr>
                      <a:r>
                        <a:rPr lang="en-US" sz="800" b="0" dirty="0">
                          <a:solidFill>
                            <a:schemeClr val="tx1"/>
                          </a:solidFill>
                          <a:effectLst/>
                          <a:latin typeface="Hyundai Sans Text KR" panose="020B0600000101010101" pitchFamily="34" charset="-127"/>
                          <a:ea typeface="Hyundai Sans Text KR" panose="020B0600000101010101" pitchFamily="34" charset="-127"/>
                        </a:rPr>
                        <a:t>Paint : Paint quality data such as film thickness, clearance, etc.</a:t>
                      </a:r>
                    </a:p>
                    <a:p>
                      <a:pPr marL="57150" lvl="0" indent="-57150" algn="l">
                        <a:buFont typeface="Arial"/>
                        <a:buChar char="•"/>
                      </a:pPr>
                      <a:r>
                        <a:rPr lang="en-US" sz="800" b="0" dirty="0">
                          <a:solidFill>
                            <a:schemeClr val="tx1"/>
                          </a:solidFill>
                          <a:effectLst/>
                          <a:latin typeface="Hyundai Sans Text KR" panose="020B0600000101010101" pitchFamily="34" charset="-127"/>
                          <a:ea typeface="Hyundai Sans Text KR" panose="020B0600000101010101" pitchFamily="34" charset="-127"/>
                        </a:rPr>
                        <a:t>Assembly: Fastening torque, gap &amp; flush, driving, BSR (Buzz, </a:t>
                      </a:r>
                    </a:p>
                    <a:p>
                      <a:pPr marL="0" lvl="0" indent="0" algn="l">
                        <a:buFont typeface="Arial"/>
                        <a:buNone/>
                      </a:pPr>
                      <a:r>
                        <a:rPr lang="en-US" sz="800" b="0" dirty="0">
                          <a:solidFill>
                            <a:schemeClr val="tx1"/>
                          </a:solidFill>
                          <a:effectLst/>
                          <a:latin typeface="Hyundai Sans Text KR" panose="020B0600000101010101" pitchFamily="34" charset="-127"/>
                          <a:ea typeface="Hyundai Sans Text KR" panose="020B0600000101010101" pitchFamily="34" charset="-127"/>
                        </a:rPr>
                        <a:t>  Squeak, Rattle), water tightness, interior/exterior inspection </a:t>
                      </a:r>
                    </a:p>
                    <a:p>
                      <a:pPr marL="0" lvl="0" indent="0" algn="l">
                        <a:buFont typeface="Arial"/>
                        <a:buNone/>
                      </a:pPr>
                      <a:r>
                        <a:rPr lang="en-US" sz="800" b="0" dirty="0">
                          <a:solidFill>
                            <a:schemeClr val="tx1"/>
                          </a:solidFill>
                          <a:effectLst/>
                          <a:latin typeface="Hyundai Sans Text KR" panose="020B0600000101010101" pitchFamily="34" charset="-127"/>
                          <a:ea typeface="Hyundai Sans Text KR" panose="020B0600000101010101" pitchFamily="34" charset="-127"/>
                        </a:rPr>
                        <a:t>  result data</a:t>
                      </a:r>
                      <a:br>
                        <a:rPr lang="en-US" sz="800" dirty="0">
                          <a:solidFill>
                            <a:schemeClr val="tx1"/>
                          </a:solidFill>
                          <a:effectLst/>
                          <a:latin typeface="Hyundai Sans Text KR" panose="020B0600000101010101" pitchFamily="34" charset="-127"/>
                          <a:ea typeface="Hyundai Sans Text KR" panose="020B0600000101010101" pitchFamily="34" charset="-127"/>
                        </a:rPr>
                      </a:br>
                      <a:endParaRPr lang="en-US" sz="800" b="0" dirty="0">
                        <a:solidFill>
                          <a:schemeClr val="tx1"/>
                        </a:solidFill>
                        <a:effectLst/>
                        <a:latin typeface="Hyundai Sans Text KR" panose="020B0600000101010101" pitchFamily="34" charset="-127"/>
                        <a:ea typeface="Hyundai Sans Text KR" panose="020B0600000101010101" pitchFamily="34" charset="-127"/>
                      </a:endParaRPr>
                    </a:p>
                    <a:p>
                      <a:pPr marL="0" lvl="0" indent="0" algn="l">
                        <a:buNone/>
                      </a:pPr>
                      <a:r>
                        <a:rPr lang="en-US" sz="800" b="1" dirty="0">
                          <a:solidFill>
                            <a:schemeClr val="tx1"/>
                          </a:solidFill>
                          <a:effectLst/>
                          <a:latin typeface="Hyundai Sans Text KR" panose="020B0600000101010101" pitchFamily="34" charset="-127"/>
                          <a:ea typeface="Hyundai Sans Text KR" panose="020B0600000101010101" pitchFamily="34" charset="-127"/>
                        </a:rPr>
                        <a:t>[Market Quality Data]  </a:t>
                      </a:r>
                      <a:r>
                        <a:rPr lang="en-US" sz="800" b="0" kern="1200" dirty="0">
                          <a:solidFill>
                            <a:schemeClr val="tx1"/>
                          </a:solidFill>
                          <a:effectLst/>
                          <a:latin typeface="Hyundai Sans Text KR" panose="020B0600000101010101" pitchFamily="34" charset="-127"/>
                          <a:ea typeface="Hyundai Sans Text KR" panose="020B0600000101010101" pitchFamily="34" charset="-127"/>
                          <a:cs typeface="+mn-cs"/>
                        </a:rPr>
                        <a:t>Real-time integration of field data</a:t>
                      </a:r>
                      <a:endParaRPr lang="en-US" sz="800" dirty="0">
                        <a:solidFill>
                          <a:schemeClr val="tx1"/>
                        </a:solidFill>
                        <a:latin typeface="Hyundai Sans Text KR" panose="020B0600000101010101" pitchFamily="34" charset="-127"/>
                        <a:ea typeface="Hyundai Sans Text KR" panose="020B0600000101010101" pitchFamily="34"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[S/W]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IIoT</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Middleware Layer</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MQTT Broker for lightweight IoT devices</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Kafka-based event streaming (or equivalent)</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Time-series DB connector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InfluxDB</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Timescale)</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Q-DB Connector</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MCP Gateway</a:t>
                      </a:r>
                    </a:p>
                    <a:p>
                      <a:pPr marL="57150" lvl="0" indent="-57150" algn="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[H/W]</a:t>
                      </a:r>
                    </a:p>
                    <a:p>
                      <a:pPr marL="57150" marR="0" lvl="0" indent="-57150" algn="l">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Real-time Data Streaming Backbone</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Low-latency network (10 Gbps minimum for vision data)</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Edge Computing Node (for real-time vision processing)</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Optical/Vision: Inline 3D Scanner, High-res Machine Vision, </a:t>
                      </a:r>
                    </a:p>
                    <a:p>
                      <a:pPr marL="0" lvl="0" indent="0" algn="l">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3D Laser Profiler</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Precision Measurement : CMM (Coordinate Measuring Machine - Press/Inbound), Ultrasonic NDT (Non-Destructive Testing </a:t>
                      </a:r>
                    </a:p>
                    <a:p>
                      <a:pPr marL="0" lvl="0" indent="0" algn="l">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 Body Weld), Coating Thickness Gauge (Paint), </a:t>
                      </a: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Smart Torque </a:t>
                      </a:r>
                    </a:p>
                    <a:p>
                      <a:pPr marL="0" lvl="0" indent="0" algn="l">
                        <a:buClr>
                          <a:srgbClr val="000000"/>
                        </a:buClr>
                        <a:buFont typeface="Arial,Sans-Serif"/>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     Wrench</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Plant Track and Trace solution: RFID/Barcode Scanner, </a:t>
                      </a:r>
                    </a:p>
                    <a:p>
                      <a:pPr marL="0" lvl="0" indent="0" algn="l">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High-perform.</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algn="l">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[End-to-End Core Quality Data Collection by Process]</a:t>
                      </a:r>
                      <a:endPar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endParaRP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Incoming part quality checks Items: Part traceability</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Press: Mold condition monitoring, press pressure/temperature/vibration/shape measurement</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Body-in-White (BIW): BIW dimensional accuracy, welding data, robot position data, gap/step</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Paint: Coating thickness, clearance, painting environment data, cleanliness/temperature/humidity data</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Assembly: Fastening torque, gap &amp; flush, driving, BSR (Buzz, </a:t>
                      </a:r>
                    </a:p>
                    <a:p>
                      <a:pPr marL="0" lvl="0" indent="0" algn="l">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Squeak, Rattle), water tightness, interior/exterior inspection </a:t>
                      </a:r>
                    </a:p>
                    <a:p>
                      <a:pPr marL="0" lvl="0" indent="0" algn="l">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result data</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Market Quality Data</a:t>
                      </a: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 -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Real-time integration of field data</a:t>
                      </a:r>
                    </a:p>
                    <a:p>
                      <a:pPr lvl="0" algn="l">
                        <a:buNone/>
                      </a:pPr>
                      <a:endParaRPr lang="en-US" sz="8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a:buFont typeface="Arial"/>
                        <a:buChar char="•"/>
                      </a:pPr>
                      <a:r>
                        <a:rPr lang="en-US" sz="800" b="0" dirty="0">
                          <a:effectLst/>
                          <a:latin typeface="Hyundai Sans Text KR"/>
                          <a:ea typeface="Hyundai Sans Text KR"/>
                        </a:rPr>
                        <a:t>Limitations in digitizing and integrating inbound inspection certificates from numerous VDRs</a:t>
                      </a:r>
                    </a:p>
                    <a:p>
                      <a:pPr marL="171450" lvl="0" indent="-171450" algn="l">
                        <a:buFont typeface="Arial"/>
                        <a:buChar char="•"/>
                      </a:pPr>
                      <a:r>
                        <a:rPr lang="en-US" sz="800" b="0" dirty="0">
                          <a:effectLst/>
                          <a:latin typeface="Hyundai Sans Text KR"/>
                          <a:ea typeface="Hyundai Sans Text KR"/>
                        </a:rPr>
                        <a:t>Inconsistent data formats across suppliers, lack of data reliability</a:t>
                      </a:r>
                    </a:p>
                    <a:p>
                      <a:pPr marL="171450" lvl="0" indent="-171450" algn="l">
                        <a:buFont typeface="Arial"/>
                        <a:buChar char="•"/>
                      </a:pPr>
                      <a:r>
                        <a:rPr lang="en-US" sz="800" b="0" dirty="0">
                          <a:effectLst/>
                          <a:latin typeface="Hyundai Sans Text KR"/>
                          <a:ea typeface="Hyundai Sans Text KR"/>
                        </a:rPr>
                        <a:t>Increased data complexity due to multiple vehicle models and options</a:t>
                      </a:r>
                    </a:p>
                    <a:p>
                      <a:pPr marL="171450" indent="-171450" algn="l">
                        <a:buFont typeface="Arial"/>
                        <a:buChar char="•"/>
                      </a:pPr>
                      <a:r>
                        <a:rPr lang="en-US" sz="800" b="0" dirty="0">
                          <a:effectLst/>
                          <a:latin typeface="Hyundai Sans Text KR"/>
                          <a:ea typeface="Hyundai Sans Text KR"/>
                        </a:rPr>
                        <a:t>Requirement for processing large-scale real-time data</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6956695"/>
                  </a:ext>
                </a:extLst>
              </a:tr>
              <a:tr h="1825172">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sz="800" b="1" dirty="0">
                          <a:solidFill>
                            <a:schemeClr val="tx1"/>
                          </a:solidFill>
                          <a:effectLst/>
                          <a:latin typeface="Hyundai Sans Text KR" panose="020B0600000101010101" pitchFamily="34" charset="-127"/>
                          <a:ea typeface="Hyundai Sans Text KR" panose="020B0600000101010101" pitchFamily="34" charset="-127"/>
                        </a:rPr>
                        <a:t>[Establishing VIN-Based Digital Thread]</a:t>
                      </a:r>
                      <a:r>
                        <a:rPr lang="en-US" sz="800" dirty="0">
                          <a:solidFill>
                            <a:schemeClr val="tx1"/>
                          </a:solidFill>
                          <a:effectLst/>
                          <a:latin typeface="Hyundai Sans Text KR" panose="020B0600000101010101" pitchFamily="34" charset="-127"/>
                          <a:ea typeface="Hyundai Sans Text KR" panose="020B0600000101010101" pitchFamily="34" charset="-127"/>
                        </a:rPr>
                        <a:t> Data integration across </a:t>
                      </a:r>
                    </a:p>
                    <a:p>
                      <a:pPr algn="l">
                        <a:buNone/>
                      </a:pPr>
                      <a:r>
                        <a:rPr lang="en-US" sz="800" dirty="0">
                          <a:solidFill>
                            <a:schemeClr val="tx1"/>
                          </a:solidFill>
                          <a:effectLst/>
                          <a:latin typeface="Hyundai Sans Text KR" panose="020B0600000101010101" pitchFamily="34" charset="-127"/>
                          <a:ea typeface="Hyundai Sans Text KR" panose="020B0600000101010101" pitchFamily="34" charset="-127"/>
                        </a:rPr>
                        <a:t>connection layers by VIN</a:t>
                      </a:r>
                    </a:p>
                    <a:p>
                      <a:pPr algn="l">
                        <a:buNone/>
                      </a:pPr>
                      <a:r>
                        <a:rPr lang="en-US" sz="800" dirty="0">
                          <a:solidFill>
                            <a:schemeClr val="tx1"/>
                          </a:solidFill>
                          <a:effectLst/>
                          <a:latin typeface="Hyundai Sans Text KR" panose="020B0600000101010101" pitchFamily="34" charset="-127"/>
                          <a:ea typeface="Hyundai Sans Text KR" panose="020B0600000101010101" pitchFamily="34" charset="-127"/>
                        </a:rPr>
                        <a:t>(Integrating process data into vehicle-unit quality data)</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Critical quality process parameters -&gt; SPC (CPK) (Within work </a:t>
                      </a:r>
                    </a:p>
                    <a:p>
                      <a:pPr algn="l">
                        <a:buNone/>
                      </a:pPr>
                      <a:r>
                        <a:rPr lang="en-US" sz="800" dirty="0">
                          <a:solidFill>
                            <a:schemeClr val="tx1"/>
                          </a:solidFill>
                          <a:effectLst/>
                          <a:latin typeface="Hyundai Sans Text KR" panose="020B0600000101010101" pitchFamily="34" charset="-127"/>
                          <a:ea typeface="Hyundai Sans Text KR" panose="020B0600000101010101" pitchFamily="34" charset="-127"/>
                        </a:rPr>
                        <a:t>    instruction)</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FMEA</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Field claims</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Q-DB (Global Counter measure, root causes ..</a:t>
                      </a:r>
                      <a:r>
                        <a:rPr lang="en-US" sz="800" dirty="0" err="1">
                          <a:solidFill>
                            <a:schemeClr val="tx1"/>
                          </a:solidFill>
                          <a:effectLst/>
                          <a:latin typeface="Hyundai Sans Text KR" panose="020B0600000101010101" pitchFamily="34" charset="-127"/>
                          <a:ea typeface="Hyundai Sans Text KR" panose="020B0600000101010101" pitchFamily="34" charset="-127"/>
                        </a:rPr>
                        <a:t>etc</a:t>
                      </a:r>
                      <a:r>
                        <a:rPr lang="en-US" sz="800" dirty="0">
                          <a:solidFill>
                            <a:schemeClr val="tx1"/>
                          </a:solidFill>
                          <a:effectLst/>
                          <a:latin typeface="Hyundai Sans Text KR" panose="020B0600000101010101" pitchFamily="34" charset="-127"/>
                          <a:ea typeface="Hyundai Sans Text KR" panose="020B0600000101010101" pitchFamily="34" charset="-127"/>
                        </a:rPr>
                        <a:t>)</a:t>
                      </a:r>
                    </a:p>
                    <a:p>
                      <a:pPr algn="l">
                        <a:buNone/>
                      </a:pPr>
                      <a:r>
                        <a:rPr lang="en-US" sz="800" b="1" dirty="0">
                          <a:solidFill>
                            <a:schemeClr val="tx1"/>
                          </a:solidFill>
                          <a:effectLst/>
                          <a:latin typeface="Hyundai Sans Text KR" panose="020B0600000101010101" pitchFamily="34" charset="-127"/>
                          <a:ea typeface="Hyundai Sans Text KR" panose="020B0600000101010101" pitchFamily="34" charset="-127"/>
                        </a:rPr>
                        <a:t>[Metrics Definition] </a:t>
                      </a:r>
                    </a:p>
                    <a:p>
                      <a:pPr algn="l">
                        <a:buNone/>
                      </a:pPr>
                      <a:r>
                        <a:rPr lang="en-US" sz="800" dirty="0">
                          <a:solidFill>
                            <a:schemeClr val="tx1"/>
                          </a:solidFill>
                          <a:effectLst/>
                          <a:latin typeface="Hyundai Sans Text KR" panose="020B0600000101010101" pitchFamily="34" charset="-127"/>
                          <a:ea typeface="Hyundai Sans Text KR" panose="020B0600000101010101" pitchFamily="34" charset="-127"/>
                        </a:rPr>
                        <a:t> - Monitoring Critical quality process </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Monitoring KPI target metrics</a:t>
                      </a:r>
                    </a:p>
                    <a:p>
                      <a:pPr algn="l">
                        <a:buNone/>
                      </a:pPr>
                      <a:r>
                        <a:rPr lang="en-US" sz="800" b="1" dirty="0">
                          <a:solidFill>
                            <a:schemeClr val="tx1"/>
                          </a:solidFill>
                          <a:effectLst/>
                          <a:latin typeface="Hyundai Sans Text KR" panose="020B0600000101010101" pitchFamily="34" charset="-127"/>
                          <a:ea typeface="Hyundai Sans Text KR" panose="020B0600000101010101" pitchFamily="34" charset="-127"/>
                        </a:rPr>
                        <a:t>[Quality Data Standardization]</a:t>
                      </a:r>
                      <a:r>
                        <a:rPr lang="en-US" sz="800" dirty="0">
                          <a:solidFill>
                            <a:schemeClr val="tx1"/>
                          </a:solidFill>
                          <a:effectLst/>
                          <a:latin typeface="Hyundai Sans Text KR" panose="020B0600000101010101" pitchFamily="34" charset="-127"/>
                          <a:ea typeface="Hyundai Sans Text KR" panose="020B0600000101010101" pitchFamily="34" charset="-127"/>
                        </a:rPr>
                        <a:t> Requirement for standard </a:t>
                      </a:r>
                    </a:p>
                    <a:p>
                      <a:pPr algn="l">
                        <a:buNone/>
                      </a:pPr>
                      <a:r>
                        <a:rPr lang="en-US" sz="800" dirty="0">
                          <a:solidFill>
                            <a:schemeClr val="tx1"/>
                          </a:solidFill>
                          <a:effectLst/>
                          <a:latin typeface="Hyundai Sans Text KR" panose="020B0600000101010101" pitchFamily="34" charset="-127"/>
                          <a:ea typeface="Hyundai Sans Text KR" panose="020B0600000101010101" pitchFamily="34" charset="-127"/>
                        </a:rPr>
                        <a:t> coding of defect information data for each process</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gn="l">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Single Data Model</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a:t>
                      </a:r>
                    </a:p>
                    <a:p>
                      <a:pPr marL="0" lvl="0" indent="0" algn="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to support VIN-Based Digital Thread and track and trace</a:t>
                      </a:r>
                    </a:p>
                    <a:p>
                      <a:pPr marL="0" lvl="0" indent="0" algn="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Knowledge Graph Master Data Management (MDM) &amp; Data </a:t>
                      </a:r>
                    </a:p>
                    <a:p>
                      <a:pPr marL="0" lvl="0" indent="0" algn="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standardization for Quality</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Unified defect classification (VDR, Press, BIW, Paint, Assembly, Market)</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Equipment master data (capability, calibration status)</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BOM, Production plan, Car, Work order, etc..</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Process specification database (tolerance, parts, quality process parameters, equipment) </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Data Lakehouse </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7150" lvl="0" indent="-57150" algn="l">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[Establishing VIN-Based Digital Thread]</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Data integration across </a:t>
                      </a:r>
                    </a:p>
                    <a:p>
                      <a:pPr marL="57150" lvl="0" indent="-57150" algn="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connection layers by VIN (Integrating process data into vehicle</a:t>
                      </a:r>
                    </a:p>
                    <a:p>
                      <a:pPr marL="57150" lvl="0" indent="-57150" algn="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unit quality data)</a:t>
                      </a:r>
                    </a:p>
                    <a:p>
                      <a:pPr marL="57150" lvl="0" indent="-57150" algn="l">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Critical quality process parameters -&gt; SPC (CPK) (Within work instruction)</a:t>
                      </a:r>
                    </a:p>
                    <a:p>
                      <a:pPr marL="57150" lvl="0" indent="-57150" algn="l">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FMEA</a:t>
                      </a:r>
                    </a:p>
                    <a:p>
                      <a:pPr marL="57150" lvl="0" indent="-57150" algn="l">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Field claims</a:t>
                      </a:r>
                    </a:p>
                    <a:p>
                      <a:pPr marL="57150" lvl="0" indent="-57150" algn="l">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Q-DB (Global Counter measure, root causes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etc</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a:t>
                      </a:r>
                    </a:p>
                    <a:p>
                      <a:pPr marL="57150" lvl="0" indent="-57150" algn="l">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[Metrics Definition] </a:t>
                      </a:r>
                      <a:endPar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endParaRPr>
                    </a:p>
                    <a:p>
                      <a:pPr marL="57150" lvl="0" indent="-57150" algn="l">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Monitoring Critical quality process </a:t>
                      </a:r>
                    </a:p>
                    <a:p>
                      <a:pPr marL="57150" lvl="0" indent="-57150" algn="l">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Monitoring KPI target metrics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a:buFont typeface="Arial"/>
                        <a:buChar char="•"/>
                      </a:pPr>
                      <a:r>
                        <a:rPr lang="en-US" sz="800" b="0" kern="1200" dirty="0">
                          <a:solidFill>
                            <a:schemeClr val="tx1"/>
                          </a:solidFill>
                          <a:effectLst/>
                          <a:latin typeface="Hyundai Sans Text KR"/>
                          <a:ea typeface="Hyundai Sans Text KR"/>
                          <a:cs typeface="+mn-cs"/>
                        </a:rPr>
                        <a:t>Non-standardization of quality data structures </a:t>
                      </a:r>
                    </a:p>
                    <a:p>
                      <a:pPr marL="171450" indent="-171450" algn="l">
                        <a:buFont typeface="Arial"/>
                        <a:buChar char="•"/>
                      </a:pPr>
                      <a:r>
                        <a:rPr lang="en-US" sz="800" b="0" kern="1200" dirty="0">
                          <a:solidFill>
                            <a:schemeClr val="tx1"/>
                          </a:solidFill>
                          <a:effectLst/>
                          <a:latin typeface="Hyundai Sans Text KR"/>
                          <a:ea typeface="Hyundai Sans Text KR"/>
                          <a:cs typeface="+mn-cs"/>
                        </a:rPr>
                        <a:t>Data disconnection / data loss between processes</a:t>
                      </a:r>
                    </a:p>
                    <a:p>
                      <a:pPr marL="171450" indent="-171450" algn="l">
                        <a:buFont typeface="Arial"/>
                        <a:buChar char="•"/>
                      </a:pPr>
                      <a:r>
                        <a:rPr lang="en-US" sz="800" b="0" kern="1200" dirty="0">
                          <a:solidFill>
                            <a:schemeClr val="tx1"/>
                          </a:solidFill>
                          <a:effectLst/>
                          <a:latin typeface="Hyundai Sans Text KR"/>
                          <a:ea typeface="Hyundai Sans Text KR"/>
                          <a:cs typeface="+mn-cs"/>
                        </a:rPr>
                        <a:t>Securing sufficient data related to quality defects and their causes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333179"/>
                  </a:ext>
                </a:extLst>
              </a:tr>
            </a:tbl>
          </a:graphicData>
        </a:graphic>
      </p:graphicFrame>
    </p:spTree>
    <p:extLst>
      <p:ext uri="{BB962C8B-B14F-4D97-AF65-F5344CB8AC3E}">
        <p14:creationId xmlns:p14="http://schemas.microsoft.com/office/powerpoint/2010/main" val="1229517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298E7-5577-EF11-7E80-858306A09F0E}"/>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C8A55010-8AC8-CF9E-CA03-13B904A74A62}"/>
              </a:ext>
            </a:extLst>
          </p:cNvPr>
          <p:cNvSpPr>
            <a:spLocks noGrp="1"/>
          </p:cNvSpPr>
          <p:nvPr>
            <p:ph type="ctrTitle"/>
          </p:nvPr>
        </p:nvSpPr>
        <p:spPr>
          <a:xfrm>
            <a:off x="273050" y="179388"/>
            <a:ext cx="9632950"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⑤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quality defect analysis and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724EABE2-4A2B-A6A2-ADBF-FE9BD680EDA5}"/>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00863985-C435-939D-B3AE-EAD7106B0B6B}"/>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FAC856B2-4EDD-D452-5750-DD7FCF815E02}"/>
              </a:ext>
            </a:extLst>
          </p:cNvPr>
          <p:cNvSpPr txBox="1"/>
          <p:nvPr/>
        </p:nvSpPr>
        <p:spPr>
          <a:xfrm>
            <a:off x="249128" y="819109"/>
            <a:ext cx="945130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quality defect cause analysis and response </a:t>
            </a:r>
            <a:r>
              <a:rPr kumimoji="0" lang="en-US" altLang="ko-KR" sz="11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SG" altLang="ko-KR" sz="11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4D1A60DA-43A1-2D05-6690-B3C0CF42F724}"/>
              </a:ext>
            </a:extLst>
          </p:cNvPr>
          <p:cNvSpPr>
            <a:spLocks noChangeArrowheads="1"/>
          </p:cNvSpPr>
          <p:nvPr/>
        </p:nvSpPr>
        <p:spPr bwMode="auto">
          <a:xfrm>
            <a:off x="386602" y="1043658"/>
            <a:ext cx="9502922" cy="646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Establish an unmanned quality control system that integrates data from VDR inbound, logistic to final assembly,</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autonomously diagnosing root causes (Part/Logistic/Equipment/Worker) of defects, and executing actions such as equipment parameter correction</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and automated engineering ticket issuance.</a:t>
            </a:r>
          </a:p>
        </p:txBody>
      </p:sp>
      <p:graphicFrame>
        <p:nvGraphicFramePr>
          <p:cNvPr id="9" name="표 8">
            <a:extLst>
              <a:ext uri="{FF2B5EF4-FFF2-40B4-BE49-F238E27FC236}">
                <a16:creationId xmlns:a16="http://schemas.microsoft.com/office/drawing/2014/main" id="{ECF894E5-7782-D336-82C0-EDF0A7E9452E}"/>
              </a:ext>
            </a:extLst>
          </p:cNvPr>
          <p:cNvGraphicFramePr>
            <a:graphicFrameLocks noGrp="1"/>
          </p:cNvGraphicFramePr>
          <p:nvPr/>
        </p:nvGraphicFramePr>
        <p:xfrm>
          <a:off x="259976" y="1710995"/>
          <a:ext cx="12369600" cy="5023180"/>
        </p:xfrm>
        <a:graphic>
          <a:graphicData uri="http://schemas.openxmlformats.org/drawingml/2006/table">
            <a:tbl>
              <a:tblPr/>
              <a:tblGrid>
                <a:gridCol w="724190">
                  <a:extLst>
                    <a:ext uri="{9D8B030D-6E8A-4147-A177-3AD203B41FA5}">
                      <a16:colId xmlns:a16="http://schemas.microsoft.com/office/drawing/2014/main" val="3515855418"/>
                    </a:ext>
                  </a:extLst>
                </a:gridCol>
                <a:gridCol w="2945370">
                  <a:extLst>
                    <a:ext uri="{9D8B030D-6E8A-4147-A177-3AD203B41FA5}">
                      <a16:colId xmlns:a16="http://schemas.microsoft.com/office/drawing/2014/main" val="2891931337"/>
                    </a:ext>
                  </a:extLst>
                </a:gridCol>
                <a:gridCol w="2945370">
                  <a:extLst>
                    <a:ext uri="{9D8B030D-6E8A-4147-A177-3AD203B41FA5}">
                      <a16:colId xmlns:a16="http://schemas.microsoft.com/office/drawing/2014/main" val="3002806275"/>
                    </a:ext>
                  </a:extLst>
                </a:gridCol>
                <a:gridCol w="2945370">
                  <a:extLst>
                    <a:ext uri="{9D8B030D-6E8A-4147-A177-3AD203B41FA5}">
                      <a16:colId xmlns:a16="http://schemas.microsoft.com/office/drawing/2014/main" val="2343065846"/>
                    </a:ext>
                  </a:extLst>
                </a:gridCol>
                <a:gridCol w="171449">
                  <a:extLst>
                    <a:ext uri="{9D8B030D-6E8A-4147-A177-3AD203B41FA5}">
                      <a16:colId xmlns:a16="http://schemas.microsoft.com/office/drawing/2014/main" val="3952207524"/>
                    </a:ext>
                  </a:extLst>
                </a:gridCol>
                <a:gridCol w="2637851">
                  <a:extLst>
                    <a:ext uri="{9D8B030D-6E8A-4147-A177-3AD203B41FA5}">
                      <a16:colId xmlns:a16="http://schemas.microsoft.com/office/drawing/2014/main" val="3458429665"/>
                    </a:ext>
                  </a:extLst>
                </a:gridCol>
              </a:tblGrid>
              <a:tr h="161512">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sz="90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2292761">
                <a:tc>
                  <a:txBody>
                    <a:bodyPr/>
                    <a:lstStyle/>
                    <a:p>
                      <a:pPr indent="0" algn="ctr">
                        <a:lnSpc>
                          <a:spcPct val="120000"/>
                        </a:lnSpc>
                        <a:spcBef>
                          <a:spcPts val="0"/>
                        </a:spcBef>
                        <a:spcAft>
                          <a:spcPts val="0"/>
                        </a:spcAft>
                        <a:buNone/>
                      </a:pP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Decision</a:t>
                      </a:r>
                      <a:endPar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a:ea typeface="Hyundai Sans Text KR"/>
                        </a:rPr>
                        <a:t>[</a:t>
                      </a:r>
                      <a:r>
                        <a:rPr lang="en-US" sz="800" b="1" dirty="0">
                          <a:effectLst/>
                          <a:latin typeface="현대산스 Text" panose="020B0600000101010101" pitchFamily="50" charset="-127"/>
                          <a:ea typeface="현대산스 Text" panose="020B0600000101010101" pitchFamily="50" charset="-127"/>
                        </a:rPr>
                        <a:t>Multivariate Root Cause Analysis (RCA)]</a:t>
                      </a:r>
                      <a:r>
                        <a:rPr lang="en-US" sz="800" dirty="0">
                          <a:effectLst/>
                          <a:latin typeface="현대산스 Text" panose="020B0600000101010101" pitchFamily="50" charset="-127"/>
                          <a:ea typeface="현대산스 Text" panose="020B0600000101010101" pitchFamily="50" charset="-127"/>
                        </a:rPr>
                        <a:t> In the event of a defect, AI traces back the real cause among the 5 major factors (e.g., "Assembly Gap defect  = 70%</a:t>
                      </a:r>
                    </a:p>
                    <a:p>
                      <a:pPr algn="l" latinLnBrk="0">
                        <a:buNone/>
                      </a:pPr>
                      <a:r>
                        <a:rPr lang="en-US" sz="800" dirty="0">
                          <a:effectLst/>
                          <a:latin typeface="현대산스 Text" panose="020B0600000101010101" pitchFamily="50" charset="-127"/>
                          <a:ea typeface="현대산스 Text" panose="020B0600000101010101" pitchFamily="50" charset="-127"/>
                        </a:rPr>
                        <a:t>Moving mounting error 70% + 30% Body welding distortion") </a:t>
                      </a:r>
                    </a:p>
                    <a:p>
                      <a:pPr algn="l" latinLnBrk="0">
                        <a:buNone/>
                      </a:pPr>
                      <a:r>
                        <a:rPr lang="en-US" sz="800" dirty="0">
                          <a:solidFill>
                            <a:srgbClr val="0000FF"/>
                          </a:solidFill>
                          <a:effectLst/>
                          <a:latin typeface="현대산스 Text" panose="020B0600000101010101" pitchFamily="50" charset="-127"/>
                          <a:ea typeface="현대산스 Text" panose="020B0600000101010101" pitchFamily="50" charset="-127"/>
                        </a:rPr>
                        <a:t>(FMEA + Field)</a:t>
                      </a:r>
                      <a:br>
                        <a:rPr lang="en-US" sz="800" dirty="0">
                          <a:effectLst/>
                          <a:latin typeface="현대산스 Text" panose="020B0600000101010101" pitchFamily="50" charset="-127"/>
                          <a:ea typeface="현대산스 Text" panose="020B0600000101010101" pitchFamily="50" charset="-127"/>
                        </a:rPr>
                      </a:br>
                      <a:r>
                        <a:rPr lang="en-US" sz="800" b="1" dirty="0">
                          <a:effectLst/>
                          <a:latin typeface="현대산스 Text" panose="020B0600000101010101" pitchFamily="50" charset="-127"/>
                          <a:ea typeface="현대산스 Text" panose="020B0600000101010101" pitchFamily="50" charset="-127"/>
                        </a:rPr>
                        <a:t>[Cause-specific Autonomous Countermeasure Generation]</a:t>
                      </a:r>
                      <a:br>
                        <a:rPr lang="en-US" sz="800" dirty="0">
                          <a:effectLst/>
                          <a:latin typeface="현대산스 Text" panose="020B0600000101010101" pitchFamily="50" charset="-127"/>
                          <a:ea typeface="현대산스 Text" panose="020B0600000101010101" pitchFamily="50" charset="-127"/>
                        </a:rPr>
                      </a:br>
                      <a:r>
                        <a:rPr lang="en-US" sz="800" dirty="0">
                          <a:effectLst/>
                          <a:latin typeface="현대산스 Text" panose="020B0600000101010101" pitchFamily="50" charset="-127"/>
                          <a:ea typeface="현대산스 Text" panose="020B0600000101010101" pitchFamily="50" charset="-127"/>
                        </a:rPr>
                        <a:t> </a:t>
                      </a:r>
                      <a:r>
                        <a:rPr lang="en-US" sz="800" kern="1200" dirty="0">
                          <a:solidFill>
                            <a:schemeClr val="tx1"/>
                          </a:solidFill>
                          <a:effectLst/>
                          <a:latin typeface="현대산스 Text" panose="020B0600000101010101" pitchFamily="50" charset="-127"/>
                          <a:ea typeface="현대산스 Text" panose="020B0600000101010101" pitchFamily="50" charset="-127"/>
                          <a:cs typeface="+mn-cs"/>
                        </a:rPr>
                        <a:t>① Equipment / worker issue  : Calculation of correction values ​​</a:t>
                      </a:r>
                    </a:p>
                    <a:p>
                      <a:pPr algn="l" latinLnBrk="0">
                        <a:buNone/>
                      </a:pPr>
                      <a:r>
                        <a:rPr lang="en-US" sz="800" kern="1200" dirty="0">
                          <a:solidFill>
                            <a:schemeClr val="tx1"/>
                          </a:solidFill>
                          <a:effectLst/>
                          <a:latin typeface="현대산스 Text" panose="020B0600000101010101" pitchFamily="50" charset="-127"/>
                          <a:ea typeface="현대산스 Text" panose="020B0600000101010101" pitchFamily="50" charset="-127"/>
                          <a:cs typeface="+mn-cs"/>
                        </a:rPr>
                        <a:t>      for moving mounting robots, countermeasures for worker </a:t>
                      </a:r>
                    </a:p>
                    <a:p>
                      <a:pPr algn="l" latinLnBrk="0">
                        <a:buNone/>
                      </a:pPr>
                      <a:r>
                        <a:rPr lang="en-US" sz="800" kern="1200" dirty="0">
                          <a:solidFill>
                            <a:schemeClr val="tx1"/>
                          </a:solidFill>
                          <a:effectLst/>
                          <a:latin typeface="현대산스 Text" panose="020B0600000101010101" pitchFamily="50" charset="-127"/>
                          <a:ea typeface="현대산스 Text" panose="020B0600000101010101" pitchFamily="50" charset="-127"/>
                          <a:cs typeface="+mn-cs"/>
                        </a:rPr>
                        <a:t>      assembly defects, etc.</a:t>
                      </a:r>
                      <a:br>
                        <a:rPr lang="en-US" sz="800" kern="1200" dirty="0">
                          <a:solidFill>
                            <a:schemeClr val="tx1"/>
                          </a:solidFill>
                          <a:effectLst/>
                          <a:latin typeface="현대산스 Text" panose="020B0600000101010101" pitchFamily="50" charset="-127"/>
                          <a:ea typeface="현대산스 Text" panose="020B0600000101010101" pitchFamily="50" charset="-127"/>
                          <a:cs typeface="+mn-cs"/>
                        </a:rPr>
                      </a:br>
                      <a:r>
                        <a:rPr lang="en-US" sz="800" kern="1200" dirty="0">
                          <a:solidFill>
                            <a:schemeClr val="tx1"/>
                          </a:solidFill>
                          <a:effectLst/>
                          <a:latin typeface="현대산스 Text" panose="020B0600000101010101" pitchFamily="50" charset="-127"/>
                          <a:ea typeface="현대산스 Text" panose="020B0600000101010101" pitchFamily="50" charset="-127"/>
                          <a:cs typeface="+mn-cs"/>
                        </a:rPr>
                        <a:t> ② Part:  Hold usage of the VDR Lot</a:t>
                      </a:r>
                      <a:br>
                        <a:rPr lang="en-US" sz="800" dirty="0">
                          <a:effectLst/>
                          <a:latin typeface="현대산스 Text" panose="020B0600000101010101" pitchFamily="50" charset="-127"/>
                          <a:ea typeface="현대산스 Text" panose="020B0600000101010101" pitchFamily="50" charset="-127"/>
                        </a:rPr>
                      </a:br>
                      <a:endParaRPr lang="en-US" sz="800" strike="sngStrike" dirty="0">
                        <a:effectLst/>
                        <a:latin typeface="현대산스 Text" panose="020B0600000101010101" pitchFamily="50" charset="-127"/>
                        <a:ea typeface="현대산스 Text" panose="020B0600000101010101" pitchFamily="50"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Production/Quality Knowledge Graph: Mapping Defect ➔  </a:t>
                      </a:r>
                    </a:p>
                    <a:p>
                      <a:pPr marL="0" lvl="0" indent="0" algn="l">
                        <a:buClr>
                          <a:srgbClr val="000000"/>
                        </a:buClr>
                        <a:buFont typeface="Arial,Sans-Serif"/>
                        <a:buNone/>
                      </a:pPr>
                      <a:r>
                        <a:rPr lang="en-US" sz="800" b="0" i="0" u="none" strike="noStrike" noProof="0" dirty="0">
                          <a:solidFill>
                            <a:srgbClr val="000000"/>
                          </a:solidFill>
                          <a:effectLst/>
                          <a:latin typeface="Hyundai Sans Text KR"/>
                          <a:ea typeface="Hyundai Sans Text KR"/>
                        </a:rPr>
                        <a:t>  Cause ➔ Action</a:t>
                      </a:r>
                    </a:p>
                    <a:p>
                      <a:pPr marL="57150" marR="0" lvl="0" indent="-57150" algn="l">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Kafka (Event streaming)</a:t>
                      </a:r>
                      <a:endParaRPr lang="en-US" sz="800" b="0" i="0" u="none" strike="noStrike" noProof="0" dirty="0">
                        <a:solidFill>
                          <a:srgbClr val="000000"/>
                        </a:solidFill>
                        <a:effectLst/>
                        <a:latin typeface="Hyundai Sans Text KR"/>
                        <a:ea typeface="Hyundai Sans Text KR"/>
                      </a:endParaRPr>
                    </a:p>
                    <a:p>
                      <a:pPr marL="57150" marR="0" lvl="0" indent="-57150" algn="l">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a:ea typeface="Hyundai Sans Text KR"/>
                        </a:rPr>
                        <a:t>QMS / MES Integration </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a:ea typeface="Hyundai Sans Text KR"/>
                        </a:rPr>
                        <a:t>OPC UA/ MQTT Integration for equipment </a:t>
                      </a:r>
                      <a:endParaRPr lang="en-US" sz="800" b="0" i="0" u="none" strike="noStrike" noProof="0" dirty="0">
                        <a:solidFill>
                          <a:srgbClr val="000000"/>
                        </a:solidFill>
                        <a:effectLst/>
                        <a:latin typeface="Hyundai Sans Text KR"/>
                        <a:ea typeface="Hyundai Sans Text KR"/>
                      </a:endParaRPr>
                    </a:p>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AI Agent (Real-time parameter control)</a:t>
                      </a:r>
                    </a:p>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Anomaly Detection Engine</a:t>
                      </a:r>
                    </a:p>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Root Cause Correlation Engine</a:t>
                      </a:r>
                    </a:p>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Confidence Scoring &amp; Evidence Ranking</a:t>
                      </a:r>
                    </a:p>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Multivariate correlation analysis (RCA)</a:t>
                      </a:r>
                    </a:p>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Complex Event Processing (CEP)</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1" i="0" u="none" strike="noStrike" noProof="0">
                          <a:solidFill>
                            <a:srgbClr val="000000"/>
                          </a:solidFill>
                          <a:effectLst/>
                          <a:latin typeface="Hyundai Sans Text KR"/>
                          <a:ea typeface="Hyundai Sans Text KR"/>
                        </a:rPr>
                        <a:t>[Multivariate Quality RCA with HITL Validation]</a:t>
                      </a:r>
                      <a:r>
                        <a:rPr lang="en-US" sz="800" b="0" i="0" u="none" strike="noStrike" noProof="0">
                          <a:solidFill>
                            <a:srgbClr val="000000"/>
                          </a:solidFill>
                          <a:effectLst/>
                          <a:latin typeface="Hyundai Sans Text KR"/>
                          <a:ea typeface="Hyundai Sans Text KR"/>
                        </a:rPr>
                        <a:t> For a quality </a:t>
                      </a:r>
                    </a:p>
                    <a:p>
                      <a:pPr lvl="0" algn="l" latinLnBrk="0">
                        <a:buNone/>
                      </a:pPr>
                      <a:r>
                        <a:rPr lang="en-US" sz="800" b="0" i="0" u="none" strike="noStrike" noProof="0">
                          <a:solidFill>
                            <a:srgbClr val="000000"/>
                          </a:solidFill>
                          <a:effectLst/>
                          <a:latin typeface="Hyundai Sans Text KR"/>
                          <a:ea typeface="Hyundai Sans Text KR"/>
                        </a:rPr>
                        <a:t>defect, AI traces back the real cause among the 5 major factors </a:t>
                      </a:r>
                    </a:p>
                    <a:p>
                      <a:pPr lvl="0" algn="l" latinLnBrk="0">
                        <a:buNone/>
                      </a:pPr>
                      <a:r>
                        <a:rPr lang="en-US" sz="800" b="0" i="0" u="none" strike="noStrike" noProof="0">
                          <a:solidFill>
                            <a:srgbClr val="000000"/>
                          </a:solidFill>
                          <a:effectLst/>
                          <a:latin typeface="Hyundai Sans Text KR"/>
                          <a:ea typeface="Hyundai Sans Text KR"/>
                        </a:rPr>
                        <a:t>(e.g., "Assembly Gap defect = 70% </a:t>
                      </a:r>
                    </a:p>
                    <a:p>
                      <a:pPr lvl="0" algn="l" latinLnBrk="0">
                        <a:buNone/>
                      </a:pPr>
                      <a:r>
                        <a:rPr lang="en-US" sz="800" b="0" i="0" u="none" strike="noStrike" noProof="0">
                          <a:solidFill>
                            <a:srgbClr val="000000"/>
                          </a:solidFill>
                          <a:effectLst/>
                          <a:latin typeface="Hyundai Sans Text KR"/>
                          <a:ea typeface="Hyundai Sans Text KR"/>
                        </a:rPr>
                        <a:t>Press outer panel dimension error + 30% Body welding </a:t>
                      </a:r>
                    </a:p>
                    <a:p>
                      <a:pPr lvl="0" algn="l" latinLnBrk="0">
                        <a:buNone/>
                      </a:pPr>
                      <a:r>
                        <a:rPr lang="en-US" sz="800" b="0" i="0" u="none" strike="noStrike" noProof="0">
                          <a:solidFill>
                            <a:srgbClr val="000000"/>
                          </a:solidFill>
                          <a:effectLst/>
                          <a:latin typeface="Hyundai Sans Text KR"/>
                          <a:ea typeface="Hyundai Sans Text KR"/>
                        </a:rPr>
                        <a:t>distortion")</a:t>
                      </a:r>
                      <a:br>
                        <a:rPr lang="en-US" sz="800" b="0" i="0" u="none" strike="noStrike" noProof="0">
                          <a:solidFill>
                            <a:srgbClr val="000000"/>
                          </a:solidFill>
                          <a:effectLst/>
                          <a:latin typeface="Hyundai Sans Text KR"/>
                          <a:ea typeface="Hyundai Sans Text KR"/>
                        </a:rPr>
                      </a:br>
                      <a:r>
                        <a:rPr lang="en-US" sz="800" b="0" i="0" u="none" strike="noStrike" noProof="0">
                          <a:solidFill>
                            <a:srgbClr val="000000"/>
                          </a:solidFill>
                          <a:effectLst/>
                          <a:latin typeface="Hyundai Sans Text KR"/>
                          <a:ea typeface="Hyundai Sans Text KR"/>
                        </a:rPr>
                        <a:t>-&gt; General recommendation verified by SME</a:t>
                      </a:r>
                    </a:p>
                    <a:p>
                      <a:pPr lvl="0" algn="l" latinLnBrk="0">
                        <a:buNone/>
                      </a:pPr>
                      <a:endParaRPr lang="en-US" sz="800" b="0" i="0" u="none" strike="noStrike" noProof="0">
                        <a:solidFill>
                          <a:srgbClr val="000000"/>
                        </a:solidFill>
                        <a:effectLst/>
                        <a:latin typeface="Hyundai Sans Text KR"/>
                        <a:ea typeface="Hyundai Sans Text KR"/>
                      </a:endParaRPr>
                    </a:p>
                    <a:p>
                      <a:pPr lvl="0" algn="l" latinLnBrk="0">
                        <a:buNone/>
                      </a:pPr>
                      <a:r>
                        <a:rPr lang="en-US" sz="800" b="1" i="0" u="none" strike="noStrike" noProof="0">
                          <a:solidFill>
                            <a:srgbClr val="000000"/>
                          </a:solidFill>
                          <a:effectLst/>
                          <a:latin typeface="Hyundai Sans Text KR"/>
                          <a:ea typeface="Hyundai Sans Text KR"/>
                        </a:rPr>
                        <a:t>[Real-Time Anomaly Detection &amp; Early Warning] </a:t>
                      </a:r>
                    </a:p>
                    <a:p>
                      <a:pPr lvl="0" algn="l" latinLnBrk="0">
                        <a:buNone/>
                      </a:pPr>
                      <a:r>
                        <a:rPr lang="en-US" sz="800" b="0" i="0" u="none" strike="noStrike" noProof="0">
                          <a:solidFill>
                            <a:srgbClr val="000000"/>
                          </a:solidFill>
                          <a:effectLst/>
                          <a:latin typeface="Hyundai Sans Text KR"/>
                          <a:ea typeface="Hyundai Sans Text KR"/>
                        </a:rPr>
                        <a:t>Baseline Quality Anomaly Detection: establish statistical baselines and detect anomalies in real-time</a:t>
                      </a:r>
                    </a:p>
                    <a:p>
                      <a:pPr lvl="0" algn="l" latinLnBrk="0">
                        <a:buNone/>
                      </a:pPr>
                      <a:r>
                        <a:rPr lang="en-US" sz="800" b="0" i="0" u="none" strike="noStrike" noProof="0">
                          <a:solidFill>
                            <a:srgbClr val="000000"/>
                          </a:solidFill>
                          <a:effectLst/>
                          <a:latin typeface="Hyundai Sans Text KR"/>
                          <a:ea typeface="Hyundai Sans Text KR"/>
                        </a:rPr>
                        <a:t>Predictive Defect Probability Scoring : Score incoming products with defect risk before they move to next process</a:t>
                      </a:r>
                    </a:p>
                    <a:p>
                      <a:pPr lvl="0" algn="l" latinLnBrk="0">
                        <a:buNone/>
                      </a:pPr>
                      <a:endParaRPr lang="en-US" sz="800" b="0" i="0" u="none" strike="noStrike" noProof="0">
                        <a:solidFill>
                          <a:srgbClr val="000000"/>
                        </a:solidFill>
                        <a:effectLst/>
                        <a:latin typeface="Hyundai Sans Text KR"/>
                        <a:ea typeface="Hyundai Sans Text KR"/>
                      </a:endParaRPr>
                    </a:p>
                    <a:p>
                      <a:pPr lvl="0" algn="l" latinLnBrk="0">
                        <a:buNone/>
                      </a:pPr>
                      <a:r>
                        <a:rPr lang="en-US" sz="800" b="1" i="0" u="none" strike="noStrike" noProof="0">
                          <a:solidFill>
                            <a:srgbClr val="000000"/>
                          </a:solidFill>
                          <a:effectLst/>
                          <a:latin typeface="Hyundai Sans Text KR"/>
                          <a:ea typeface="Hyundai Sans Text KR"/>
                        </a:rPr>
                        <a:t>[Root Cause Correlation Engine] </a:t>
                      </a:r>
                    </a:p>
                    <a:p>
                      <a:pPr lvl="0" algn="l" latinLnBrk="0">
                        <a:buNone/>
                      </a:pPr>
                      <a:r>
                        <a:rPr lang="en-US" sz="800" b="0" i="0" u="none" strike="noStrike" noProof="0">
                          <a:solidFill>
                            <a:srgbClr val="000000"/>
                          </a:solidFill>
                          <a:effectLst/>
                          <a:latin typeface="Hyundai Sans Text KR"/>
                          <a:ea typeface="Hyundai Sans Text KR"/>
                        </a:rPr>
                        <a:t>Cross-Process Correlation Analysis: Map defects detected in Assembly back to Press, BIW, Paint stages using VIN traceability</a:t>
                      </a:r>
                      <a:endParaRPr lang="en-US" sz="800">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sz="800" b="0" dirty="0">
                          <a:effectLst/>
                          <a:latin typeface="Hyundai Sans Text KR"/>
                          <a:ea typeface="Hyundai Sans Text KR"/>
                        </a:rPr>
                        <a:t>• Limitations of AI clearly identifying the cause of</a:t>
                      </a:r>
                    </a:p>
                    <a:p>
                      <a:pPr algn="l">
                        <a:buNone/>
                      </a:pPr>
                      <a:r>
                        <a:rPr lang="en-US" sz="800" b="0" dirty="0">
                          <a:effectLst/>
                          <a:latin typeface="Hyundai Sans Text KR"/>
                          <a:ea typeface="Hyundai Sans Text KR"/>
                        </a:rPr>
                        <a:t>    defects</a:t>
                      </a:r>
                    </a:p>
                    <a:p>
                      <a:pPr algn="l">
                        <a:buNone/>
                      </a:pPr>
                      <a:r>
                        <a:rPr lang="en-US" sz="800" b="0" dirty="0">
                          <a:effectLst/>
                          <a:latin typeface="Hyundai Sans Text KR"/>
                          <a:ea typeface="Hyundai Sans Text KR"/>
                        </a:rPr>
                        <a:t>• Possibility of errors in countermeasures when the</a:t>
                      </a:r>
                    </a:p>
                    <a:p>
                      <a:pPr algn="l">
                        <a:buNone/>
                      </a:pPr>
                      <a:r>
                        <a:rPr lang="en-US" sz="800" b="0" dirty="0">
                          <a:effectLst/>
                          <a:latin typeface="Hyundai Sans Text KR"/>
                          <a:ea typeface="Hyundai Sans Text KR"/>
                        </a:rPr>
                        <a:t>   causes of quality defects are complex</a:t>
                      </a:r>
                    </a:p>
                    <a:p>
                      <a:pPr algn="l">
                        <a:buNone/>
                      </a:pPr>
                      <a:r>
                        <a:rPr lang="en-US" sz="800" b="0" dirty="0">
                          <a:effectLst/>
                          <a:latin typeface="Hyundai Sans Text KR"/>
                          <a:ea typeface="Hyundai Sans Text KR"/>
                        </a:rPr>
                        <a:t>• Model consistency when training data on quality</a:t>
                      </a:r>
                    </a:p>
                    <a:p>
                      <a:pPr algn="l">
                        <a:buNone/>
                      </a:pPr>
                      <a:r>
                        <a:rPr lang="en-US" sz="800" b="0" dirty="0">
                          <a:effectLst/>
                          <a:latin typeface="Hyundai Sans Text KR"/>
                          <a:ea typeface="Hyundai Sans Text KR"/>
                        </a:rPr>
                        <a:t>   defects and causes is insufficient</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61364911"/>
                  </a:ext>
                </a:extLst>
              </a:tr>
              <a:tr h="2568907">
                <a:tc>
                  <a:txBody>
                    <a:bodyPr/>
                    <a:lstStyle/>
                    <a:p>
                      <a:pPr indent="0" algn="ctr">
                        <a:lnSpc>
                          <a:spcPct val="120000"/>
                        </a:lnSpc>
                        <a:spcBef>
                          <a:spcPts val="0"/>
                        </a:spcBef>
                        <a:spcAft>
                          <a:spcPts val="0"/>
                        </a:spcAft>
                        <a:buNone/>
                      </a:pPr>
                      <a:r>
                        <a:rPr lang="en-US" sz="900" b="1" i="0" kern="1200" dirty="0">
                          <a:solidFill>
                            <a:schemeClr val="tx1"/>
                          </a:solidFill>
                          <a:effectLst/>
                          <a:latin typeface="현대산스 Text" panose="020B0600000101010101" pitchFamily="50" charset="-127"/>
                          <a:ea typeface="현대산스 Text"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a:ea typeface="Hyundai Sans Text KR"/>
                        </a:rPr>
                        <a:t>[Autonomous Equipment Parameter Correction]</a:t>
                      </a:r>
                      <a:r>
                        <a:rPr lang="en-US" sz="800" dirty="0">
                          <a:effectLst/>
                          <a:latin typeface="Hyundai Sans Text KR"/>
                          <a:ea typeface="Hyundai Sans Text KR"/>
                        </a:rPr>
                        <a:t> </a:t>
                      </a:r>
                    </a:p>
                    <a:p>
                      <a:pPr algn="l" latinLnBrk="0">
                        <a:buNone/>
                      </a:pPr>
                      <a:r>
                        <a:rPr lang="en-US" sz="800" dirty="0">
                          <a:effectLst/>
                          <a:latin typeface="Hyundai Sans Text KR"/>
                          <a:ea typeface="Hyundai Sans Text KR"/>
                        </a:rPr>
                        <a:t>Automatically reflecting AI-derived offset values into press </a:t>
                      </a:r>
                    </a:p>
                    <a:p>
                      <a:pPr algn="l" latinLnBrk="0">
                        <a:buNone/>
                      </a:pPr>
                      <a:r>
                        <a:rPr lang="en-US" sz="800" dirty="0">
                          <a:effectLst/>
                          <a:latin typeface="Hyundai Sans Text KR"/>
                          <a:ea typeface="Hyundai Sans Text KR"/>
                        </a:rPr>
                        <a:t>pressure, welding robot trajectory, and painting robot injection amount in real-time via edge controllers </a:t>
                      </a:r>
                    </a:p>
                    <a:p>
                      <a:pPr algn="l" latinLnBrk="0">
                        <a:buNone/>
                      </a:pPr>
                      <a:r>
                        <a:rPr lang="en-US" sz="800" dirty="0">
                          <a:effectLst/>
                          <a:latin typeface="Hyundai Sans Text KR"/>
                          <a:ea typeface="Hyundai Sans Text KR"/>
                        </a:rPr>
                        <a:t>(S/W Action)</a:t>
                      </a:r>
                      <a:br>
                        <a:rPr lang="en-US" sz="800" dirty="0">
                          <a:effectLst/>
                          <a:latin typeface="Hyundai Sans Text KR"/>
                          <a:ea typeface="Hyundai Sans Text KR"/>
                        </a:rPr>
                      </a:br>
                      <a:r>
                        <a:rPr lang="en-US" sz="800" b="1" dirty="0">
                          <a:effectLst/>
                          <a:latin typeface="Hyundai Sans Text KR"/>
                          <a:ea typeface="Hyundai Sans Text KR"/>
                        </a:rPr>
                        <a:t>[Autonomous Production Part Control]</a:t>
                      </a:r>
                      <a:r>
                        <a:rPr lang="en-US" sz="800" dirty="0">
                          <a:effectLst/>
                          <a:latin typeface="Hyundai Sans Text KR"/>
                          <a:ea typeface="Hyundai Sans Text KR"/>
                        </a:rPr>
                        <a:t> </a:t>
                      </a:r>
                    </a:p>
                    <a:p>
                      <a:pPr algn="l" latinLnBrk="0">
                        <a:buNone/>
                      </a:pPr>
                      <a:r>
                        <a:rPr lang="en-US" sz="800" dirty="0">
                          <a:effectLst/>
                          <a:latin typeface="Hyundai Sans Text KR"/>
                          <a:ea typeface="Hyundai Sans Text KR"/>
                        </a:rPr>
                        <a:t>If the cause is an inbound part, integrating with WMS/MES to </a:t>
                      </a:r>
                    </a:p>
                    <a:p>
                      <a:pPr algn="l" latinLnBrk="0">
                        <a:buNone/>
                      </a:pPr>
                      <a:r>
                        <a:rPr lang="en-US" sz="800" dirty="0">
                          <a:effectLst/>
                          <a:latin typeface="Hyundai Sans Text KR"/>
                          <a:ea typeface="Hyundai Sans Text KR"/>
                        </a:rPr>
                        <a:t>immediately block the Lot from entering the line and </a:t>
                      </a:r>
                    </a:p>
                    <a:p>
                      <a:pPr algn="l" latinLnBrk="0">
                        <a:buNone/>
                      </a:pPr>
                      <a:r>
                        <a:rPr lang="en-US" sz="800" dirty="0">
                          <a:effectLst/>
                          <a:latin typeface="Hyundai Sans Text KR"/>
                          <a:ea typeface="Hyundai Sans Text KR"/>
                        </a:rPr>
                        <a:t>auto-sending a Quality Claim to the VDR</a:t>
                      </a:r>
                      <a:br>
                        <a:rPr lang="en-US" sz="800" dirty="0">
                          <a:effectLst/>
                          <a:latin typeface="Hyundai Sans Text KR"/>
                          <a:ea typeface="Hyundai Sans Text KR"/>
                        </a:rPr>
                      </a:br>
                      <a:r>
                        <a:rPr lang="en-US" sz="800" b="1" dirty="0">
                          <a:effectLst/>
                          <a:latin typeface="Hyundai Sans Text KR"/>
                          <a:ea typeface="Hyundai Sans Text KR"/>
                        </a:rPr>
                        <a:t>[Automated Engineering Ticket Issuance]</a:t>
                      </a:r>
                      <a:r>
                        <a:rPr lang="en-US" sz="800" dirty="0">
                          <a:effectLst/>
                          <a:latin typeface="Hyundai Sans Text KR"/>
                          <a:ea typeface="Hyundai Sans Text KR"/>
                        </a:rPr>
                        <a:t> </a:t>
                      </a:r>
                    </a:p>
                    <a:p>
                      <a:pPr algn="l" latinLnBrk="0">
                        <a:buNone/>
                      </a:pPr>
                      <a:r>
                        <a:rPr lang="en-US" sz="800" dirty="0">
                          <a:effectLst/>
                          <a:latin typeface="Hyundai Sans Text KR"/>
                          <a:ea typeface="Hyundai Sans Text KR"/>
                        </a:rPr>
                        <a:t>If a quality issue is determined to be due to worker </a:t>
                      </a:r>
                    </a:p>
                    <a:p>
                      <a:pPr algn="l" latinLnBrk="0">
                        <a:buNone/>
                      </a:pPr>
                      <a:r>
                        <a:rPr lang="en-US" sz="800" dirty="0">
                          <a:effectLst/>
                          <a:latin typeface="Hyundai Sans Text KR"/>
                          <a:ea typeface="Hyundai Sans Text KR"/>
                        </a:rPr>
                        <a:t>non-compliance with standards, a work order (Ticket) is </a:t>
                      </a:r>
                    </a:p>
                    <a:p>
                      <a:pPr algn="l" latinLnBrk="0">
                        <a:buNone/>
                      </a:pPr>
                      <a:r>
                        <a:rPr lang="en-US" sz="800" dirty="0">
                          <a:effectLst/>
                          <a:latin typeface="Hyundai Sans Text KR"/>
                          <a:ea typeface="Hyundai Sans Text KR"/>
                        </a:rPr>
                        <a:t>automatically issued to the site manager with an attached 'RCA Report'.</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Production/Quality Knowledge Graph: Mapping Defect ➔  </a:t>
                      </a:r>
                    </a:p>
                    <a:p>
                      <a:pPr marL="0" lvl="0" indent="0" algn="l">
                        <a:buClr>
                          <a:srgbClr val="000000"/>
                        </a:buClr>
                        <a:buFont typeface="Arial,Sans-Serif"/>
                        <a:buNone/>
                      </a:pPr>
                      <a:r>
                        <a:rPr lang="en-US" sz="800" b="0" i="0" u="none" strike="noStrike" noProof="0" dirty="0">
                          <a:solidFill>
                            <a:srgbClr val="000000"/>
                          </a:solidFill>
                          <a:effectLst/>
                          <a:latin typeface="Hyundai Sans Text KR"/>
                          <a:ea typeface="Hyundai Sans Text KR"/>
                        </a:rPr>
                        <a:t>  Cause ➔ Action</a:t>
                      </a:r>
                    </a:p>
                    <a:p>
                      <a:pPr marL="57150" marR="0" lvl="0" indent="-57150" algn="l">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Kafka (Event streaming)</a:t>
                      </a:r>
                    </a:p>
                    <a:p>
                      <a:pPr marL="57150" marR="0" lvl="0" indent="-57150" algn="l">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a:ea typeface="Hyundai Sans Text KR"/>
                        </a:rPr>
                        <a:t>QMS / MES Integration </a:t>
                      </a:r>
                    </a:p>
                    <a:p>
                      <a:pPr marL="57150" lvl="0" indent="-57150" algn="l">
                        <a:buClr>
                          <a:srgbClr val="000000"/>
                        </a:buClr>
                        <a:buFont typeface="Arial,Sans-Serif"/>
                        <a:buChar char="•"/>
                      </a:pPr>
                      <a:r>
                        <a:rPr lang="en-US" sz="800" b="0" i="0" u="none" strike="noStrike" noProof="0" dirty="0">
                          <a:solidFill>
                            <a:schemeClr val="tx1"/>
                          </a:solidFill>
                          <a:effectLst/>
                          <a:latin typeface="Hyundai Sans Text KR"/>
                          <a:ea typeface="Hyundai Sans Text KR"/>
                        </a:rPr>
                        <a:t>OPC UA/ MQTT Integration for equipment </a:t>
                      </a:r>
                      <a:endParaRPr lang="en-US" sz="800" b="0" i="0" u="none" strike="noStrike" noProof="0" dirty="0">
                        <a:solidFill>
                          <a:srgbClr val="000000"/>
                        </a:solidFill>
                        <a:effectLst/>
                        <a:latin typeface="Hyundai Sans Text KR"/>
                        <a:ea typeface="Hyundai Sans Text KR"/>
                      </a:endParaRPr>
                    </a:p>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AI Agent (Real-time parameter control)</a:t>
                      </a:r>
                    </a:p>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AI Agent (Automated  ticket issuance)</a:t>
                      </a:r>
                    </a:p>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Anomaly Detection Engine</a:t>
                      </a:r>
                    </a:p>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Root Cause Correlation Engine</a:t>
                      </a:r>
                    </a:p>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Confidence Scoring &amp; Evidence Ranking</a:t>
                      </a:r>
                    </a:p>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Multivariate correlation analysis (RCA)</a:t>
                      </a:r>
                    </a:p>
                    <a:p>
                      <a:pPr marL="57150" lvl="0" indent="-57150" algn="l">
                        <a:buClr>
                          <a:srgbClr val="000000"/>
                        </a:buClr>
                        <a:buFont typeface="Arial,Sans-Serif"/>
                        <a:buChar char="•"/>
                      </a:pPr>
                      <a:r>
                        <a:rPr lang="en-US" sz="800" b="0" i="0" u="none" strike="noStrike" noProof="0" dirty="0">
                          <a:solidFill>
                            <a:srgbClr val="000000"/>
                          </a:solidFill>
                          <a:effectLst/>
                          <a:latin typeface="Hyundai Sans Text KR"/>
                          <a:ea typeface="Hyundai Sans Text KR"/>
                        </a:rPr>
                        <a:t>Complex Event Processing (CEP)</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800" b="1" dirty="0">
                          <a:effectLst/>
                          <a:latin typeface="현대산스 Text" panose="020B0600000101010101" pitchFamily="50" charset="-127"/>
                          <a:ea typeface="현대산스 Text"/>
                        </a:rPr>
                        <a:t>[Quality Containment &amp; </a:t>
                      </a:r>
                      <a:r>
                        <a:rPr lang="en-US" sz="800" b="1" dirty="0">
                          <a:solidFill>
                            <a:srgbClr val="0000FF"/>
                          </a:solidFill>
                          <a:effectLst/>
                          <a:latin typeface="현대산스 Text" panose="020B0600000101010101" pitchFamily="50" charset="-127"/>
                          <a:ea typeface="현대산스 Text"/>
                        </a:rPr>
                        <a:t>Production</a:t>
                      </a:r>
                      <a:r>
                        <a:rPr lang="ko-KR" altLang="en-US" sz="800" b="1" dirty="0">
                          <a:solidFill>
                            <a:srgbClr val="0000FF"/>
                          </a:solidFill>
                          <a:effectLst/>
                          <a:latin typeface="현대산스 Text" panose="020B0600000101010101" pitchFamily="50" charset="-127"/>
                          <a:ea typeface="현대산스 Text"/>
                        </a:rPr>
                        <a:t> </a:t>
                      </a:r>
                      <a:r>
                        <a:rPr lang="en-US" sz="800" b="1" dirty="0">
                          <a:effectLst/>
                          <a:latin typeface="현대산스 Text" panose="020B0600000101010101" pitchFamily="50" charset="-127"/>
                          <a:ea typeface="현대산스 Text"/>
                        </a:rPr>
                        <a:t>RCA Automation]</a:t>
                      </a:r>
                      <a:br>
                        <a:rPr lang="en-US" sz="800" dirty="0">
                          <a:effectLst/>
                          <a:latin typeface="현대산스 Text" panose="020B0600000101010101" pitchFamily="50" charset="-127"/>
                          <a:ea typeface="현대산스 Text"/>
                        </a:rPr>
                      </a:br>
                      <a:r>
                        <a:rPr lang="en-US" sz="800" dirty="0">
                          <a:effectLst/>
                          <a:latin typeface="현대산스 Text" panose="020B0600000101010101" pitchFamily="50" charset="-127"/>
                          <a:ea typeface="현대산스 Text"/>
                        </a:rPr>
                        <a:t> </a:t>
                      </a:r>
                      <a:r>
                        <a:rPr lang="en-US" sz="800" kern="1200" dirty="0">
                          <a:solidFill>
                            <a:schemeClr val="tx1"/>
                          </a:solidFill>
                          <a:effectLst/>
                          <a:latin typeface="현대산스 Text" panose="020B0600000101010101" pitchFamily="50" charset="-127"/>
                          <a:ea typeface="현대산스 Text"/>
                          <a:cs typeface="+mn-cs"/>
                        </a:rPr>
                        <a:t>① Equipment / </a:t>
                      </a:r>
                      <a:r>
                        <a:rPr lang="en-US" sz="800" kern="1200" dirty="0">
                          <a:solidFill>
                            <a:srgbClr val="0000FF"/>
                          </a:solidFill>
                          <a:effectLst/>
                          <a:latin typeface="현대산스 Text" panose="020B0600000101010101" pitchFamily="50" charset="-127"/>
                          <a:ea typeface="현대산스 Text"/>
                          <a:cs typeface="+mn-cs"/>
                        </a:rPr>
                        <a:t>worker issue  </a:t>
                      </a:r>
                      <a:r>
                        <a:rPr lang="en-US" sz="800" kern="1200" dirty="0">
                          <a:solidFill>
                            <a:schemeClr val="tx1"/>
                          </a:solidFill>
                          <a:effectLst/>
                          <a:latin typeface="현대산스 Text" panose="020B0600000101010101" pitchFamily="50" charset="-127"/>
                          <a:ea typeface="현대산스 Text"/>
                          <a:cs typeface="+mn-cs"/>
                        </a:rPr>
                        <a:t>: Calculate offset values for robot sealing trajectory, Worker assembly defects, </a:t>
                      </a:r>
                      <a:r>
                        <a:rPr lang="en-US" sz="800" kern="1200" dirty="0" err="1">
                          <a:solidFill>
                            <a:schemeClr val="tx1"/>
                          </a:solidFill>
                          <a:effectLst/>
                          <a:latin typeface="현대산스 Text" panose="020B0600000101010101" pitchFamily="50" charset="-127"/>
                          <a:ea typeface="현대산스 Text"/>
                          <a:cs typeface="+mn-cs"/>
                        </a:rPr>
                        <a:t>etc</a:t>
                      </a:r>
                      <a:br>
                        <a:rPr lang="en-US" sz="800" kern="1200" dirty="0">
                          <a:solidFill>
                            <a:srgbClr val="000000"/>
                          </a:solidFill>
                          <a:effectLst/>
                          <a:latin typeface="현대산스 Text" panose="020B0600000101010101" pitchFamily="50" charset="-127"/>
                          <a:ea typeface="현대산스 Text"/>
                          <a:cs typeface="+mn-cs"/>
                        </a:rPr>
                      </a:br>
                      <a:r>
                        <a:rPr lang="en-US" sz="800" kern="1200" dirty="0">
                          <a:solidFill>
                            <a:schemeClr val="tx1"/>
                          </a:solidFill>
                          <a:effectLst/>
                          <a:latin typeface="현대산스 Text" panose="020B0600000101010101" pitchFamily="50" charset="-127"/>
                          <a:ea typeface="현대산스 Text"/>
                          <a:cs typeface="+mn-cs"/>
                        </a:rPr>
                        <a:t> ② Part:  Hold usage of the VDR Lot </a:t>
                      </a:r>
                      <a:r>
                        <a:rPr lang="en-US" sz="800" kern="1200" dirty="0">
                          <a:solidFill>
                            <a:srgbClr val="0000FF"/>
                          </a:solidFill>
                          <a:effectLst/>
                          <a:latin typeface="현대산스 Text" panose="020B0600000101010101" pitchFamily="50" charset="-127"/>
                          <a:ea typeface="현대산스 Text"/>
                          <a:cs typeface="+mn-cs"/>
                        </a:rPr>
                        <a:t>(Part block)</a:t>
                      </a:r>
                      <a:br>
                        <a:rPr lang="en-US" sz="800" kern="1200" dirty="0">
                          <a:solidFill>
                            <a:srgbClr val="000000"/>
                          </a:solidFill>
                          <a:effectLst/>
                          <a:latin typeface="현대산스 Text" panose="020B0600000101010101" pitchFamily="50" charset="-127"/>
                          <a:ea typeface="현대산스 Text"/>
                          <a:cs typeface="+mn-cs"/>
                        </a:rPr>
                      </a:br>
                      <a:r>
                        <a:rPr lang="en-US" sz="800" b="1" strike="noStrike" dirty="0">
                          <a:effectLst/>
                          <a:latin typeface="현대산스 Text" panose="020B0600000101010101" pitchFamily="50" charset="-127"/>
                          <a:ea typeface="현대산스 Text"/>
                        </a:rPr>
                        <a:t>[Adaptive Equipment Parameter Correction]</a:t>
                      </a:r>
                      <a:r>
                        <a:rPr lang="en-US" sz="800" strike="noStrike" dirty="0">
                          <a:effectLst/>
                          <a:latin typeface="현대산스 Text" panose="020B0600000101010101" pitchFamily="50" charset="-127"/>
                          <a:ea typeface="현대산스 Text"/>
                        </a:rPr>
                        <a:t> </a:t>
                      </a:r>
                    </a:p>
                    <a:p>
                      <a:pPr algn="l" latinLnBrk="0">
                        <a:buNone/>
                      </a:pPr>
                      <a:r>
                        <a:rPr lang="en-US" sz="800" strike="noStrike" dirty="0">
                          <a:effectLst/>
                          <a:latin typeface="현대산스 Text" panose="020B0600000101010101" pitchFamily="50" charset="-127"/>
                          <a:ea typeface="현대산스 Text"/>
                        </a:rPr>
                        <a:t>Automatically reflecting AI-derived offset values into sealing </a:t>
                      </a:r>
                    </a:p>
                    <a:p>
                      <a:pPr algn="l" latinLnBrk="0">
                        <a:buNone/>
                      </a:pPr>
                      <a:r>
                        <a:rPr lang="en-US" sz="800" strike="noStrike" dirty="0">
                          <a:effectLst/>
                          <a:latin typeface="현대산스 Text" panose="020B0600000101010101" pitchFamily="50" charset="-127"/>
                          <a:ea typeface="현대산스 Text"/>
                        </a:rPr>
                        <a:t>robot trajectory </a:t>
                      </a:r>
                      <a:r>
                        <a:rPr lang="en-US" sz="800" strike="noStrike" dirty="0" err="1">
                          <a:effectLst/>
                          <a:latin typeface="현대산스 Text" panose="020B0600000101010101" pitchFamily="50" charset="-127"/>
                          <a:ea typeface="현대산스 Text"/>
                        </a:rPr>
                        <a:t>etc</a:t>
                      </a:r>
                      <a:r>
                        <a:rPr lang="en-US" sz="800" strike="noStrike" dirty="0">
                          <a:effectLst/>
                          <a:latin typeface="현대산스 Text" panose="020B0600000101010101" pitchFamily="50" charset="-127"/>
                          <a:ea typeface="현대산스 Text"/>
                        </a:rPr>
                        <a:t> in real-time via edge controllers  </a:t>
                      </a:r>
                    </a:p>
                    <a:p>
                      <a:pPr algn="l" latinLnBrk="0">
                        <a:buNone/>
                      </a:pPr>
                      <a:r>
                        <a:rPr lang="en-US" sz="800" strike="noStrike" dirty="0">
                          <a:effectLst/>
                          <a:latin typeface="현대산스 Text" panose="020B0600000101010101" pitchFamily="50" charset="-127"/>
                          <a:ea typeface="현대산스 Text"/>
                        </a:rPr>
                        <a:t>(S/W Action)</a:t>
                      </a:r>
                    </a:p>
                    <a:p>
                      <a:pPr algn="l" latinLnBrk="0">
                        <a:buNone/>
                      </a:pPr>
                      <a:r>
                        <a:rPr lang="en-US" sz="800" b="1" strike="noStrike" dirty="0">
                          <a:effectLst/>
                          <a:latin typeface="현대산스 Text" panose="020B0600000101010101" pitchFamily="50" charset="-127"/>
                          <a:ea typeface="현대산스 Text"/>
                        </a:rPr>
                        <a:t>[Autonomous Production Part Quality Control]</a:t>
                      </a:r>
                      <a:r>
                        <a:rPr lang="en-US" sz="800" strike="noStrike" dirty="0">
                          <a:effectLst/>
                          <a:latin typeface="현대산스 Text" panose="020B0600000101010101" pitchFamily="50" charset="-127"/>
                          <a:ea typeface="현대산스 Text"/>
                        </a:rPr>
                        <a:t> If the cause is an </a:t>
                      </a:r>
                    </a:p>
                    <a:p>
                      <a:pPr algn="l" latinLnBrk="0">
                        <a:buNone/>
                      </a:pPr>
                      <a:r>
                        <a:rPr lang="en-US" sz="800" strike="noStrike" dirty="0">
                          <a:effectLst/>
                          <a:latin typeface="현대산스 Text" panose="020B0600000101010101" pitchFamily="50" charset="-127"/>
                          <a:ea typeface="현대산스 Text"/>
                        </a:rPr>
                        <a:t>inbound part, integrating with </a:t>
                      </a:r>
                      <a:r>
                        <a:rPr lang="en-US" sz="800" strike="noStrike" dirty="0">
                          <a:effectLst/>
                          <a:latin typeface="현대산스 Text" panose="020B0600000101010101" pitchFamily="50" charset="-127"/>
                          <a:ea typeface="현대산스 Text" panose="020B0600000101010101" pitchFamily="50" charset="-127"/>
                        </a:rPr>
                        <a:t>WMS/MES to immediately block </a:t>
                      </a:r>
                    </a:p>
                    <a:p>
                      <a:pPr algn="l" latinLnBrk="0">
                        <a:buNone/>
                      </a:pPr>
                      <a:r>
                        <a:rPr lang="en-US" sz="800" strike="noStrike" dirty="0">
                          <a:effectLst/>
                          <a:latin typeface="현대산스 Text" panose="020B0600000101010101" pitchFamily="50" charset="-127"/>
                          <a:ea typeface="현대산스 Text" panose="020B0600000101010101" pitchFamily="50" charset="-127"/>
                        </a:rPr>
                        <a:t>the Lot from entering the line and auto-sending </a:t>
                      </a:r>
                      <a:r>
                        <a:rPr lang="en-US" sz="800" strike="noStrike" dirty="0">
                          <a:effectLst/>
                          <a:latin typeface="현대산스 Text" panose="020B0600000101010101" pitchFamily="50" charset="-127"/>
                          <a:ea typeface="현대산스 Text"/>
                        </a:rPr>
                        <a:t>a Quality Claim </a:t>
                      </a:r>
                    </a:p>
                    <a:p>
                      <a:pPr algn="l" latinLnBrk="0">
                        <a:buNone/>
                      </a:pPr>
                      <a:r>
                        <a:rPr lang="en-US" sz="800" strike="noStrike" dirty="0">
                          <a:effectLst/>
                          <a:latin typeface="현대산스 Text" panose="020B0600000101010101" pitchFamily="50" charset="-127"/>
                          <a:ea typeface="현대산스 Text"/>
                        </a:rPr>
                        <a:t>to the vendor</a:t>
                      </a:r>
                    </a:p>
                    <a:p>
                      <a:pPr algn="l" latinLnBrk="0">
                        <a:buNone/>
                      </a:pPr>
                      <a:r>
                        <a:rPr lang="en-US" sz="800" b="1" dirty="0">
                          <a:effectLst/>
                          <a:latin typeface="현대산스 Text" panose="020B0600000101010101" pitchFamily="50" charset="-127"/>
                          <a:ea typeface="현대산스 Text"/>
                        </a:rPr>
                        <a:t>[Adaptive Response Prioritization] </a:t>
                      </a:r>
                      <a:r>
                        <a:rPr lang="en-US" sz="800" dirty="0">
                          <a:effectLst/>
                          <a:latin typeface="현대산스 Text" panose="020B0600000101010101" pitchFamily="50" charset="-127"/>
                          <a:ea typeface="현대산스 Text"/>
                        </a:rPr>
                        <a:t>Cost-Benefit Analysis for </a:t>
                      </a:r>
                    </a:p>
                    <a:p>
                      <a:pPr algn="l" latinLnBrk="0">
                        <a:buNone/>
                      </a:pPr>
                      <a:r>
                        <a:rPr lang="en-US" sz="800" dirty="0">
                          <a:effectLst/>
                          <a:latin typeface="현대산스 Text" panose="020B0600000101010101" pitchFamily="50" charset="-127"/>
                          <a:ea typeface="현대산스 Text"/>
                        </a:rPr>
                        <a:t>Corrective Actions. Dynamic Resource Allocation </a:t>
                      </a:r>
                      <a:endParaRPr lang="en-US" sz="800" b="0" i="0" u="none" strike="noStrike" noProof="0" dirty="0">
                        <a:solidFill>
                          <a:srgbClr val="000000"/>
                        </a:solidFill>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sz="800" b="0" dirty="0">
                          <a:effectLst/>
                          <a:latin typeface="Hyundai Sans Text KR"/>
                          <a:ea typeface="Hyundai Sans Text KR"/>
                        </a:rPr>
                        <a:t>• Liability issues regarding safety accidents and </a:t>
                      </a:r>
                    </a:p>
                    <a:p>
                      <a:pPr algn="l">
                        <a:buNone/>
                      </a:pPr>
                      <a:r>
                        <a:rPr lang="en-US" sz="800" b="0" dirty="0">
                          <a:effectLst/>
                          <a:latin typeface="Hyundai Sans Text KR"/>
                          <a:ea typeface="Hyundai Sans Text KR"/>
                        </a:rPr>
                        <a:t>   massive line-stop risks that may occur when AI </a:t>
                      </a:r>
                    </a:p>
                    <a:p>
                      <a:pPr algn="l">
                        <a:buNone/>
                      </a:pPr>
                      <a:r>
                        <a:rPr lang="en-US" sz="800" b="0" dirty="0">
                          <a:effectLst/>
                          <a:latin typeface="Hyundai Sans Text KR"/>
                          <a:ea typeface="Hyundai Sans Text KR"/>
                        </a:rPr>
                        <a:t>   autonomously changes equipment parameters</a:t>
                      </a:r>
                      <a:br>
                        <a:rPr lang="en-US" sz="800" b="0" dirty="0">
                          <a:effectLst/>
                          <a:latin typeface="Hyundai Sans Text KR"/>
                          <a:ea typeface="Hyundai Sans Text KR"/>
                        </a:rPr>
                      </a:br>
                      <a:r>
                        <a:rPr lang="en-US" sz="800" b="0" dirty="0">
                          <a:effectLst/>
                          <a:latin typeface="Hyundai Sans Text KR"/>
                          <a:ea typeface="Hyundai Sans Text KR"/>
                        </a:rPr>
                        <a:t>• Potential contractual/legal disputes when </a:t>
                      </a:r>
                    </a:p>
                    <a:p>
                      <a:pPr algn="l">
                        <a:buNone/>
                      </a:pPr>
                      <a:r>
                        <a:rPr lang="en-US" sz="800" b="0" dirty="0">
                          <a:effectLst/>
                          <a:latin typeface="Hyundai Sans Text KR"/>
                          <a:ea typeface="Hyundai Sans Text KR"/>
                        </a:rPr>
                        <a:t>   automatically issuing claims to VDRs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8653458"/>
                  </a:ext>
                </a:extLst>
              </a:tr>
            </a:tbl>
          </a:graphicData>
        </a:graphic>
      </p:graphicFrame>
    </p:spTree>
    <p:extLst>
      <p:ext uri="{BB962C8B-B14F-4D97-AF65-F5344CB8AC3E}">
        <p14:creationId xmlns:p14="http://schemas.microsoft.com/office/powerpoint/2010/main" val="3521231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362FC-6695-CE2E-FCD0-659667E552F6}"/>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523D301D-3EA5-AB50-4B94-57CA681B7D2B}"/>
              </a:ext>
            </a:extLst>
          </p:cNvPr>
          <p:cNvSpPr>
            <a:spLocks noGrp="1"/>
          </p:cNvSpPr>
          <p:nvPr>
            <p:ph type="ctrTitle"/>
          </p:nvPr>
        </p:nvSpPr>
        <p:spPr>
          <a:xfrm>
            <a:off x="273050" y="179388"/>
            <a:ext cx="9632950"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⑤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quality defect analysis and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C6EE5C4C-817E-E2C1-11AC-52C1558560C0}"/>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CE1A2292-4CF4-ADE0-1228-6F17822BE855}"/>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4C39370-4F2B-37BA-FE7C-7BAF1564D2CA}"/>
              </a:ext>
            </a:extLst>
          </p:cNvPr>
          <p:cNvSpPr txBox="1"/>
          <p:nvPr/>
        </p:nvSpPr>
        <p:spPr>
          <a:xfrm>
            <a:off x="249128" y="819109"/>
            <a:ext cx="945130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quality defect cause analysis and response </a:t>
            </a:r>
            <a:r>
              <a:rPr kumimoji="0" lang="en-US" altLang="ko-KR" sz="11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SG" altLang="ko-KR" sz="11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Development items / Required technologies / Technical pain points</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D610762F-7378-21F1-9976-5AA3C252F73D}"/>
              </a:ext>
            </a:extLst>
          </p:cNvPr>
          <p:cNvSpPr>
            <a:spLocks noChangeArrowheads="1"/>
          </p:cNvSpPr>
          <p:nvPr/>
        </p:nvSpPr>
        <p:spPr bwMode="auto">
          <a:xfrm>
            <a:off x="386602" y="1043658"/>
            <a:ext cx="9502922" cy="646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Establish an unmanned quality control system that integrates data from VDR inbound, logistic to final assembly,</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autonomously diagnosing root causes (Part/Logistic/Equipment/Worker) of defects, and executing actions such as equipment parameter correction</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and automated engineering ticket issuance.</a:t>
            </a:r>
          </a:p>
        </p:txBody>
      </p:sp>
      <p:graphicFrame>
        <p:nvGraphicFramePr>
          <p:cNvPr id="9" name="표 8">
            <a:extLst>
              <a:ext uri="{FF2B5EF4-FFF2-40B4-BE49-F238E27FC236}">
                <a16:creationId xmlns:a16="http://schemas.microsoft.com/office/drawing/2014/main" id="{BF231B42-7671-0163-725F-94D1D629F0E5}"/>
              </a:ext>
            </a:extLst>
          </p:cNvPr>
          <p:cNvGraphicFramePr>
            <a:graphicFrameLocks noGrp="1"/>
          </p:cNvGraphicFramePr>
          <p:nvPr/>
        </p:nvGraphicFramePr>
        <p:xfrm>
          <a:off x="259976" y="1710995"/>
          <a:ext cx="12170149" cy="2137056"/>
        </p:xfrm>
        <a:graphic>
          <a:graphicData uri="http://schemas.openxmlformats.org/drawingml/2006/table">
            <a:tbl>
              <a:tblPr/>
              <a:tblGrid>
                <a:gridCol w="712513">
                  <a:extLst>
                    <a:ext uri="{9D8B030D-6E8A-4147-A177-3AD203B41FA5}">
                      <a16:colId xmlns:a16="http://schemas.microsoft.com/office/drawing/2014/main" val="3515855418"/>
                    </a:ext>
                  </a:extLst>
                </a:gridCol>
                <a:gridCol w="2961962">
                  <a:extLst>
                    <a:ext uri="{9D8B030D-6E8A-4147-A177-3AD203B41FA5}">
                      <a16:colId xmlns:a16="http://schemas.microsoft.com/office/drawing/2014/main" val="2891931337"/>
                    </a:ext>
                  </a:extLst>
                </a:gridCol>
                <a:gridCol w="2961962">
                  <a:extLst>
                    <a:ext uri="{9D8B030D-6E8A-4147-A177-3AD203B41FA5}">
                      <a16:colId xmlns:a16="http://schemas.microsoft.com/office/drawing/2014/main" val="3002806275"/>
                    </a:ext>
                  </a:extLst>
                </a:gridCol>
                <a:gridCol w="2961962">
                  <a:extLst>
                    <a:ext uri="{9D8B030D-6E8A-4147-A177-3AD203B41FA5}">
                      <a16:colId xmlns:a16="http://schemas.microsoft.com/office/drawing/2014/main" val="2343065846"/>
                    </a:ext>
                  </a:extLst>
                </a:gridCol>
                <a:gridCol w="152400">
                  <a:extLst>
                    <a:ext uri="{9D8B030D-6E8A-4147-A177-3AD203B41FA5}">
                      <a16:colId xmlns:a16="http://schemas.microsoft.com/office/drawing/2014/main" val="3952207524"/>
                    </a:ext>
                  </a:extLst>
                </a:gridCol>
                <a:gridCol w="2419350">
                  <a:extLst>
                    <a:ext uri="{9D8B030D-6E8A-4147-A177-3AD203B41FA5}">
                      <a16:colId xmlns:a16="http://schemas.microsoft.com/office/drawing/2014/main" val="3458429665"/>
                    </a:ext>
                  </a:extLst>
                </a:gridCol>
              </a:tblGrid>
              <a:tr h="151579">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sz="900" b="1" i="0" kern="120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982462">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sz="800" b="1" dirty="0">
                          <a:effectLst/>
                          <a:latin typeface="Hyundai Sans Text KR"/>
                          <a:ea typeface="현대산스 Text"/>
                        </a:rPr>
                        <a:t>[</a:t>
                      </a:r>
                      <a:r>
                        <a:rPr lang="en-US" sz="800" b="1" dirty="0">
                          <a:effectLst/>
                          <a:latin typeface="현대산스 Text" panose="020B0600000101010101" pitchFamily="50" charset="-127"/>
                          <a:ea typeface="현대산스 Text" panose="020B0600000101010101" pitchFamily="50" charset="-127"/>
                        </a:rPr>
                        <a:t>Autonomous Quality Knowledge Graph Expansion]</a:t>
                      </a:r>
                      <a:r>
                        <a:rPr lang="en-US" sz="800" dirty="0">
                          <a:effectLst/>
                          <a:latin typeface="현대산스 Text" panose="020B0600000101010101" pitchFamily="50" charset="-127"/>
                          <a:ea typeface="현대산스 Text" panose="020B0600000101010101" pitchFamily="50" charset="-127"/>
                        </a:rPr>
                        <a:t> </a:t>
                      </a:r>
                    </a:p>
                    <a:p>
                      <a:pPr algn="l">
                        <a:buNone/>
                      </a:pPr>
                      <a:r>
                        <a:rPr lang="en-US" sz="800" dirty="0">
                          <a:effectLst/>
                          <a:latin typeface="현대산스 Text" panose="020B0600000101010101" pitchFamily="50" charset="-127"/>
                          <a:ea typeface="현대산스 Text" panose="020B0600000101010101" pitchFamily="50" charset="-127"/>
                        </a:rPr>
                        <a:t>Automatically adding new causal nodes (e.g., "Part A dimension </a:t>
                      </a:r>
                    </a:p>
                    <a:p>
                      <a:pPr algn="l">
                        <a:buNone/>
                      </a:pPr>
                      <a:r>
                        <a:rPr lang="en-US" sz="800" dirty="0">
                          <a:effectLst/>
                          <a:latin typeface="현대산스 Text" panose="020B0600000101010101" pitchFamily="50" charset="-127"/>
                          <a:ea typeface="현대산스 Text" panose="020B0600000101010101" pitchFamily="50" charset="-127"/>
                        </a:rPr>
                        <a:t>error + Weld Temp B = Gap Defect C") to the </a:t>
                      </a:r>
                      <a:r>
                        <a:rPr lang="en-US" sz="800" dirty="0">
                          <a:effectLst/>
                          <a:latin typeface="현대산스 Text" panose="020B0600000101010101" pitchFamily="50" charset="-127"/>
                          <a:ea typeface="현대산스 Text"/>
                        </a:rPr>
                        <a:t>Knowledge Graph </a:t>
                      </a:r>
                    </a:p>
                    <a:p>
                      <a:pPr algn="l">
                        <a:buNone/>
                      </a:pPr>
                      <a:r>
                        <a:rPr lang="en-US" sz="800" dirty="0">
                          <a:effectLst/>
                          <a:latin typeface="현대산스 Text" panose="020B0600000101010101" pitchFamily="50" charset="-127"/>
                          <a:ea typeface="현대산스 Text"/>
                        </a:rPr>
                        <a:t>when new defect types and solutions are confirmed</a:t>
                      </a:r>
                      <a:br>
                        <a:rPr lang="en-US" sz="800" dirty="0">
                          <a:effectLst/>
                          <a:latin typeface="현대산스 Text" panose="020B0600000101010101" pitchFamily="50" charset="-127"/>
                          <a:ea typeface="현대산스 Text"/>
                        </a:rPr>
                      </a:br>
                      <a:r>
                        <a:rPr lang="en-US" sz="800" b="1" dirty="0">
                          <a:effectLst/>
                          <a:latin typeface="현대산스 Text" panose="020B0600000101010101" pitchFamily="50" charset="-127"/>
                          <a:ea typeface="현대산스 Text"/>
                        </a:rPr>
                        <a:t>[Evolution from Reactive to Predictive Quality]</a:t>
                      </a:r>
                      <a:r>
                        <a:rPr lang="en-US" sz="800" dirty="0">
                          <a:effectLst/>
                          <a:latin typeface="현대산스 Text" panose="020B0600000101010101" pitchFamily="50" charset="-127"/>
                          <a:ea typeface="현대산스 Text"/>
                        </a:rPr>
                        <a:t> </a:t>
                      </a:r>
                    </a:p>
                    <a:p>
                      <a:pPr algn="l">
                        <a:buNone/>
                      </a:pPr>
                      <a:r>
                        <a:rPr lang="en-US" sz="800" dirty="0">
                          <a:effectLst/>
                          <a:latin typeface="현대산스 Text" panose="020B0600000101010101" pitchFamily="50" charset="-127"/>
                          <a:ea typeface="현대산스 Text"/>
                        </a:rPr>
                        <a:t>Based on accumulated RCA data, it has </a:t>
                      </a:r>
                      <a:r>
                        <a:rPr lang="en-US" sz="800" dirty="0">
                          <a:effectLst/>
                          <a:latin typeface="현대산스 Text" panose="020B0600000101010101" pitchFamily="50" charset="-127"/>
                          <a:ea typeface="현대산스 Text" panose="020B0600000101010101" pitchFamily="50" charset="-127"/>
                        </a:rPr>
                        <a:t>been retrained into a </a:t>
                      </a:r>
                    </a:p>
                    <a:p>
                      <a:pPr algn="l">
                        <a:buNone/>
                      </a:pPr>
                      <a:r>
                        <a:rPr lang="en-US" sz="800" dirty="0">
                          <a:effectLst/>
                          <a:latin typeface="현대산스 Text" panose="020B0600000101010101" pitchFamily="50" charset="-127"/>
                          <a:ea typeface="현대산스 Text" panose="020B0600000101010101" pitchFamily="50" charset="-127"/>
                        </a:rPr>
                        <a:t>preventive model that warns of "expected watertightness failures during assembly line" by detecting only minute changes in paint sealing quality.</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gn="l">
                        <a:buClr>
                          <a:srgbClr val="000000"/>
                        </a:buClr>
                        <a:buFont typeface="Arial,Sans-Serif"/>
                        <a:buChar char="•"/>
                      </a:pPr>
                      <a:r>
                        <a:rPr lang="en-US" sz="800" b="0" i="0" u="none" strike="noStrike" noProof="0">
                          <a:solidFill>
                            <a:schemeClr val="tx1"/>
                          </a:solidFill>
                          <a:effectLst/>
                          <a:latin typeface="Hyundai Sans Text KR"/>
                          <a:ea typeface="현대산스 Text"/>
                        </a:rPr>
                        <a:t> MLOps Pipelines: (continuous model deployment/Mgm.)</a:t>
                      </a:r>
                      <a:endParaRPr lang="en-US" sz="800" b="0" i="0" u="none" strike="noStrike" noProof="0">
                        <a:solidFill>
                          <a:srgbClr val="000000"/>
                        </a:solidFill>
                        <a:effectLst/>
                        <a:latin typeface="Hyundai Sans Text KR"/>
                        <a:ea typeface="현대산스 Text"/>
                      </a:endParaRPr>
                    </a:p>
                    <a:p>
                      <a:pPr marL="0" lvl="0" indent="0" algn="l">
                        <a:buClr>
                          <a:srgbClr val="000000"/>
                        </a:buClr>
                        <a:buFont typeface="Arial,Sans-Serif"/>
                        <a:buChar char="•"/>
                      </a:pPr>
                      <a:r>
                        <a:rPr lang="en-US" sz="800" b="0" i="0" u="none" strike="noStrike" noProof="0">
                          <a:solidFill>
                            <a:schemeClr val="tx1"/>
                          </a:solidFill>
                          <a:effectLst/>
                          <a:latin typeface="Hyundai Sans Text KR"/>
                          <a:ea typeface="현대산스 Text"/>
                        </a:rPr>
                        <a:t> Predictive Quality Model</a:t>
                      </a:r>
                      <a:endParaRPr lang="en-US" sz="800" b="0" i="0" u="none" strike="noStrike" noProof="0">
                        <a:solidFill>
                          <a:srgbClr val="000000"/>
                        </a:solidFill>
                        <a:effectLst/>
                        <a:latin typeface="Hyundai Sans Text KR"/>
                        <a:ea typeface="현대산스 Text"/>
                      </a:endParaRPr>
                    </a:p>
                    <a:p>
                      <a:pPr marL="0" lvl="0" indent="0" algn="l">
                        <a:buClr>
                          <a:srgbClr val="000000"/>
                        </a:buClr>
                        <a:buFont typeface="Arial,Sans-Serif"/>
                        <a:buChar char="•"/>
                      </a:pPr>
                      <a:r>
                        <a:rPr lang="en-US" sz="800" b="0" i="0" u="none" strike="noStrike" noProof="0">
                          <a:solidFill>
                            <a:schemeClr val="tx1"/>
                          </a:solidFill>
                          <a:effectLst/>
                          <a:latin typeface="Hyundai Sans Text KR"/>
                          <a:ea typeface="현대산스 Text"/>
                        </a:rPr>
                        <a:t> KG Ontology Schema Registry</a:t>
                      </a:r>
                      <a:endParaRPr lang="en-US" sz="800" b="0" i="0" u="none" strike="noStrike" noProof="0">
                        <a:solidFill>
                          <a:srgbClr val="000000"/>
                        </a:solidFill>
                        <a:effectLst/>
                        <a:latin typeface="Hyundai Sans Text KR"/>
                        <a:ea typeface="현대산스 Text"/>
                      </a:endParaRP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1" i="0" u="none" strike="noStrike" noProof="0" dirty="0">
                          <a:solidFill>
                            <a:srgbClr val="000000"/>
                          </a:solidFill>
                          <a:effectLst/>
                          <a:latin typeface="Hyundai Sans Text KR"/>
                          <a:ea typeface="현대산스 Text"/>
                        </a:rPr>
                        <a:t>[RCA Outcomes Capture] </a:t>
                      </a:r>
                      <a:r>
                        <a:rPr lang="en-US" sz="800" b="0" i="0" u="none" strike="noStrike" noProof="0" dirty="0">
                          <a:solidFill>
                            <a:srgbClr val="000000"/>
                          </a:solidFill>
                          <a:effectLst/>
                          <a:latin typeface="Hyundai Sans Text KR"/>
                          <a:ea typeface="현대산스 Text"/>
                        </a:rPr>
                        <a:t>KG enrichments based on learnings </a:t>
                      </a:r>
                    </a:p>
                    <a:p>
                      <a:pPr lvl="0" algn="l" latinLnBrk="0">
                        <a:buNone/>
                      </a:pPr>
                      <a:r>
                        <a:rPr lang="en-US" sz="800" b="0" i="0" u="none" strike="noStrike" noProof="0" dirty="0">
                          <a:solidFill>
                            <a:srgbClr val="000000"/>
                          </a:solidFill>
                          <a:effectLst/>
                          <a:latin typeface="Hyundai Sans Text KR"/>
                          <a:ea typeface="현대산스 Text"/>
                        </a:rPr>
                        <a:t>from RCA </a:t>
                      </a:r>
                    </a:p>
                    <a:p>
                      <a:pPr lvl="0" algn="l" latinLnBrk="0">
                        <a:buNone/>
                      </a:pPr>
                      <a:r>
                        <a:rPr lang="en-US" sz="800" b="1" i="0" u="none" strike="noStrike" noProof="0" dirty="0">
                          <a:solidFill>
                            <a:srgbClr val="000000"/>
                          </a:solidFill>
                          <a:effectLst/>
                          <a:latin typeface="Hyundai Sans Text KR"/>
                          <a:ea typeface="현대산스 Text"/>
                        </a:rPr>
                        <a:t>[Evolution from Reactive to Predictive Quality]</a:t>
                      </a:r>
                      <a:r>
                        <a:rPr lang="en-US" sz="800" b="0" i="0" u="none" strike="noStrike" noProof="0" dirty="0">
                          <a:solidFill>
                            <a:srgbClr val="000000"/>
                          </a:solidFill>
                          <a:effectLst/>
                          <a:latin typeface="Hyundai Sans Text KR"/>
                          <a:ea typeface="현대산스 Text"/>
                        </a:rPr>
                        <a:t> </a:t>
                      </a:r>
                    </a:p>
                    <a:p>
                      <a:pPr lvl="0" algn="l" latinLnBrk="0">
                        <a:buNone/>
                      </a:pPr>
                      <a:r>
                        <a:rPr lang="en-US" sz="800" b="0" i="0" u="none" strike="noStrike" noProof="0" dirty="0">
                          <a:solidFill>
                            <a:srgbClr val="000000"/>
                          </a:solidFill>
                          <a:effectLst/>
                          <a:latin typeface="Hyundai Sans Text KR"/>
                          <a:ea typeface="현대산스 Text"/>
                        </a:rPr>
                        <a:t>Retraining the model based on accumulated RCA data to warn, </a:t>
                      </a:r>
                    </a:p>
                    <a:p>
                      <a:pPr lvl="0" algn="l" latinLnBrk="0">
                        <a:buNone/>
                      </a:pPr>
                      <a:r>
                        <a:rPr lang="en-US" sz="800" b="0" i="0" u="none" strike="noStrike" noProof="0" dirty="0">
                          <a:solidFill>
                            <a:srgbClr val="000000"/>
                          </a:solidFill>
                          <a:effectLst/>
                          <a:latin typeface="Hyundai Sans Text KR"/>
                          <a:ea typeface="현대산스 Text"/>
                        </a:rPr>
                        <a:t>"Watertightness defect expected during Assembly," just by </a:t>
                      </a:r>
                    </a:p>
                    <a:p>
                      <a:pPr lvl="0" algn="l" latinLnBrk="0">
                        <a:buNone/>
                      </a:pPr>
                      <a:r>
                        <a:rPr lang="en-US" sz="800" b="0" i="0" u="none" strike="noStrike" noProof="0" dirty="0">
                          <a:solidFill>
                            <a:srgbClr val="000000"/>
                          </a:solidFill>
                          <a:effectLst/>
                          <a:latin typeface="Hyundai Sans Text KR"/>
                          <a:ea typeface="현대산스 Text"/>
                        </a:rPr>
                        <a:t>observing micro-dimension changes in the Press process</a:t>
                      </a:r>
                    </a:p>
                    <a:p>
                      <a:pPr lvl="0" algn="l" latinLnBrk="0">
                        <a:buNone/>
                      </a:pPr>
                      <a:r>
                        <a:rPr lang="en-US" sz="800" b="1" i="0" u="none" strike="noStrike" noProof="0" dirty="0">
                          <a:solidFill>
                            <a:srgbClr val="000000"/>
                          </a:solidFill>
                          <a:effectLst/>
                          <a:latin typeface="Hyundai Sans Text KR"/>
                          <a:ea typeface="현대산스 Text"/>
                        </a:rPr>
                        <a:t>[AI Explainability &amp; Confidence Scoring]</a:t>
                      </a:r>
                    </a:p>
                    <a:p>
                      <a:pPr lvl="0" algn="l" latinLnBrk="0">
                        <a:buNone/>
                      </a:pPr>
                      <a:r>
                        <a:rPr lang="en-US" sz="800" b="1" i="0" u="none" strike="noStrike" noProof="0" dirty="0">
                          <a:solidFill>
                            <a:srgbClr val="000000"/>
                          </a:solidFill>
                          <a:effectLst/>
                          <a:latin typeface="Hyundai Sans Text KR"/>
                          <a:ea typeface="현대산스 Text"/>
                        </a:rPr>
                        <a:t> </a:t>
                      </a:r>
                      <a:r>
                        <a:rPr lang="en-US" sz="800" b="0" i="0" u="none" strike="noStrike" noProof="0" dirty="0">
                          <a:solidFill>
                            <a:srgbClr val="000000"/>
                          </a:solidFill>
                          <a:effectLst/>
                          <a:latin typeface="Hyundai Sans Text KR"/>
                          <a:ea typeface="현대산스 Text"/>
                        </a:rPr>
                        <a:t>Root Cause Confidence Ranking. Explanation Generation for </a:t>
                      </a:r>
                    </a:p>
                    <a:p>
                      <a:pPr lvl="0" algn="l" latinLnBrk="0">
                        <a:buNone/>
                      </a:pPr>
                      <a:r>
                        <a:rPr lang="en-US" sz="800" b="0" i="0" u="none" strike="noStrike" noProof="0" dirty="0">
                          <a:solidFill>
                            <a:srgbClr val="000000"/>
                          </a:solidFill>
                          <a:effectLst/>
                          <a:latin typeface="Hyundai Sans Text KR"/>
                          <a:ea typeface="현대산스 Text"/>
                        </a:rPr>
                        <a:t>Corrective Actions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현대산스 Text"/>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a:buFont typeface="Arial"/>
                        <a:buChar char="•"/>
                      </a:pPr>
                      <a:r>
                        <a:rPr lang="en-US" sz="800" b="0" dirty="0">
                          <a:effectLst/>
                          <a:latin typeface="Hyundai Sans Text KR"/>
                          <a:ea typeface="현대산스 Text"/>
                        </a:rPr>
                        <a:t>The Delayed Feedback Loop problem: If a gap /flush defect found in Assembly originated in Body line, the time gap makes it difficult for AI to learn immediate rewards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4706191"/>
                  </a:ext>
                </a:extLst>
              </a:tr>
            </a:tbl>
          </a:graphicData>
        </a:graphic>
      </p:graphicFrame>
    </p:spTree>
    <p:extLst>
      <p:ext uri="{BB962C8B-B14F-4D97-AF65-F5344CB8AC3E}">
        <p14:creationId xmlns:p14="http://schemas.microsoft.com/office/powerpoint/2010/main" val="3984563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803A2B4-A704-08F2-188F-7F6F4643E411}"/>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CFCAFEEB-3618-4FF7-90FC-DD732D422B2E}"/>
              </a:ext>
            </a:extLst>
          </p:cNvPr>
          <p:cNvSpPr>
            <a:spLocks noGrp="1"/>
          </p:cNvSpPr>
          <p:nvPr>
            <p:ph type="ctrTitle"/>
          </p:nvPr>
        </p:nvSpPr>
        <p:spPr>
          <a:xfrm>
            <a:off x="273049" y="179388"/>
            <a:ext cx="9632951"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⑤ 품질 불량 원인 분석 및 조치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8D7ADBBC-2916-E979-4BBE-FE81BD4149DD}"/>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6DBD104-09D9-6393-37F9-276ABF385704}"/>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83EF863F-568A-C265-C1F9-3F397C5E04FA}"/>
              </a:ext>
            </a:extLst>
          </p:cNvPr>
          <p:cNvSpPr txBox="1"/>
          <p:nvPr/>
        </p:nvSpPr>
        <p:spPr>
          <a:xfrm>
            <a:off x="338778" y="790576"/>
            <a:ext cx="4975721"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품질 불량 원인 분석 및 조치 자율화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7FE22420-C664-0D77-7D9A-EE6008C51949}"/>
              </a:ext>
            </a:extLst>
          </p:cNvPr>
          <p:cNvSpPr>
            <a:spLocks noChangeArrowheads="1"/>
          </p:cNvSpPr>
          <p:nvPr/>
        </p:nvSpPr>
        <p:spPr bwMode="auto">
          <a:xfrm>
            <a:off x="476252" y="1004091"/>
            <a:ext cx="8842485"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lnSpc>
                <a:spcPct val="110000"/>
              </a:lnSpc>
              <a:spcBef>
                <a:spcPct val="0"/>
              </a:spcBef>
              <a:spcAft>
                <a:spcPct val="0"/>
              </a:spcAft>
            </a:pP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 </a:t>
            </a:r>
            <a:r>
              <a:rPr lang="ko-KR" altLang="ko-KR" sz="1200" b="1" dirty="0">
                <a:solidFill>
                  <a:schemeClr val="accent1">
                    <a:lumMod val="50000"/>
                  </a:schemeClr>
                </a:solidFill>
                <a:latin typeface="현대산스 Text" panose="020B0600000101010101" pitchFamily="50" charset="-127"/>
                <a:ea typeface="현대산스 Text" panose="020B0600000101010101" pitchFamily="50" charset="-127"/>
              </a:rPr>
              <a:t>목표</a:t>
            </a: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 </a:t>
            </a:r>
            <a:r>
              <a:rPr lang="ko-KR" altLang="ko-KR" sz="1200" b="1" dirty="0">
                <a:solidFill>
                  <a:schemeClr val="accent1">
                    <a:lumMod val="50000"/>
                  </a:schemeClr>
                </a:solidFill>
                <a:latin typeface="현대산스 Text" panose="020B0600000101010101" pitchFamily="50" charset="-127"/>
                <a:ea typeface="현대산스 Text" panose="020B0600000101010101" pitchFamily="50" charset="-127"/>
              </a:rPr>
              <a:t>: VDR 부품 입고부터 </a:t>
            </a:r>
            <a:r>
              <a:rPr lang="ko-KR" altLang="en-US" sz="1200" b="1" dirty="0">
                <a:solidFill>
                  <a:schemeClr val="accent1">
                    <a:lumMod val="50000"/>
                  </a:schemeClr>
                </a:solidFill>
                <a:latin typeface="현대산스 Text" panose="020B0600000101010101" pitchFamily="50" charset="-127"/>
                <a:ea typeface="현대산스 Text" panose="020B0600000101010101" pitchFamily="50" charset="-127"/>
              </a:rPr>
              <a:t>물류</a:t>
            </a: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a:t>
            </a:r>
            <a:r>
              <a:rPr lang="ko-KR" altLang="en-US" sz="1200" b="1" dirty="0">
                <a:solidFill>
                  <a:schemeClr val="accent1">
                    <a:lumMod val="50000"/>
                  </a:schemeClr>
                </a:solidFill>
                <a:latin typeface="현대산스 Text" panose="020B0600000101010101" pitchFamily="50" charset="-127"/>
                <a:ea typeface="현대산스 Text" panose="020B0600000101010101" pitchFamily="50" charset="-127"/>
              </a:rPr>
              <a:t>의장</a:t>
            </a:r>
            <a:r>
              <a:rPr lang="ko-KR" altLang="ko-KR" sz="1200" b="1" dirty="0">
                <a:solidFill>
                  <a:schemeClr val="accent1">
                    <a:lumMod val="50000"/>
                  </a:schemeClr>
                </a:solidFill>
                <a:latin typeface="현대산스 Text" panose="020B0600000101010101" pitchFamily="50" charset="-127"/>
                <a:ea typeface="현대산스 Text" panose="020B0600000101010101" pitchFamily="50" charset="-127"/>
              </a:rPr>
              <a:t> 라인 전체의 품질 데이터를 통합하여, 불량 발생 시 근본 원인</a:t>
            </a:r>
            <a:r>
              <a:rPr lang="en-US" altLang="ko-KR" sz="1100" dirty="0">
                <a:solidFill>
                  <a:schemeClr val="tx1">
                    <a:lumMod val="50000"/>
                    <a:lumOff val="50000"/>
                  </a:schemeClr>
                </a:solidFill>
                <a:latin typeface="현대산스 Text" panose="020B0600000101010101" pitchFamily="50" charset="-127"/>
                <a:ea typeface="현대산스 Text" panose="020B0600000101010101" pitchFamily="50" charset="-127"/>
              </a:rPr>
              <a:t> </a:t>
            </a:r>
            <a:r>
              <a:rPr lang="ko-KR" altLang="ko-KR" sz="1100" dirty="0">
                <a:solidFill>
                  <a:schemeClr val="tx1">
                    <a:lumMod val="50000"/>
                    <a:lumOff val="50000"/>
                  </a:schemeClr>
                </a:solidFill>
                <a:latin typeface="현대산스 Text" panose="020B0600000101010101" pitchFamily="50" charset="-127"/>
                <a:ea typeface="현대산스 Text" panose="020B0600000101010101" pitchFamily="50" charset="-127"/>
              </a:rPr>
              <a:t>(부품/물류/설비/작업자)</a:t>
            </a:r>
            <a:r>
              <a:rPr lang="en-US" altLang="ko-KR" sz="1100" dirty="0">
                <a:solidFill>
                  <a:schemeClr val="tx1">
                    <a:lumMod val="50000"/>
                    <a:lumOff val="50000"/>
                  </a:schemeClr>
                </a:solidFill>
                <a:latin typeface="현대산스 Text" panose="020B0600000101010101" pitchFamily="50" charset="-127"/>
                <a:ea typeface="현대산스 Text" panose="020B0600000101010101" pitchFamily="50" charset="-127"/>
              </a:rPr>
              <a:t> </a:t>
            </a:r>
            <a:r>
              <a:rPr lang="ko-KR" altLang="ko-KR" sz="1200" b="1" dirty="0">
                <a:solidFill>
                  <a:schemeClr val="accent1">
                    <a:lumMod val="50000"/>
                  </a:schemeClr>
                </a:solidFill>
                <a:latin typeface="현대산스 Text" panose="020B0600000101010101" pitchFamily="50" charset="-127"/>
                <a:ea typeface="현대산스 Text" panose="020B0600000101010101" pitchFamily="50" charset="-127"/>
              </a:rPr>
              <a:t>을</a:t>
            </a: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 </a:t>
            </a:r>
            <a:r>
              <a:rPr lang="ko-KR" altLang="ko-KR" sz="1200" b="1" dirty="0">
                <a:solidFill>
                  <a:schemeClr val="accent1">
                    <a:lumMod val="50000"/>
                  </a:schemeClr>
                </a:solidFill>
                <a:latin typeface="현대산스 Text" panose="020B0600000101010101" pitchFamily="50" charset="-127"/>
                <a:ea typeface="현대산스 Text" panose="020B0600000101010101" pitchFamily="50" charset="-127"/>
              </a:rPr>
              <a:t>자율 진단하고</a:t>
            </a: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a:t>
            </a:r>
          </a:p>
          <a:p>
            <a:pPr defTabSz="914400" eaLnBrk="0" fontAlgn="base" hangingPunct="0">
              <a:lnSpc>
                <a:spcPct val="110000"/>
              </a:lnSpc>
              <a:spcBef>
                <a:spcPct val="0"/>
              </a:spcBef>
              <a:spcAft>
                <a:spcPct val="0"/>
              </a:spcAft>
            </a:pP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             </a:t>
            </a:r>
            <a:r>
              <a:rPr lang="ko-KR" altLang="ko-KR" sz="1200" b="1" dirty="0">
                <a:solidFill>
                  <a:schemeClr val="accent1">
                    <a:lumMod val="50000"/>
                  </a:schemeClr>
                </a:solidFill>
                <a:latin typeface="현대산스 Text" panose="020B0600000101010101" pitchFamily="50" charset="-127"/>
                <a:ea typeface="현대산스 Text" panose="020B0600000101010101" pitchFamily="50" charset="-127"/>
              </a:rPr>
              <a:t>최적의 대책을 실행하는 무인 품질 관제 체계 구축.</a:t>
            </a:r>
          </a:p>
        </p:txBody>
      </p:sp>
      <p:graphicFrame>
        <p:nvGraphicFramePr>
          <p:cNvPr id="3" name="표 2">
            <a:extLst>
              <a:ext uri="{FF2B5EF4-FFF2-40B4-BE49-F238E27FC236}">
                <a16:creationId xmlns:a16="http://schemas.microsoft.com/office/drawing/2014/main" id="{913688B0-7683-C75C-4D37-EE576F80403A}"/>
              </a:ext>
            </a:extLst>
          </p:cNvPr>
          <p:cNvGraphicFramePr>
            <a:graphicFrameLocks noGrp="1"/>
          </p:cNvGraphicFramePr>
          <p:nvPr/>
        </p:nvGraphicFramePr>
        <p:xfrm>
          <a:off x="273048" y="1568825"/>
          <a:ext cx="12439653" cy="5172634"/>
        </p:xfrm>
        <a:graphic>
          <a:graphicData uri="http://schemas.openxmlformats.org/drawingml/2006/table">
            <a:tbl>
              <a:tblPr/>
              <a:tblGrid>
                <a:gridCol w="753965">
                  <a:extLst>
                    <a:ext uri="{9D8B030D-6E8A-4147-A177-3AD203B41FA5}">
                      <a16:colId xmlns:a16="http://schemas.microsoft.com/office/drawing/2014/main" val="2849626013"/>
                    </a:ext>
                  </a:extLst>
                </a:gridCol>
                <a:gridCol w="3850327">
                  <a:extLst>
                    <a:ext uri="{9D8B030D-6E8A-4147-A177-3AD203B41FA5}">
                      <a16:colId xmlns:a16="http://schemas.microsoft.com/office/drawing/2014/main" val="3246794898"/>
                    </a:ext>
                  </a:extLst>
                </a:gridCol>
                <a:gridCol w="2480993">
                  <a:extLst>
                    <a:ext uri="{9D8B030D-6E8A-4147-A177-3AD203B41FA5}">
                      <a16:colId xmlns:a16="http://schemas.microsoft.com/office/drawing/2014/main" val="1211390470"/>
                    </a:ext>
                  </a:extLst>
                </a:gridCol>
                <a:gridCol w="2480993">
                  <a:extLst>
                    <a:ext uri="{9D8B030D-6E8A-4147-A177-3AD203B41FA5}">
                      <a16:colId xmlns:a16="http://schemas.microsoft.com/office/drawing/2014/main" val="800661006"/>
                    </a:ext>
                  </a:extLst>
                </a:gridCol>
                <a:gridCol w="190500">
                  <a:extLst>
                    <a:ext uri="{9D8B030D-6E8A-4147-A177-3AD203B41FA5}">
                      <a16:colId xmlns:a16="http://schemas.microsoft.com/office/drawing/2014/main" val="1631224678"/>
                    </a:ext>
                  </a:extLst>
                </a:gridCol>
                <a:gridCol w="2682875">
                  <a:extLst>
                    <a:ext uri="{9D8B030D-6E8A-4147-A177-3AD203B41FA5}">
                      <a16:colId xmlns:a16="http://schemas.microsoft.com/office/drawing/2014/main" val="1082217511"/>
                    </a:ext>
                  </a:extLst>
                </a:gridCol>
              </a:tblGrid>
              <a:tr h="208852">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DX</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94862131"/>
                  </a:ext>
                </a:extLst>
              </a:tr>
              <a:tr h="1378828">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a:t>
                      </a:r>
                      <a:r>
                        <a:rPr lang="en-US"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850" b="1" dirty="0">
                          <a:solidFill>
                            <a:schemeClr val="tx1"/>
                          </a:solidFill>
                          <a:effectLst/>
                          <a:latin typeface="현대산스 Text" panose="020B0600000101010101" pitchFamily="50" charset="-127"/>
                          <a:ea typeface="현대산스 Text" panose="020B0600000101010101" pitchFamily="50" charset="-127"/>
                        </a:rPr>
                        <a:t>[End-to-End </a:t>
                      </a:r>
                      <a:r>
                        <a:rPr lang="ko-KR" altLang="en-US" sz="850" b="1" dirty="0">
                          <a:solidFill>
                            <a:schemeClr val="tx1"/>
                          </a:solidFill>
                          <a:effectLst/>
                          <a:latin typeface="현대산스 Text" panose="020B0600000101010101" pitchFamily="50" charset="-127"/>
                          <a:ea typeface="현대산스 Text" panose="020B0600000101010101" pitchFamily="50" charset="-127"/>
                        </a:rPr>
                        <a:t>공정별 핵심 품질 데이터 수집</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협력사 </a:t>
                      </a:r>
                      <a:r>
                        <a:rPr lang="ko-KR" altLang="en-US" sz="850" b="0" dirty="0" err="1">
                          <a:solidFill>
                            <a:schemeClr val="tx1"/>
                          </a:solidFill>
                          <a:effectLst/>
                          <a:latin typeface="현대산스 Text" panose="020B0600000101010101" pitchFamily="50" charset="-127"/>
                          <a:ea typeface="현대산스 Text" panose="020B0600000101010101" pitchFamily="50" charset="-127"/>
                        </a:rPr>
                        <a:t>입고품</a:t>
                      </a:r>
                      <a:r>
                        <a:rPr lang="ko-KR" altLang="en-US" sz="850" b="0" dirty="0">
                          <a:solidFill>
                            <a:schemeClr val="tx1"/>
                          </a:solidFill>
                          <a:effectLst/>
                          <a:latin typeface="현대산스 Text" panose="020B0600000101010101" pitchFamily="50" charset="-127"/>
                          <a:ea typeface="현대산스 Text" panose="020B0600000101010101" pitchFamily="50" charset="-127"/>
                        </a:rPr>
                        <a:t> </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err="1">
                          <a:solidFill>
                            <a:schemeClr val="tx1"/>
                          </a:solidFill>
                          <a:effectLst/>
                          <a:latin typeface="현대산스 Text" panose="020B0600000101010101" pitchFamily="50" charset="-127"/>
                          <a:ea typeface="현대산스 Text" panose="020B0600000101010101" pitchFamily="50" charset="-127"/>
                        </a:rPr>
                        <a:t>로트</a:t>
                      </a:r>
                      <a:r>
                        <a:rPr lang="ko-KR" altLang="en-US" sz="850" b="0" dirty="0">
                          <a:solidFill>
                            <a:schemeClr val="tx1"/>
                          </a:solidFill>
                          <a:effectLst/>
                          <a:latin typeface="현대산스 Text" panose="020B0600000101010101" pitchFamily="50" charset="-127"/>
                          <a:ea typeface="현대산스 Text" panose="020B0600000101010101" pitchFamily="50" charset="-127"/>
                        </a:rPr>
                        <a:t> 추적 데이터</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검사데이터</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운송 환경 모니터링</a:t>
                      </a:r>
                      <a:br>
                        <a:rPr lang="ko-KR" altLang="en-US"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차체</a:t>
                      </a:r>
                      <a:r>
                        <a:rPr lang="en-US" altLang="ko-KR" sz="850" b="0" dirty="0">
                          <a:solidFill>
                            <a:schemeClr val="tx1"/>
                          </a:solidFill>
                          <a:effectLst/>
                          <a:latin typeface="현대산스 Text" panose="020B0600000101010101" pitchFamily="50" charset="-127"/>
                          <a:ea typeface="현대산스 Text"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 </a:t>
                      </a:r>
                      <a:r>
                        <a:rPr lang="en-US" altLang="ko-KR" sz="850" b="0" dirty="0">
                          <a:solidFill>
                            <a:schemeClr val="tx1"/>
                          </a:solidFill>
                          <a:effectLst/>
                          <a:latin typeface="현대산스 Text" panose="020B0600000101010101" pitchFamily="50" charset="-127"/>
                          <a:ea typeface="현대산스 Text" panose="020B0600000101010101" pitchFamily="50" charset="-127"/>
                        </a:rPr>
                        <a:t>BIW </a:t>
                      </a:r>
                      <a:r>
                        <a:rPr lang="ko-KR" altLang="en-US" sz="850" b="0" dirty="0">
                          <a:solidFill>
                            <a:schemeClr val="tx1"/>
                          </a:solidFill>
                          <a:effectLst/>
                          <a:latin typeface="현대산스 Text" panose="020B0600000101010101" pitchFamily="50" charset="-127"/>
                          <a:ea typeface="현대산스 Text" panose="020B0600000101010101" pitchFamily="50" charset="-127"/>
                        </a:rPr>
                        <a:t>골격 정도</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용접 데이터</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갭</a:t>
                      </a:r>
                      <a:r>
                        <a:rPr lang="en-US" altLang="ko-KR" sz="850" b="0" dirty="0">
                          <a:solidFill>
                            <a:schemeClr val="tx1"/>
                          </a:solidFill>
                          <a:effectLst/>
                          <a:latin typeface="현대산스 Text" panose="020B0600000101010101" pitchFamily="50" charset="-127"/>
                          <a:ea typeface="현대산스 Text"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단차 데이터 등 차체 품질 데이터</a:t>
                      </a:r>
                      <a:br>
                        <a:rPr lang="en-US" altLang="ko-KR"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도장</a:t>
                      </a:r>
                      <a:r>
                        <a:rPr lang="en-US" altLang="ko-KR" sz="850" b="0" dirty="0">
                          <a:solidFill>
                            <a:schemeClr val="tx1"/>
                          </a:solidFill>
                          <a:effectLst/>
                          <a:latin typeface="현대산스 Text" panose="020B0600000101010101" pitchFamily="50" charset="-127"/>
                          <a:ea typeface="현대산스 Text"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 도막 두께</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클리어런스</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등</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도장 품질 데이터</a:t>
                      </a:r>
                      <a:br>
                        <a:rPr lang="en-US" altLang="ko-KR"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의장</a:t>
                      </a:r>
                      <a:r>
                        <a:rPr lang="en-US" altLang="ko-KR" sz="850" b="0" dirty="0">
                          <a:solidFill>
                            <a:schemeClr val="tx1"/>
                          </a:solidFill>
                          <a:effectLst/>
                          <a:latin typeface="현대산스 Text" panose="020B0600000101010101" pitchFamily="50" charset="-127"/>
                          <a:ea typeface="현대산스 Text"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 체결 토크</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갭</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단차</a:t>
                      </a:r>
                      <a:r>
                        <a:rPr lang="en-US" altLang="ko-KR" sz="850" dirty="0">
                          <a:solidFill>
                            <a:schemeClr val="tx1"/>
                          </a:solidFill>
                          <a:effectLst/>
                          <a:latin typeface="현대산스 Text" panose="020B0600000101010101" pitchFamily="50" charset="-127"/>
                          <a:ea typeface="현대산스 Text" panose="020B0600000101010101" pitchFamily="50" charset="-127"/>
                        </a:rPr>
                        <a:t>(Gap &amp; Flush), </a:t>
                      </a:r>
                      <a:r>
                        <a:rPr lang="ko-KR" altLang="en-US" sz="850" dirty="0">
                          <a:solidFill>
                            <a:schemeClr val="tx1"/>
                          </a:solidFill>
                          <a:effectLst/>
                          <a:latin typeface="현대산스 Text" panose="020B0600000101010101" pitchFamily="50" charset="-127"/>
                          <a:ea typeface="현대산스 Text" panose="020B0600000101010101" pitchFamily="50" charset="-127"/>
                        </a:rPr>
                        <a:t>주행</a:t>
                      </a:r>
                      <a:r>
                        <a:rPr lang="en-US" altLang="ko-KR" sz="850" dirty="0">
                          <a:solidFill>
                            <a:schemeClr val="tx1"/>
                          </a:solidFill>
                          <a:effectLst/>
                          <a:latin typeface="현대산스 Text" panose="020B0600000101010101" pitchFamily="50" charset="-127"/>
                          <a:ea typeface="현대산스 Text" panose="020B0600000101010101" pitchFamily="50" charset="-127"/>
                        </a:rPr>
                        <a:t>, BSR, </a:t>
                      </a:r>
                      <a:r>
                        <a:rPr lang="ko-KR" altLang="en-US" sz="850" dirty="0" err="1">
                          <a:solidFill>
                            <a:schemeClr val="tx1"/>
                          </a:solidFill>
                          <a:effectLst/>
                          <a:latin typeface="현대산스 Text" panose="020B0600000101010101" pitchFamily="50" charset="-127"/>
                          <a:ea typeface="현대산스 Text" panose="020B0600000101010101" pitchFamily="50" charset="-127"/>
                        </a:rPr>
                        <a:t>수밀</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내</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외관 검사 결과 데이터</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Tx/>
                        <a:buNone/>
                        <a:tabLst/>
                        <a:defRPr/>
                      </a:pP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시장품질 데이터</a:t>
                      </a:r>
                      <a:r>
                        <a:rPr lang="en-US" altLang="ko-KR" sz="850" b="1"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필드 데이터 실시간 연동</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altLang="ko-KR" sz="850" b="0" dirty="0">
                          <a:effectLst/>
                          <a:latin typeface="현대산스 Text" panose="020B0600000101010101" pitchFamily="50" charset="-127"/>
                          <a:ea typeface="현대산스 Text" panose="020B0600000101010101" pitchFamily="50" charset="-127"/>
                        </a:rPr>
                        <a:t>[S/W]</a:t>
                      </a:r>
                      <a:r>
                        <a:rPr lang="ko-KR" altLang="en-US" sz="850" b="0" dirty="0">
                          <a:effectLst/>
                          <a:latin typeface="현대산스 Text" panose="020B0600000101010101" pitchFamily="50" charset="-127"/>
                          <a:ea typeface="현대산스 Text" panose="020B0600000101010101" pitchFamily="50" charset="-127"/>
                        </a:rPr>
                        <a:t> </a:t>
                      </a:r>
                      <a:r>
                        <a:rPr lang="en-US" altLang="ko-KR" sz="850" b="0" dirty="0" err="1">
                          <a:effectLst/>
                          <a:latin typeface="현대산스 Text" panose="020B0600000101010101" pitchFamily="50" charset="-127"/>
                          <a:ea typeface="현대산스 Text" panose="020B0600000101010101" pitchFamily="50" charset="-127"/>
                        </a:rPr>
                        <a:t>IIoT</a:t>
                      </a: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플랫폼</a:t>
                      </a: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고속 데이터 수집 파이프 라인</a:t>
                      </a:r>
                      <a:br>
                        <a:rPr lang="ko-KR" altLang="en-US" sz="850" b="0" dirty="0">
                          <a:effectLst/>
                          <a:latin typeface="현대산스 Text" panose="020B0600000101010101" pitchFamily="50" charset="-127"/>
                          <a:ea typeface="현대산스 Text" panose="020B0600000101010101" pitchFamily="50" charset="-127"/>
                        </a:rPr>
                      </a:br>
                      <a:r>
                        <a:rPr lang="en-US" altLang="ko-KR" sz="850" b="0" dirty="0">
                          <a:effectLst/>
                          <a:latin typeface="현대산스 Text" panose="020B0600000101010101" pitchFamily="50" charset="-127"/>
                          <a:ea typeface="현대산스 Text" panose="020B0600000101010101" pitchFamily="50" charset="-127"/>
                        </a:rPr>
                        <a:t>[H/W]</a:t>
                      </a:r>
                      <a:r>
                        <a:rPr lang="ko-KR" altLang="en-US" sz="850" b="0" dirty="0">
                          <a:effectLst/>
                          <a:latin typeface="현대산스 Text" panose="020B0600000101010101" pitchFamily="50" charset="-127"/>
                          <a:ea typeface="현대산스 Text" panose="020B0600000101010101" pitchFamily="50" charset="-127"/>
                        </a:rPr>
                        <a:t> </a:t>
                      </a:r>
                      <a:endParaRPr lang="en-US" altLang="ko-KR" sz="850" b="0" dirty="0">
                        <a:effectLst/>
                        <a:latin typeface="현대산스 Text" panose="020B0600000101010101" pitchFamily="50" charset="-127"/>
                        <a:ea typeface="현대산스 Text" panose="020B0600000101010101" pitchFamily="50" charset="-127"/>
                      </a:endParaRPr>
                    </a:p>
                    <a:p>
                      <a:pPr algn="l">
                        <a:buNone/>
                      </a:pPr>
                      <a:r>
                        <a:rPr lang="en-US"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광학</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비전</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 인라인 </a:t>
                      </a:r>
                      <a:r>
                        <a:rPr lang="en-US" altLang="ko-KR" sz="850" b="0" dirty="0">
                          <a:effectLst/>
                          <a:latin typeface="현대산스 Text" panose="020B0600000101010101" pitchFamily="50" charset="-127"/>
                          <a:ea typeface="현대산스 Text" panose="020B0600000101010101" pitchFamily="50" charset="-127"/>
                        </a:rPr>
                        <a:t>3D </a:t>
                      </a:r>
                      <a:r>
                        <a:rPr lang="ko-KR" altLang="en-US" sz="850" b="0" dirty="0">
                          <a:effectLst/>
                          <a:latin typeface="현대산스 Text" panose="020B0600000101010101" pitchFamily="50" charset="-127"/>
                          <a:ea typeface="현대산스 Text" panose="020B0600000101010101" pitchFamily="50" charset="-127"/>
                        </a:rPr>
                        <a:t>스캐너</a:t>
                      </a: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고해상도 </a:t>
                      </a:r>
                      <a:endParaRPr lang="en-US" altLang="ko-KR" sz="850" b="0" dirty="0">
                        <a:effectLst/>
                        <a:latin typeface="현대산스 Text" panose="020B0600000101010101" pitchFamily="50" charset="-127"/>
                        <a:ea typeface="현대산스 Text" panose="020B0600000101010101" pitchFamily="50" charset="-127"/>
                      </a:endParaRP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머신 비전</a:t>
                      </a:r>
                      <a:r>
                        <a:rPr lang="en-US" altLang="ko-KR" sz="850" b="0" dirty="0">
                          <a:effectLst/>
                          <a:latin typeface="현대산스 Text" panose="020B0600000101010101" pitchFamily="50" charset="-127"/>
                          <a:ea typeface="현대산스 Text" panose="020B0600000101010101" pitchFamily="50" charset="-127"/>
                        </a:rPr>
                        <a:t>, 3D </a:t>
                      </a:r>
                      <a:r>
                        <a:rPr lang="ko-KR" altLang="en-US" sz="850" b="0" dirty="0">
                          <a:effectLst/>
                          <a:latin typeface="현대산스 Text" panose="020B0600000101010101" pitchFamily="50" charset="-127"/>
                          <a:ea typeface="현대산스 Text" panose="020B0600000101010101" pitchFamily="50" charset="-127"/>
                        </a:rPr>
                        <a:t>레이저 </a:t>
                      </a:r>
                      <a:r>
                        <a:rPr lang="ko-KR" altLang="en-US" sz="850" b="0" dirty="0" err="1">
                          <a:effectLst/>
                          <a:latin typeface="현대산스 Text" panose="020B0600000101010101" pitchFamily="50" charset="-127"/>
                          <a:ea typeface="현대산스 Text" panose="020B0600000101010101" pitchFamily="50" charset="-127"/>
                        </a:rPr>
                        <a:t>프로파일러</a:t>
                      </a:r>
                      <a:br>
                        <a:rPr lang="ko-KR" altLang="en-US" sz="850" b="0" dirty="0">
                          <a:effectLst/>
                          <a:latin typeface="현대산스 Text" panose="020B0600000101010101" pitchFamily="50" charset="-127"/>
                          <a:ea typeface="현대산스 Text" panose="020B0600000101010101" pitchFamily="50" charset="-127"/>
                        </a:rPr>
                      </a:br>
                      <a:r>
                        <a:rPr lang="en-US"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정밀 계측기</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 </a:t>
                      </a:r>
                      <a:r>
                        <a:rPr lang="en-US" altLang="ko-KR" sz="850" b="0" dirty="0">
                          <a:effectLst/>
                          <a:latin typeface="현대산스 Text" panose="020B0600000101010101" pitchFamily="50" charset="-127"/>
                          <a:ea typeface="현대산스 Text" panose="020B0600000101010101" pitchFamily="50" charset="-127"/>
                        </a:rPr>
                        <a:t>3</a:t>
                      </a:r>
                      <a:r>
                        <a:rPr lang="ko-KR" altLang="en-US" sz="850" b="0" dirty="0">
                          <a:effectLst/>
                          <a:latin typeface="현대산스 Text" panose="020B0600000101010101" pitchFamily="50" charset="-127"/>
                          <a:ea typeface="현대산스 Text" panose="020B0600000101010101" pitchFamily="50" charset="-127"/>
                        </a:rPr>
                        <a:t>차원 측정기</a:t>
                      </a:r>
                      <a:r>
                        <a:rPr lang="en-US" altLang="ko-KR" sz="850" b="0" dirty="0">
                          <a:effectLst/>
                          <a:latin typeface="현대산스 Text" panose="020B0600000101010101" pitchFamily="50" charset="-127"/>
                          <a:ea typeface="현대산스 Text" panose="020B0600000101010101" pitchFamily="50" charset="-127"/>
                        </a:rPr>
                        <a:t>(CMM),</a:t>
                      </a: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초음파 </a:t>
                      </a:r>
                      <a:r>
                        <a:rPr lang="ko-KR" altLang="en-US" sz="850" b="0" dirty="0" err="1">
                          <a:effectLst/>
                          <a:latin typeface="현대산스 Text" panose="020B0600000101010101" pitchFamily="50" charset="-127"/>
                          <a:ea typeface="현대산스 Text" panose="020B0600000101010101" pitchFamily="50" charset="-127"/>
                        </a:rPr>
                        <a:t>비파괴</a:t>
                      </a:r>
                      <a:r>
                        <a:rPr lang="ko-KR" altLang="en-US" sz="850" b="0" dirty="0">
                          <a:effectLst/>
                          <a:latin typeface="현대산스 Text" panose="020B0600000101010101" pitchFamily="50" charset="-127"/>
                          <a:ea typeface="현대산스 Text" panose="020B0600000101010101" pitchFamily="50" charset="-127"/>
                        </a:rPr>
                        <a:t> 검사기</a:t>
                      </a:r>
                      <a:r>
                        <a:rPr lang="en-US" altLang="ko-KR" sz="850" b="0" dirty="0">
                          <a:effectLst/>
                          <a:latin typeface="현대산스 Text" panose="020B0600000101010101" pitchFamily="50" charset="-127"/>
                          <a:ea typeface="현대산스 Text" panose="020B0600000101010101" pitchFamily="50" charset="-127"/>
                        </a:rPr>
                        <a:t>(NDT- </a:t>
                      </a:r>
                      <a:r>
                        <a:rPr lang="ko-KR" altLang="en-US" sz="850" b="0" dirty="0">
                          <a:effectLst/>
                          <a:latin typeface="현대산스 Text" panose="020B0600000101010101" pitchFamily="50" charset="-127"/>
                          <a:ea typeface="현대산스 Text" panose="020B0600000101010101" pitchFamily="50" charset="-127"/>
                        </a:rPr>
                        <a:t>차체 용접</a:t>
                      </a:r>
                      <a:r>
                        <a:rPr lang="en-US" altLang="ko-KR" sz="850" b="0" dirty="0">
                          <a:effectLst/>
                          <a:latin typeface="현대산스 Text" panose="020B0600000101010101" pitchFamily="50" charset="-127"/>
                          <a:ea typeface="현대산스 Text" panose="020B0600000101010101" pitchFamily="50" charset="-127"/>
                        </a:rPr>
                        <a:t>),</a:t>
                      </a: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도막 두께 측정기</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도장</a:t>
                      </a: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스마트 토크 렌치</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의장</a:t>
                      </a:r>
                      <a:r>
                        <a:rPr lang="en-US" altLang="ko-KR" sz="850" b="0" dirty="0">
                          <a:effectLst/>
                          <a:latin typeface="현대산스 Text" panose="020B0600000101010101" pitchFamily="50" charset="-127"/>
                          <a:ea typeface="현대산스 Text"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추적</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수집 </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 </a:t>
                      </a:r>
                      <a:r>
                        <a:rPr lang="en-US" altLang="ko-KR" sz="850" b="0" dirty="0">
                          <a:effectLst/>
                          <a:latin typeface="현대산스 Text" panose="020B0600000101010101" pitchFamily="50" charset="-127"/>
                          <a:ea typeface="현대산스 Text" panose="020B0600000101010101" pitchFamily="50" charset="-127"/>
                        </a:rPr>
                        <a:t>RFID/</a:t>
                      </a:r>
                      <a:r>
                        <a:rPr lang="ko-KR" altLang="en-US" sz="850" b="0" dirty="0">
                          <a:effectLst/>
                          <a:latin typeface="현대산스 Text" panose="020B0600000101010101" pitchFamily="50" charset="-127"/>
                          <a:ea typeface="현대산스 Text" panose="020B0600000101010101" pitchFamily="50" charset="-127"/>
                        </a:rPr>
                        <a:t>바코드 스캐너</a:t>
                      </a: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대용량 비전</a:t>
                      </a:r>
                      <a:endParaRPr lang="en-US" altLang="ko-KR" sz="850" b="0" dirty="0">
                        <a:effectLst/>
                        <a:latin typeface="현대산스 Text" panose="020B0600000101010101" pitchFamily="50" charset="-127"/>
                        <a:ea typeface="현대산스 Text" panose="020B0600000101010101" pitchFamily="50" charset="-127"/>
                      </a:endParaRP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처리용 고성능 </a:t>
                      </a:r>
                      <a:r>
                        <a:rPr lang="en-US" altLang="ko-KR" sz="850" b="0" dirty="0">
                          <a:effectLst/>
                          <a:latin typeface="현대산스 Text" panose="020B0600000101010101" pitchFamily="50" charset="-127"/>
                          <a:ea typeface="현대산스 Text" panose="020B0600000101010101" pitchFamily="50" charset="-127"/>
                        </a:rPr>
                        <a:t>Edge Gateway (IPC)</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수많은 </a:t>
                      </a:r>
                      <a:r>
                        <a:rPr lang="en-US" altLang="ko-KR" sz="850" b="0" dirty="0">
                          <a:solidFill>
                            <a:schemeClr val="tx1"/>
                          </a:solidFill>
                          <a:effectLst/>
                          <a:latin typeface="현대산스 Text" panose="020B0600000101010101" pitchFamily="50" charset="-127"/>
                          <a:ea typeface="현대산스 Text" panose="020B0600000101010101" pitchFamily="50" charset="-127"/>
                        </a:rPr>
                        <a:t>VDR</a:t>
                      </a:r>
                      <a:r>
                        <a:rPr lang="ko-KR" altLang="en-US" sz="850" b="0" dirty="0">
                          <a:solidFill>
                            <a:schemeClr val="tx1"/>
                          </a:solidFill>
                          <a:effectLst/>
                          <a:latin typeface="현대산스 Text" panose="020B0600000101010101" pitchFamily="50" charset="-127"/>
                          <a:ea typeface="현대산스 Text" panose="020B0600000101010101" pitchFamily="50" charset="-127"/>
                        </a:rPr>
                        <a:t>의 입고 검사 성적서 디지털화 연동 한계</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협력사별 데이터 포맷 불일치</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데이터 신뢰성 부족</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err="1">
                          <a:solidFill>
                            <a:schemeClr val="tx1"/>
                          </a:solidFill>
                          <a:effectLst/>
                          <a:latin typeface="현대산스 Text" panose="020B0600000101010101" pitchFamily="50" charset="-127"/>
                          <a:ea typeface="현대산스 Text" panose="020B0600000101010101" pitchFamily="50" charset="-127"/>
                        </a:rPr>
                        <a:t>다차종</a:t>
                      </a:r>
                      <a:r>
                        <a:rPr lang="en-US" altLang="ko-KR" sz="850" b="0" dirty="0">
                          <a:solidFill>
                            <a:schemeClr val="tx1"/>
                          </a:solidFill>
                          <a:effectLst/>
                          <a:latin typeface="현대산스 Text" panose="020B0600000101010101" pitchFamily="50" charset="-127"/>
                          <a:ea typeface="현대산스 Text"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다옵션에 따른 데이터 복잡성 증가</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대용량 실시간 데이터 처리 필요</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46573300"/>
                  </a:ext>
                </a:extLst>
              </a:tr>
              <a:tr h="689414">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850" b="1" dirty="0">
                          <a:solidFill>
                            <a:schemeClr val="tx1"/>
                          </a:solidFill>
                          <a:effectLst/>
                          <a:latin typeface="현대산스 Text" panose="020B0600000101010101" pitchFamily="50" charset="-127"/>
                          <a:ea typeface="현대산스 Text" panose="020B0600000101010101" pitchFamily="50" charset="-127"/>
                        </a:rPr>
                        <a:t>[VIN </a:t>
                      </a:r>
                      <a:r>
                        <a:rPr lang="ko-KR" altLang="en-US" sz="850" b="1" dirty="0">
                          <a:solidFill>
                            <a:schemeClr val="tx1"/>
                          </a:solidFill>
                          <a:effectLst/>
                          <a:latin typeface="현대산스 Text" panose="020B0600000101010101" pitchFamily="50" charset="-127"/>
                          <a:ea typeface="현대산스 Text" panose="020B0600000101010101" pitchFamily="50" charset="-127"/>
                        </a:rPr>
                        <a:t>기반 디지털 스레드 구축</a:t>
                      </a:r>
                      <a:r>
                        <a:rPr lang="en-US" altLang="ko-KR" sz="850" b="1" dirty="0">
                          <a:solidFill>
                            <a:schemeClr val="tx1"/>
                          </a:solidFill>
                          <a:effectLst/>
                          <a:latin typeface="현대산스 Text" panose="020B0600000101010101" pitchFamily="50" charset="-127"/>
                          <a:ea typeface="현대산스 Text" panose="020B0600000101010101" pitchFamily="50" charset="-127"/>
                        </a:rPr>
                        <a:t>] </a:t>
                      </a:r>
                      <a:r>
                        <a:rPr lang="en-US" altLang="ko-KR" sz="850" b="0" dirty="0">
                          <a:solidFill>
                            <a:schemeClr val="tx1"/>
                          </a:solidFill>
                          <a:effectLst/>
                          <a:latin typeface="현대산스 Text" panose="020B0600000101010101" pitchFamily="50" charset="-127"/>
                          <a:ea typeface="현대산스 Text" panose="020B0600000101010101" pitchFamily="50" charset="-127"/>
                        </a:rPr>
                        <a:t>VIN</a:t>
                      </a:r>
                      <a:r>
                        <a:rPr lang="ko-KR" altLang="en-US" sz="850" b="0" dirty="0">
                          <a:solidFill>
                            <a:schemeClr val="tx1"/>
                          </a:solidFill>
                          <a:effectLst/>
                          <a:latin typeface="현대산스 Text" panose="020B0600000101010101" pitchFamily="50" charset="-127"/>
                          <a:ea typeface="현대산스 Text" panose="020B0600000101010101" pitchFamily="50" charset="-127"/>
                        </a:rPr>
                        <a:t>별 연결</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계층의 데이터 통합</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ko-KR" altLang="en-US" sz="850" b="1" dirty="0">
                          <a:solidFill>
                            <a:schemeClr val="tx1"/>
                          </a:solidFill>
                          <a:effectLst/>
                          <a:latin typeface="현대산스 Text" panose="020B0600000101010101" pitchFamily="50" charset="-127"/>
                          <a:ea typeface="현대산스 Text" panose="020B0600000101010101" pitchFamily="50" charset="-127"/>
                        </a:rPr>
                        <a:t>                                                   </a:t>
                      </a:r>
                      <a:r>
                        <a:rPr lang="en-US" altLang="ko-KR" sz="850" b="0" kern="1200" dirty="0">
                          <a:solidFill>
                            <a:schemeClr val="tx1"/>
                          </a:solidFill>
                          <a:effectLst/>
                          <a:latin typeface="현대산스 Text" panose="020B0600000101010101" pitchFamily="50" charset="-127"/>
                          <a:ea typeface="현대산스 Text" panose="020B0600000101010101" pitchFamily="50" charset="-127"/>
                          <a:cs typeface="+mn-cs"/>
                        </a:rPr>
                        <a:t>(</a:t>
                      </a:r>
                      <a:r>
                        <a:rPr lang="ko-KR" altLang="en-US" sz="850" b="0" kern="1200" dirty="0">
                          <a:solidFill>
                            <a:schemeClr val="tx1"/>
                          </a:solidFill>
                          <a:effectLst/>
                          <a:latin typeface="현대산스 Text" panose="020B0600000101010101" pitchFamily="50" charset="-127"/>
                          <a:ea typeface="현대산스 Text" panose="020B0600000101010101" pitchFamily="50" charset="-127"/>
                          <a:cs typeface="+mn-cs"/>
                        </a:rPr>
                        <a:t>공정데이터를 차량 단위 품질 데이터로 통합</a:t>
                      </a:r>
                      <a:r>
                        <a:rPr lang="en-US" altLang="ko-KR" sz="850" b="0" kern="1200" dirty="0">
                          <a:solidFill>
                            <a:schemeClr val="tx1"/>
                          </a:solidFill>
                          <a:effectLst/>
                          <a:latin typeface="현대산스 Text" panose="020B0600000101010101" pitchFamily="50" charset="-127"/>
                          <a:ea typeface="현대산스 Text" panose="020B0600000101010101" pitchFamily="50" charset="-127"/>
                          <a:cs typeface="+mn-cs"/>
                        </a:rPr>
                        <a:t>)</a:t>
                      </a:r>
                    </a:p>
                    <a:p>
                      <a:pPr algn="l">
                        <a:buNone/>
                      </a:pP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품질 데이터 표준화</a:t>
                      </a:r>
                      <a:r>
                        <a:rPr lang="en-US" altLang="ko-KR" sz="850" b="1"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각 공정별 불량 정보 데이터의 표준 코드화 필요</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sz="850" b="0" dirty="0">
                          <a:effectLst/>
                          <a:latin typeface="현대산스 Text" panose="020B0600000101010101" pitchFamily="50" charset="-127"/>
                          <a:ea typeface="현대산스 Text" panose="020B0600000101010101" pitchFamily="50" charset="-127"/>
                        </a:rPr>
                        <a:t>• Data Lakehouse </a:t>
                      </a:r>
                    </a:p>
                    <a:p>
                      <a:pPr algn="l">
                        <a:buNone/>
                      </a:pPr>
                      <a:r>
                        <a:rPr lang="en-US"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시계열 </a:t>
                      </a:r>
                      <a:r>
                        <a:rPr lang="en-US" altLang="ko-KR" sz="850" b="0" dirty="0">
                          <a:effectLst/>
                          <a:latin typeface="현대산스 Text" panose="020B0600000101010101" pitchFamily="50" charset="-127"/>
                          <a:ea typeface="현대산스 Text" panose="020B0600000101010101" pitchFamily="50" charset="-127"/>
                        </a:rPr>
                        <a:t>+ 3</a:t>
                      </a:r>
                      <a:r>
                        <a:rPr lang="en-US" sz="850" b="0" dirty="0">
                          <a:effectLst/>
                          <a:latin typeface="현대산스 Text" panose="020B0600000101010101" pitchFamily="50" charset="-127"/>
                          <a:ea typeface="현대산스 Text" panose="020B0600000101010101" pitchFamily="50" charset="-127"/>
                        </a:rPr>
                        <a:t>D/</a:t>
                      </a:r>
                      <a:r>
                        <a:rPr lang="ko-KR" altLang="en-US" sz="850" b="0" dirty="0">
                          <a:effectLst/>
                          <a:latin typeface="현대산스 Text" panose="020B0600000101010101" pitchFamily="50" charset="-127"/>
                          <a:ea typeface="현대산스 Text" panose="020B0600000101010101" pitchFamily="50" charset="-127"/>
                        </a:rPr>
                        <a:t>이미지 통합</a:t>
                      </a:r>
                      <a:r>
                        <a:rPr lang="en-US" altLang="ko-KR" sz="850" b="0" dirty="0">
                          <a:effectLst/>
                          <a:latin typeface="현대산스 Text" panose="020B0600000101010101" pitchFamily="50" charset="-127"/>
                          <a:ea typeface="현대산스 Text"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현대산스 Text" panose="020B0600000101010101" pitchFamily="50" charset="-127"/>
                          <a:ea typeface="현대산스 Text" panose="020B0600000101010101" pitchFamily="50" charset="-127"/>
                        </a:rPr>
                        <a:t>• </a:t>
                      </a:r>
                      <a:r>
                        <a:rPr lang="en-US" sz="850" b="0" dirty="0">
                          <a:effectLst/>
                          <a:latin typeface="현대산스 Text" panose="020B0600000101010101" pitchFamily="50" charset="-127"/>
                          <a:ea typeface="현대산스 Text" panose="020B0600000101010101" pitchFamily="50" charset="-127"/>
                        </a:rPr>
                        <a:t>Data Genealogy / Traceability System</a:t>
                      </a:r>
                      <a:br>
                        <a:rPr lang="en-US" sz="850" b="0" dirty="0">
                          <a:effectLst/>
                          <a:latin typeface="현대산스 Text" panose="020B0600000101010101" pitchFamily="50" charset="-127"/>
                          <a:ea typeface="현대산스 Text" panose="020B0600000101010101" pitchFamily="50" charset="-127"/>
                        </a:rPr>
                      </a:br>
                      <a:r>
                        <a:rPr lang="en-US" sz="850" b="0" dirty="0">
                          <a:effectLst/>
                          <a:latin typeface="현대산스 Text" panose="020B0600000101010101" pitchFamily="50" charset="-127"/>
                          <a:ea typeface="현대산스 Text" panose="020B0600000101010101" pitchFamily="50" charset="-127"/>
                        </a:rPr>
                        <a:t>• MDM (</a:t>
                      </a:r>
                      <a:r>
                        <a:rPr lang="ko-KR" altLang="en-US" sz="850" b="0" dirty="0">
                          <a:effectLst/>
                          <a:latin typeface="현대산스 Text" panose="020B0600000101010101" pitchFamily="50" charset="-127"/>
                          <a:ea typeface="현대산스 Text" panose="020B0600000101010101" pitchFamily="50" charset="-127"/>
                        </a:rPr>
                        <a:t>품질 불량 코드 표준화</a:t>
                      </a:r>
                      <a:r>
                        <a:rPr lang="en-US" altLang="ko-KR" sz="850" b="0" dirty="0">
                          <a:effectLst/>
                          <a:latin typeface="현대산스 Text" panose="020B0600000101010101" pitchFamily="50" charset="-127"/>
                          <a:ea typeface="현대산스 Text" panose="020B0600000101010101" pitchFamily="50"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품질 데이터 구조의 비표준화</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Tx/>
                        <a:buNone/>
                        <a:tabLst/>
                        <a:defRPr/>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공정간 데이터 단절 </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누락</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Tx/>
                        <a:buNone/>
                        <a:tabLst/>
                        <a:defRPr/>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품질 불량 및 원인과 관련된 충분한 데이터 확보</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26434180"/>
                  </a:ext>
                </a:extLst>
              </a:tr>
              <a:tr h="1103062">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err="1">
                          <a:solidFill>
                            <a:schemeClr val="tx1"/>
                          </a:solidFill>
                          <a:effectLst/>
                          <a:latin typeface="현대산스 Text" panose="020B0600000101010101" pitchFamily="50" charset="-127"/>
                          <a:ea typeface="현대산스 Text" panose="020B0600000101010101" pitchFamily="50" charset="-127"/>
                        </a:rPr>
                        <a:t>다변량</a:t>
                      </a:r>
                      <a:r>
                        <a:rPr lang="ko-KR" altLang="en-US" sz="850" b="1" dirty="0">
                          <a:solidFill>
                            <a:schemeClr val="tx1"/>
                          </a:solidFill>
                          <a:effectLst/>
                          <a:latin typeface="현대산스 Text" panose="020B0600000101010101" pitchFamily="50" charset="-127"/>
                          <a:ea typeface="현대산스 Text" panose="020B0600000101010101" pitchFamily="50" charset="-127"/>
                        </a:rPr>
                        <a:t> 근본 원인 분석 </a:t>
                      </a:r>
                      <a:r>
                        <a:rPr lang="en-US" altLang="ko-KR" sz="850" b="1" dirty="0">
                          <a:solidFill>
                            <a:schemeClr val="tx1"/>
                          </a:solidFill>
                          <a:effectLst/>
                          <a:latin typeface="현대산스 Text" panose="020B0600000101010101" pitchFamily="50" charset="-127"/>
                          <a:ea typeface="현대산스 Text" panose="020B0600000101010101" pitchFamily="50" charset="-127"/>
                        </a:rPr>
                        <a:t>(RCA)]</a:t>
                      </a:r>
                      <a:r>
                        <a:rPr lang="ko-KR" altLang="en-US" sz="850" dirty="0">
                          <a:solidFill>
                            <a:schemeClr val="tx1"/>
                          </a:solidFill>
                          <a:effectLst/>
                          <a:latin typeface="현대산스 Text" panose="020B0600000101010101" pitchFamily="50" charset="-127"/>
                          <a:ea typeface="현대산스 Text" panose="020B0600000101010101" pitchFamily="50" charset="-127"/>
                        </a:rPr>
                        <a:t> 불량 발생 시 </a:t>
                      </a:r>
                      <a:r>
                        <a:rPr lang="en-US" altLang="ko-KR" sz="850" dirty="0">
                          <a:solidFill>
                            <a:schemeClr val="tx1"/>
                          </a:solidFill>
                          <a:effectLst/>
                          <a:latin typeface="현대산스 Text" panose="020B0600000101010101" pitchFamily="50" charset="-127"/>
                          <a:ea typeface="현대산스 Text" panose="020B0600000101010101" pitchFamily="50" charset="-127"/>
                        </a:rPr>
                        <a:t>5</a:t>
                      </a:r>
                      <a:r>
                        <a:rPr lang="ko-KR" altLang="en-US" sz="850" dirty="0">
                          <a:solidFill>
                            <a:schemeClr val="tx1"/>
                          </a:solidFill>
                          <a:effectLst/>
                          <a:latin typeface="현대산스 Text" panose="020B0600000101010101" pitchFamily="50" charset="-127"/>
                          <a:ea typeface="현대산스 Text" panose="020B0600000101010101" pitchFamily="50" charset="-127"/>
                        </a:rPr>
                        <a:t>대 요인 중 진짜 원인을 </a:t>
                      </a:r>
                      <a:r>
                        <a:rPr lang="en-US" altLang="ko-KR" sz="850" dirty="0">
                          <a:solidFill>
                            <a:schemeClr val="tx1"/>
                          </a:solidFill>
                          <a:effectLst/>
                          <a:latin typeface="현대산스 Text" panose="020B0600000101010101" pitchFamily="50" charset="-127"/>
                          <a:ea typeface="현대산스 Text" panose="020B0600000101010101" pitchFamily="50" charset="-127"/>
                        </a:rPr>
                        <a:t>AI</a:t>
                      </a:r>
                      <a:r>
                        <a:rPr lang="ko-KR" altLang="en-US" sz="850" dirty="0">
                          <a:solidFill>
                            <a:schemeClr val="tx1"/>
                          </a:solidFill>
                          <a:effectLst/>
                          <a:latin typeface="현대산스 Text" panose="020B0600000101010101" pitchFamily="50" charset="-127"/>
                          <a:ea typeface="현대산스 Text" panose="020B0600000101010101" pitchFamily="50" charset="-127"/>
                        </a:rPr>
                        <a:t>가 </a:t>
                      </a:r>
                      <a:r>
                        <a:rPr lang="ko-KR" altLang="en-US" sz="850" dirty="0" err="1">
                          <a:solidFill>
                            <a:schemeClr val="tx1"/>
                          </a:solidFill>
                          <a:effectLst/>
                          <a:latin typeface="현대산스 Text" panose="020B0600000101010101" pitchFamily="50" charset="-127"/>
                          <a:ea typeface="현대산스 Text" panose="020B0600000101010101" pitchFamily="50" charset="-127"/>
                        </a:rPr>
                        <a:t>역추적</a:t>
                      </a:r>
                      <a:r>
                        <a:rPr lang="ko-KR" altLang="en-US" sz="850" dirty="0">
                          <a:solidFill>
                            <a:schemeClr val="tx1"/>
                          </a:solidFill>
                          <a:effectLst/>
                          <a:latin typeface="현대산스 Text" panose="020B0600000101010101" pitchFamily="50" charset="-127"/>
                          <a:ea typeface="현대산스 Text" panose="020B0600000101010101" pitchFamily="50" charset="-127"/>
                        </a:rPr>
                        <a:t> </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예</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의장 단차 불량 원인 </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err="1">
                          <a:solidFill>
                            <a:schemeClr val="tx1"/>
                          </a:solidFill>
                          <a:effectLst/>
                          <a:latin typeface="현대산스 Text" panose="020B0600000101010101" pitchFamily="50" charset="-127"/>
                          <a:ea typeface="현대산스 Text" panose="020B0600000101010101" pitchFamily="50" charset="-127"/>
                        </a:rPr>
                        <a:t>무빙</a:t>
                      </a:r>
                      <a:r>
                        <a:rPr lang="ko-KR" altLang="en-US" sz="850" dirty="0">
                          <a:solidFill>
                            <a:schemeClr val="tx1"/>
                          </a:solidFill>
                          <a:effectLst/>
                          <a:latin typeface="현대산스 Text" panose="020B0600000101010101" pitchFamily="50" charset="-127"/>
                          <a:ea typeface="현대산스 Text" panose="020B0600000101010101" pitchFamily="50" charset="-127"/>
                        </a:rPr>
                        <a:t> 장착 오차 </a:t>
                      </a:r>
                      <a:r>
                        <a:rPr lang="en-US" altLang="ko-KR" sz="850" dirty="0">
                          <a:solidFill>
                            <a:schemeClr val="tx1"/>
                          </a:solidFill>
                          <a:effectLst/>
                          <a:latin typeface="현대산스 Text" panose="020B0600000101010101" pitchFamily="50" charset="-127"/>
                          <a:ea typeface="현대산스 Text" panose="020B0600000101010101" pitchFamily="50" charset="-127"/>
                        </a:rPr>
                        <a:t>70% + </a:t>
                      </a:r>
                      <a:r>
                        <a:rPr lang="ko-KR" altLang="en-US" sz="850" dirty="0">
                          <a:solidFill>
                            <a:schemeClr val="tx1"/>
                          </a:solidFill>
                          <a:effectLst/>
                          <a:latin typeface="현대산스 Text" panose="020B0600000101010101" pitchFamily="50" charset="-127"/>
                          <a:ea typeface="현대산스 Text" panose="020B0600000101010101" pitchFamily="50" charset="-127"/>
                        </a:rPr>
                        <a:t>차체 용접 변형 </a:t>
                      </a:r>
                      <a:r>
                        <a:rPr lang="en-US" altLang="ko-KR" sz="850" dirty="0">
                          <a:solidFill>
                            <a:schemeClr val="tx1"/>
                          </a:solidFill>
                          <a:effectLst/>
                          <a:latin typeface="현대산스 Text" panose="020B0600000101010101" pitchFamily="50" charset="-127"/>
                          <a:ea typeface="현대산스 Text" panose="020B0600000101010101" pitchFamily="50" charset="-127"/>
                        </a:rPr>
                        <a:t>30%")</a:t>
                      </a:r>
                      <a:br>
                        <a:rPr lang="en-US" altLang="ko-KR"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원인별 맞춤형 대책 자율 수립</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① 설비</a:t>
                      </a:r>
                      <a:r>
                        <a:rPr lang="en-US" altLang="ko-KR" sz="850" kern="1200" dirty="0">
                          <a:solidFill>
                            <a:schemeClr val="tx1"/>
                          </a:solidFill>
                          <a:effectLst/>
                          <a:latin typeface="현대산스 Text" panose="020B0600000101010101" pitchFamily="50" charset="-127"/>
                          <a:ea typeface="현대산스 Text" panose="020B0600000101010101" pitchFamily="50" charset="-127"/>
                          <a:cs typeface="+mn-cs"/>
                        </a:rPr>
                        <a:t>/</a:t>
                      </a: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작업자 원인 </a:t>
                      </a:r>
                      <a:r>
                        <a:rPr lang="en-US" altLang="ko-KR" sz="850" kern="1200" dirty="0">
                          <a:solidFill>
                            <a:schemeClr val="tx1"/>
                          </a:solidFill>
                          <a:effectLst/>
                          <a:latin typeface="현대산스 Text" panose="020B0600000101010101" pitchFamily="50" charset="-127"/>
                          <a:ea typeface="현대산스 Text" panose="020B0600000101010101" pitchFamily="50" charset="-127"/>
                          <a:cs typeface="+mn-cs"/>
                        </a:rPr>
                        <a:t>:</a:t>
                      </a: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 </a:t>
                      </a:r>
                      <a:r>
                        <a:rPr lang="ko-KR" altLang="en-US" sz="850" kern="1200" dirty="0" err="1">
                          <a:solidFill>
                            <a:schemeClr val="tx1"/>
                          </a:solidFill>
                          <a:effectLst/>
                          <a:latin typeface="현대산스 Text" panose="020B0600000101010101" pitchFamily="50" charset="-127"/>
                          <a:ea typeface="현대산스 Text" panose="020B0600000101010101" pitchFamily="50" charset="-127"/>
                          <a:cs typeface="+mn-cs"/>
                        </a:rPr>
                        <a:t>무빙</a:t>
                      </a: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 장착 로봇 보정치 계산</a:t>
                      </a:r>
                      <a:r>
                        <a:rPr lang="en-US" altLang="ko-KR" sz="850" kern="1200" dirty="0">
                          <a:solidFill>
                            <a:schemeClr val="tx1"/>
                          </a:solidFill>
                          <a:effectLst/>
                          <a:latin typeface="현대산스 Text" panose="020B0600000101010101" pitchFamily="50" charset="-127"/>
                          <a:ea typeface="현대산스 Text" panose="020B0600000101010101" pitchFamily="50" charset="-127"/>
                          <a:cs typeface="+mn-cs"/>
                        </a:rPr>
                        <a:t>, </a:t>
                      </a: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작업자 조립 불량 대책 등</a:t>
                      </a:r>
                      <a:b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b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② 부품 원인 </a:t>
                      </a:r>
                      <a:r>
                        <a:rPr lang="en-US" altLang="ko-KR" sz="850" kern="1200" dirty="0">
                          <a:solidFill>
                            <a:schemeClr val="tx1"/>
                          </a:solidFill>
                          <a:effectLst/>
                          <a:latin typeface="현대산스 Text" panose="020B0600000101010101" pitchFamily="50" charset="-127"/>
                          <a:ea typeface="현대산스 Text" panose="020B0600000101010101" pitchFamily="50" charset="-127"/>
                          <a:cs typeface="+mn-cs"/>
                        </a:rPr>
                        <a:t>:</a:t>
                      </a: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 해당 </a:t>
                      </a:r>
                      <a:r>
                        <a:rPr lang="en-US" altLang="ko-KR" sz="850" kern="1200" dirty="0">
                          <a:solidFill>
                            <a:schemeClr val="tx1"/>
                          </a:solidFill>
                          <a:effectLst/>
                          <a:latin typeface="현대산스 Text" panose="020B0600000101010101" pitchFamily="50" charset="-127"/>
                          <a:ea typeface="현대산스 Text" panose="020B0600000101010101" pitchFamily="50" charset="-127"/>
                          <a:cs typeface="+mn-cs"/>
                        </a:rPr>
                        <a:t>VDR </a:t>
                      </a:r>
                      <a:r>
                        <a:rPr lang="ko-KR" altLang="en-US" sz="850" kern="1200" dirty="0" err="1">
                          <a:solidFill>
                            <a:schemeClr val="tx1"/>
                          </a:solidFill>
                          <a:effectLst/>
                          <a:latin typeface="현대산스 Text" panose="020B0600000101010101" pitchFamily="50" charset="-127"/>
                          <a:ea typeface="현대산스 Text" panose="020B0600000101010101" pitchFamily="50" charset="-127"/>
                          <a:cs typeface="+mn-cs"/>
                        </a:rPr>
                        <a:t>로트</a:t>
                      </a:r>
                      <a:r>
                        <a:rPr lang="en-US" altLang="ko-KR" sz="850" kern="1200" dirty="0">
                          <a:solidFill>
                            <a:schemeClr val="tx1"/>
                          </a:solidFill>
                          <a:effectLst/>
                          <a:latin typeface="현대산스 Text" panose="020B0600000101010101" pitchFamily="50" charset="-127"/>
                          <a:ea typeface="현대산스 Text" panose="020B0600000101010101" pitchFamily="50" charset="-127"/>
                          <a:cs typeface="+mn-cs"/>
                        </a:rPr>
                        <a:t>(Lot) </a:t>
                      </a: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라인 투입 보류 판정</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디지털 트윈 검증</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 </a:t>
                      </a:r>
                      <a:r>
                        <a:rPr lang="en-US" altLang="ko-KR" sz="850" dirty="0">
                          <a:solidFill>
                            <a:schemeClr val="tx1"/>
                          </a:solidFill>
                          <a:effectLst/>
                          <a:latin typeface="현대산스 Text" panose="020B0600000101010101" pitchFamily="50" charset="-127"/>
                          <a:ea typeface="현대산스 Text" panose="020B0600000101010101" pitchFamily="50" charset="-127"/>
                        </a:rPr>
                        <a:t>AI</a:t>
                      </a:r>
                      <a:r>
                        <a:rPr lang="ko-KR" altLang="en-US" sz="850" dirty="0">
                          <a:solidFill>
                            <a:schemeClr val="tx1"/>
                          </a:solidFill>
                          <a:effectLst/>
                          <a:latin typeface="현대산스 Text" panose="020B0600000101010101" pitchFamily="50" charset="-127"/>
                          <a:ea typeface="현대산스 Text" panose="020B0600000101010101" pitchFamily="50" charset="-127"/>
                        </a:rPr>
                        <a:t>가 계산한 </a:t>
                      </a:r>
                      <a:r>
                        <a:rPr lang="ko-KR" altLang="en-US" sz="850" dirty="0" err="1">
                          <a:solidFill>
                            <a:schemeClr val="tx1"/>
                          </a:solidFill>
                          <a:effectLst/>
                          <a:latin typeface="현대산스 Text" panose="020B0600000101010101" pitchFamily="50" charset="-127"/>
                          <a:ea typeface="현대산스 Text" panose="020B0600000101010101" pitchFamily="50" charset="-127"/>
                        </a:rPr>
                        <a:t>보정값을</a:t>
                      </a:r>
                      <a:r>
                        <a:rPr lang="ko-KR" altLang="en-US" sz="850" dirty="0">
                          <a:solidFill>
                            <a:schemeClr val="tx1"/>
                          </a:solidFill>
                          <a:effectLst/>
                          <a:latin typeface="현대산스 Text" panose="020B0600000101010101" pitchFamily="50" charset="-127"/>
                          <a:ea typeface="현대산스 Text" panose="020B0600000101010101" pitchFamily="50" charset="-127"/>
                        </a:rPr>
                        <a:t> 가상 공정에 적용하여 </a:t>
                      </a:r>
                      <a:r>
                        <a:rPr lang="en-US" altLang="ko-KR" sz="850" dirty="0">
                          <a:solidFill>
                            <a:schemeClr val="tx1"/>
                          </a:solidFill>
                          <a:effectLst/>
                          <a:latin typeface="현대산스 Text" panose="020B0600000101010101" pitchFamily="50" charset="-127"/>
                          <a:ea typeface="현대산스 Text" panose="020B0600000101010101" pitchFamily="50" charset="-127"/>
                        </a:rPr>
                        <a:t>2</a:t>
                      </a:r>
                      <a:r>
                        <a:rPr lang="ko-KR" altLang="en-US" sz="850" dirty="0">
                          <a:solidFill>
                            <a:schemeClr val="tx1"/>
                          </a:solidFill>
                          <a:effectLst/>
                          <a:latin typeface="현대산스 Text" panose="020B0600000101010101" pitchFamily="50" charset="-127"/>
                          <a:ea typeface="현대산스 Text" panose="020B0600000101010101" pitchFamily="50" charset="-127"/>
                        </a:rPr>
                        <a:t>차 불량 </a:t>
                      </a:r>
                      <a:r>
                        <a:rPr lang="en-US" altLang="ko-KR" sz="850" dirty="0">
                          <a:solidFill>
                            <a:schemeClr val="tx1"/>
                          </a:solidFill>
                          <a:effectLst/>
                          <a:latin typeface="현대산스 Text" panose="020B0600000101010101" pitchFamily="50" charset="-127"/>
                          <a:ea typeface="현대산스 Text" panose="020B0600000101010101" pitchFamily="50" charset="-127"/>
                        </a:rPr>
                        <a:t>(Side-effect) </a:t>
                      </a: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발생 여부 사전 검증</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sz="850" b="0" dirty="0">
                          <a:effectLst/>
                          <a:latin typeface="현대산스 Text" panose="020B0600000101010101" pitchFamily="50" charset="-127"/>
                          <a:ea typeface="현대산스 Text" panose="020B0600000101010101" pitchFamily="50" charset="-127"/>
                        </a:rPr>
                        <a:t>• Diagnostic AI: </a:t>
                      </a:r>
                      <a:r>
                        <a:rPr lang="ko-KR" altLang="en-US" sz="850" b="0" dirty="0" err="1">
                          <a:effectLst/>
                          <a:latin typeface="현대산스 Text" panose="020B0600000101010101" pitchFamily="50" charset="-127"/>
                          <a:ea typeface="현대산스 Text" panose="020B0600000101010101" pitchFamily="50" charset="-127"/>
                        </a:rPr>
                        <a:t>다변량</a:t>
                      </a:r>
                      <a:r>
                        <a:rPr lang="ko-KR" altLang="en-US" sz="850" b="0" dirty="0">
                          <a:effectLst/>
                          <a:latin typeface="현대산스 Text" panose="020B0600000101010101" pitchFamily="50" charset="-127"/>
                          <a:ea typeface="현대산스 Text" panose="020B0600000101010101" pitchFamily="50" charset="-127"/>
                        </a:rPr>
                        <a:t> 상관관계 분석 </a:t>
                      </a:r>
                      <a:r>
                        <a:rPr lang="en-US" altLang="ko-KR" sz="850" b="0" dirty="0">
                          <a:effectLst/>
                          <a:latin typeface="현대산스 Text" panose="020B0600000101010101" pitchFamily="50" charset="-127"/>
                          <a:ea typeface="현대산스 Text" panose="020B0600000101010101" pitchFamily="50" charset="-127"/>
                        </a:rPr>
                        <a:t>(</a:t>
                      </a:r>
                      <a:r>
                        <a:rPr lang="en-US" sz="850" b="0" dirty="0">
                          <a:effectLst/>
                          <a:latin typeface="현대산스 Text" panose="020B0600000101010101" pitchFamily="50" charset="-127"/>
                          <a:ea typeface="현대산스 Text" panose="020B0600000101010101" pitchFamily="50" charset="-127"/>
                        </a:rPr>
                        <a:t>RCA)</a:t>
                      </a:r>
                      <a:br>
                        <a:rPr lang="en-US" sz="850" b="0" dirty="0">
                          <a:effectLst/>
                          <a:latin typeface="현대산스 Text" panose="020B0600000101010101" pitchFamily="50" charset="-127"/>
                          <a:ea typeface="현대산스 Text" panose="020B0600000101010101" pitchFamily="50" charset="-127"/>
                        </a:rPr>
                      </a:br>
                      <a:r>
                        <a:rPr lang="en-US" sz="850" b="0" dirty="0">
                          <a:effectLst/>
                          <a:latin typeface="현대산스 Text" panose="020B0600000101010101" pitchFamily="50" charset="-127"/>
                          <a:ea typeface="현대산스 Text" panose="020B0600000101010101" pitchFamily="50" charset="-127"/>
                        </a:rPr>
                        <a:t>• Knowledge Graph: </a:t>
                      </a:r>
                      <a:r>
                        <a:rPr lang="ko-KR" altLang="en-US" sz="850" b="0" dirty="0">
                          <a:effectLst/>
                          <a:latin typeface="현대산스 Text" panose="020B0600000101010101" pitchFamily="50" charset="-127"/>
                          <a:ea typeface="현대산스 Text" panose="020B0600000101010101" pitchFamily="50" charset="-127"/>
                        </a:rPr>
                        <a:t>불량 증상 ➔ 원인 ➔ </a:t>
                      </a:r>
                      <a:endParaRPr lang="en-US" altLang="ko-KR" sz="850" b="0" dirty="0">
                        <a:effectLst/>
                        <a:latin typeface="현대산스 Text" panose="020B0600000101010101" pitchFamily="50" charset="-127"/>
                        <a:ea typeface="현대산스 Text" panose="020B0600000101010101" pitchFamily="50" charset="-127"/>
                      </a:endParaRP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대책 매핑</a:t>
                      </a:r>
                      <a:br>
                        <a:rPr lang="ko-KR" altLang="en-US" sz="850" b="0" dirty="0">
                          <a:effectLst/>
                          <a:latin typeface="현대산스 Text" panose="020B0600000101010101" pitchFamily="50" charset="-127"/>
                          <a:ea typeface="현대산스 Text" panose="020B0600000101010101" pitchFamily="50" charset="-127"/>
                        </a:rPr>
                      </a:br>
                      <a:r>
                        <a:rPr lang="en-US" altLang="ko-KR" sz="850" b="0" dirty="0">
                          <a:effectLst/>
                          <a:latin typeface="현대산스 Text" panose="020B0600000101010101" pitchFamily="50" charset="-127"/>
                          <a:ea typeface="현대산스 Text" panose="020B0600000101010101" pitchFamily="50" charset="-127"/>
                        </a:rPr>
                        <a:t>• </a:t>
                      </a:r>
                      <a:r>
                        <a:rPr lang="en-US" sz="850" b="0" dirty="0">
                          <a:effectLst/>
                          <a:latin typeface="현대산스 Text" panose="020B0600000101010101" pitchFamily="50" charset="-127"/>
                          <a:ea typeface="현대산스 Text" panose="020B0600000101010101" pitchFamily="50" charset="-127"/>
                        </a:rPr>
                        <a:t>Digital Twin: 3D </a:t>
                      </a:r>
                      <a:r>
                        <a:rPr lang="ko-KR" altLang="en-US" sz="850" b="0" dirty="0">
                          <a:effectLst/>
                          <a:latin typeface="현대산스 Text" panose="020B0600000101010101" pitchFamily="50" charset="-127"/>
                          <a:ea typeface="현대산스 Text" panose="020B0600000101010101" pitchFamily="50" charset="-127"/>
                        </a:rPr>
                        <a:t>공차 분석 </a:t>
                      </a:r>
                      <a:endParaRPr lang="en-US" altLang="ko-KR" sz="850" b="0" dirty="0">
                        <a:effectLst/>
                        <a:latin typeface="현대산스 Text" panose="020B0600000101010101" pitchFamily="50" charset="-127"/>
                        <a:ea typeface="현대산스 Text" panose="020B0600000101010101" pitchFamily="50" charset="-127"/>
                      </a:endParaRPr>
                    </a:p>
                    <a:p>
                      <a:pPr algn="l">
                        <a:buNone/>
                      </a:pPr>
                      <a:r>
                        <a:rPr lang="en-US" sz="850" b="0" dirty="0">
                          <a:effectLst/>
                          <a:latin typeface="현대산스 Text" panose="020B0600000101010101" pitchFamily="50" charset="-127"/>
                          <a:ea typeface="현대산스 Text" panose="020B0600000101010101" pitchFamily="50" charset="-127"/>
                        </a:rPr>
                        <a:t>• Generative AI: </a:t>
                      </a:r>
                      <a:r>
                        <a:rPr lang="ko-KR" altLang="en-US" sz="850" b="0" dirty="0">
                          <a:effectLst/>
                          <a:latin typeface="현대산스 Text" panose="020B0600000101010101" pitchFamily="50" charset="-127"/>
                          <a:ea typeface="현대산스 Text" panose="020B0600000101010101" pitchFamily="50" charset="-127"/>
                        </a:rPr>
                        <a:t>불량 분석 리포트 자동 생성</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ko-KR" altLang="en-US"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ko-KR" altLang="en-US"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불량의 원인이 무엇인지 </a:t>
                      </a:r>
                      <a:r>
                        <a:rPr lang="en-US" altLang="ko-KR" sz="850" b="0" dirty="0">
                          <a:solidFill>
                            <a:schemeClr val="tx1"/>
                          </a:solidFill>
                          <a:effectLst/>
                          <a:latin typeface="현대산스 Text" panose="020B0600000101010101" pitchFamily="50" charset="-127"/>
                          <a:ea typeface="현대산스 Text" panose="020B0600000101010101" pitchFamily="50" charset="-127"/>
                        </a:rPr>
                        <a:t>AI </a:t>
                      </a:r>
                      <a:r>
                        <a:rPr lang="ko-KR" altLang="en-US" sz="850" b="0" dirty="0">
                          <a:solidFill>
                            <a:schemeClr val="tx1"/>
                          </a:solidFill>
                          <a:effectLst/>
                          <a:latin typeface="현대산스 Text" panose="020B0600000101010101" pitchFamily="50" charset="-127"/>
                          <a:ea typeface="현대산스 Text" panose="020B0600000101010101" pitchFamily="50" charset="-127"/>
                        </a:rPr>
                        <a:t>가 명확히 구분해 내는 것의 한계</a:t>
                      </a:r>
                      <a:br>
                        <a:rPr lang="ko-KR" altLang="en-US"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품질 불량의 원인이 복합적일 경우</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대책 오류의 가능성</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품질 불량 및 원인 학습 데이터가 부족할 경우 모델 정합성</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 부족</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80332924"/>
                  </a:ext>
                </a:extLst>
              </a:tr>
              <a:tr h="965181">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설비 파라미터 자율 보정</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 </a:t>
                      </a:r>
                      <a:r>
                        <a:rPr lang="en-US" altLang="ko-KR" sz="850" dirty="0">
                          <a:solidFill>
                            <a:schemeClr val="tx1"/>
                          </a:solidFill>
                          <a:effectLst/>
                          <a:latin typeface="현대산스 Text" panose="020B0600000101010101" pitchFamily="50" charset="-127"/>
                          <a:ea typeface="현대산스 Text" panose="020B0600000101010101" pitchFamily="50" charset="-127"/>
                        </a:rPr>
                        <a:t>AI</a:t>
                      </a:r>
                      <a:r>
                        <a:rPr lang="ko-KR" altLang="en-US" sz="850" dirty="0">
                          <a:solidFill>
                            <a:schemeClr val="tx1"/>
                          </a:solidFill>
                          <a:effectLst/>
                          <a:latin typeface="현대산스 Text" panose="020B0600000101010101" pitchFamily="50" charset="-127"/>
                          <a:ea typeface="현대산스 Text" panose="020B0600000101010101" pitchFamily="50" charset="-127"/>
                        </a:rPr>
                        <a:t>가 도출한 </a:t>
                      </a:r>
                      <a:r>
                        <a:rPr lang="ko-KR" altLang="en-US" sz="850" dirty="0" err="1">
                          <a:solidFill>
                            <a:schemeClr val="tx1"/>
                          </a:solidFill>
                          <a:effectLst/>
                          <a:latin typeface="현대산스 Text" panose="020B0600000101010101" pitchFamily="50" charset="-127"/>
                          <a:ea typeface="현대산스 Text" panose="020B0600000101010101" pitchFamily="50" charset="-127"/>
                        </a:rPr>
                        <a:t>보정값을</a:t>
                      </a:r>
                      <a:r>
                        <a:rPr lang="ko-KR" altLang="en-US"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err="1">
                          <a:solidFill>
                            <a:schemeClr val="tx1"/>
                          </a:solidFill>
                          <a:effectLst/>
                          <a:latin typeface="현대산스 Text" panose="020B0600000101010101" pitchFamily="50" charset="-127"/>
                          <a:ea typeface="현대산스 Text" panose="020B0600000101010101" pitchFamily="50" charset="-127"/>
                        </a:rPr>
                        <a:t>엣지</a:t>
                      </a:r>
                      <a:r>
                        <a:rPr lang="ko-KR" altLang="en-US" sz="850" dirty="0">
                          <a:solidFill>
                            <a:schemeClr val="tx1"/>
                          </a:solidFill>
                          <a:effectLst/>
                          <a:latin typeface="현대산스 Text" panose="020B0600000101010101" pitchFamily="50" charset="-127"/>
                          <a:ea typeface="현대산스 Text" panose="020B0600000101010101" pitchFamily="50" charset="-127"/>
                        </a:rPr>
                        <a:t> 컨트롤러를 통해</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차체 용접 조건 등에 실시간 자동 반영 </a:t>
                      </a:r>
                      <a:r>
                        <a:rPr lang="en-US" altLang="ko-KR" sz="850" dirty="0">
                          <a:solidFill>
                            <a:schemeClr val="tx1"/>
                          </a:solidFill>
                          <a:effectLst/>
                          <a:latin typeface="현대산스 Text" panose="020B0600000101010101" pitchFamily="50" charset="-127"/>
                          <a:ea typeface="현대산스 Text" panose="020B0600000101010101" pitchFamily="50" charset="-127"/>
                        </a:rPr>
                        <a:t>(S/W </a:t>
                      </a:r>
                      <a:r>
                        <a:rPr lang="ko-KR" altLang="en-US" sz="850" dirty="0">
                          <a:solidFill>
                            <a:schemeClr val="tx1"/>
                          </a:solidFill>
                          <a:effectLst/>
                          <a:latin typeface="현대산스 Text" panose="020B0600000101010101" pitchFamily="50" charset="-127"/>
                          <a:ea typeface="현대산스 Text" panose="020B0600000101010101" pitchFamily="50" charset="-127"/>
                        </a:rPr>
                        <a:t>조치</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br>
                        <a:rPr lang="en-US" altLang="ko-KR"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현대산스 Text" panose="020B0600000101010101" pitchFamily="50" charset="-127"/>
                          <a:ea typeface="현대산스 Text" panose="020B0600000101010101" pitchFamily="50" charset="-127"/>
                        </a:rPr>
                        <a:t>[VDR </a:t>
                      </a:r>
                      <a:r>
                        <a:rPr lang="ko-KR" altLang="en-US" sz="850" b="1" dirty="0">
                          <a:solidFill>
                            <a:schemeClr val="tx1"/>
                          </a:solidFill>
                          <a:effectLst/>
                          <a:latin typeface="현대산스 Text" panose="020B0600000101010101" pitchFamily="50" charset="-127"/>
                          <a:ea typeface="현대산스 Text" panose="020B0600000101010101" pitchFamily="50" charset="-127"/>
                        </a:rPr>
                        <a:t>부품 자율 통제</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 불량 원인이 입고 부품일 경우</a:t>
                      </a:r>
                      <a:r>
                        <a:rPr lang="en-US" altLang="ko-KR" sz="850" dirty="0">
                          <a:solidFill>
                            <a:schemeClr val="tx1"/>
                          </a:solidFill>
                          <a:effectLst/>
                          <a:latin typeface="현대산스 Text" panose="020B0600000101010101" pitchFamily="50" charset="-127"/>
                          <a:ea typeface="현대산스 Text" panose="020B0600000101010101" pitchFamily="50" charset="-127"/>
                        </a:rPr>
                        <a:t>, WMS/MES</a:t>
                      </a:r>
                      <a:r>
                        <a:rPr lang="ko-KR" altLang="en-US" sz="850" dirty="0">
                          <a:solidFill>
                            <a:schemeClr val="tx1"/>
                          </a:solidFill>
                          <a:effectLst/>
                          <a:latin typeface="현대산스 Text" panose="020B0600000101010101" pitchFamily="50" charset="-127"/>
                          <a:ea typeface="현대산스 Text" panose="020B0600000101010101" pitchFamily="50" charset="-127"/>
                        </a:rPr>
                        <a:t>와 연동하여 해당 </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err="1">
                          <a:solidFill>
                            <a:schemeClr val="tx1"/>
                          </a:solidFill>
                          <a:effectLst/>
                          <a:latin typeface="현대산스 Text" panose="020B0600000101010101" pitchFamily="50" charset="-127"/>
                          <a:ea typeface="현대산스 Text" panose="020B0600000101010101" pitchFamily="50" charset="-127"/>
                        </a:rPr>
                        <a:t>로트의</a:t>
                      </a:r>
                      <a:r>
                        <a:rPr lang="ko-KR" altLang="en-US" sz="850" dirty="0">
                          <a:solidFill>
                            <a:schemeClr val="tx1"/>
                          </a:solidFill>
                          <a:effectLst/>
                          <a:latin typeface="현대산스 Text" panose="020B0600000101010101" pitchFamily="50" charset="-127"/>
                          <a:ea typeface="현대산스 Text" panose="020B0600000101010101" pitchFamily="50" charset="-127"/>
                        </a:rPr>
                        <a:t> 투입을 즉시 차단하고 </a:t>
                      </a:r>
                      <a:r>
                        <a:rPr lang="en-US" altLang="ko-KR" sz="850" dirty="0">
                          <a:solidFill>
                            <a:schemeClr val="tx1"/>
                          </a:solidFill>
                          <a:effectLst/>
                          <a:latin typeface="현대산스 Text" panose="020B0600000101010101" pitchFamily="50" charset="-127"/>
                          <a:ea typeface="현대산스 Text" panose="020B0600000101010101" pitchFamily="50" charset="-127"/>
                        </a:rPr>
                        <a:t>VDR</a:t>
                      </a:r>
                      <a:r>
                        <a:rPr lang="ko-KR" altLang="en-US" sz="850" dirty="0">
                          <a:solidFill>
                            <a:schemeClr val="tx1"/>
                          </a:solidFill>
                          <a:effectLst/>
                          <a:latin typeface="현대산스 Text" panose="020B0600000101010101" pitchFamily="50" charset="-127"/>
                          <a:ea typeface="현대산스 Text" panose="020B0600000101010101" pitchFamily="50" charset="-127"/>
                        </a:rPr>
                        <a:t>에 품질 클레임 자동 발송</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엔지니어링 티켓 자동 발행 </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작업자</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 품질</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문제가 작업자 표준 미준수로 판명될 경우</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자율적으로 현장 관리자에게</a:t>
                      </a:r>
                      <a:r>
                        <a:rPr lang="en-US" altLang="ko-KR" sz="850" dirty="0">
                          <a:solidFill>
                            <a:schemeClr val="tx1"/>
                          </a:solidFill>
                          <a:effectLst/>
                          <a:latin typeface="현대산스 Text" panose="020B0600000101010101" pitchFamily="50" charset="-127"/>
                          <a:ea typeface="현대산스 Text" panose="020B0600000101010101" pitchFamily="50" charset="-127"/>
                        </a:rPr>
                        <a:t>  'RCA </a:t>
                      </a:r>
                      <a:r>
                        <a:rPr lang="ko-KR" altLang="en-US" sz="850" dirty="0">
                          <a:solidFill>
                            <a:schemeClr val="tx1"/>
                          </a:solidFill>
                          <a:effectLst/>
                          <a:latin typeface="현대산스 Text" panose="020B0600000101010101" pitchFamily="50" charset="-127"/>
                          <a:ea typeface="현대산스 Text" panose="020B0600000101010101" pitchFamily="50" charset="-127"/>
                        </a:rPr>
                        <a:t>리포트</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를 첨부하여 작업 지시서</a:t>
                      </a:r>
                      <a:r>
                        <a:rPr lang="en-US" altLang="ko-KR" sz="850" dirty="0">
                          <a:solidFill>
                            <a:schemeClr val="tx1"/>
                          </a:solidFill>
                          <a:effectLst/>
                          <a:latin typeface="현대산스 Text" panose="020B0600000101010101" pitchFamily="50" charset="-127"/>
                          <a:ea typeface="현대산스 Text" panose="020B0600000101010101" pitchFamily="50" charset="-127"/>
                        </a:rPr>
                        <a:t>(Ticket) </a:t>
                      </a:r>
                      <a:r>
                        <a:rPr lang="ko-KR" altLang="en-US" sz="850" dirty="0">
                          <a:solidFill>
                            <a:schemeClr val="tx1"/>
                          </a:solidFill>
                          <a:effectLst/>
                          <a:latin typeface="현대산스 Text" panose="020B0600000101010101" pitchFamily="50" charset="-127"/>
                          <a:ea typeface="현대산스 Text" panose="020B0600000101010101" pitchFamily="50" charset="-127"/>
                        </a:rPr>
                        <a:t>자동 발행</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altLang="ko-KR" sz="850" b="0" dirty="0">
                          <a:effectLst/>
                          <a:latin typeface="현대산스 Text" panose="020B0600000101010101" pitchFamily="50" charset="-127"/>
                          <a:ea typeface="현대산스 Text" panose="020B0600000101010101" pitchFamily="50" charset="-127"/>
                        </a:rPr>
                        <a:t>• Edge Computing </a:t>
                      </a: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설비 파라미터 실시간 제어</a:t>
                      </a:r>
                      <a:r>
                        <a:rPr lang="en-US" altLang="ko-KR" sz="850" b="0" dirty="0">
                          <a:effectLst/>
                          <a:latin typeface="현대산스 Text" panose="020B0600000101010101" pitchFamily="50" charset="-127"/>
                          <a:ea typeface="현대산스 Text"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현대산스 Text" panose="020B0600000101010101" pitchFamily="50" charset="-127"/>
                          <a:ea typeface="현대산스 Text" panose="020B0600000101010101" pitchFamily="50" charset="-127"/>
                        </a:rPr>
                        <a:t>• QMS / MES Integration </a:t>
                      </a: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품질</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제조 실행 연동</a:t>
                      </a:r>
                      <a:r>
                        <a:rPr lang="en-US" altLang="ko-KR" sz="850" b="0" dirty="0">
                          <a:effectLst/>
                          <a:latin typeface="현대산스 Text" panose="020B0600000101010101" pitchFamily="50" charset="-127"/>
                          <a:ea typeface="현대산스 Text"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현대산스 Text" panose="020B0600000101010101" pitchFamily="50" charset="-127"/>
                          <a:ea typeface="현대산스 Text" panose="020B0600000101010101" pitchFamily="50" charset="-127"/>
                        </a:rPr>
                        <a:t>• RPA (VDR </a:t>
                      </a:r>
                      <a:r>
                        <a:rPr lang="ko-KR" altLang="en-US" sz="850" b="0" dirty="0">
                          <a:effectLst/>
                          <a:latin typeface="현대산스 Text" panose="020B0600000101010101" pitchFamily="50" charset="-127"/>
                          <a:ea typeface="현대산스 Text" panose="020B0600000101010101" pitchFamily="50" charset="-127"/>
                        </a:rPr>
                        <a:t>클레임 및 티켓 발행 자동화</a:t>
                      </a:r>
                      <a:r>
                        <a:rPr lang="en-US" altLang="ko-KR" sz="850" b="0" dirty="0">
                          <a:effectLst/>
                          <a:latin typeface="현대산스 Text" panose="020B0600000101010101" pitchFamily="50" charset="-127"/>
                          <a:ea typeface="현대산스 Text" panose="020B0600000101010101" pitchFamily="50"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AI</a:t>
                      </a:r>
                      <a:r>
                        <a:rPr lang="ko-KR" altLang="en-US" sz="850" b="0" dirty="0">
                          <a:solidFill>
                            <a:schemeClr val="tx1"/>
                          </a:solidFill>
                          <a:effectLst/>
                          <a:latin typeface="현대산스 Text" panose="020B0600000101010101" pitchFamily="50" charset="-127"/>
                          <a:ea typeface="현대산스 Text" panose="020B0600000101010101" pitchFamily="50" charset="-127"/>
                        </a:rPr>
                        <a:t>가 설비 파라미터를 자율적으로 변경했을 때 발생할 수</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 있는 안전사고 및 대규모 라인 정지</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리스크에 대한 책임 </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소재</a:t>
                      </a:r>
                      <a:br>
                        <a:rPr lang="ko-KR" altLang="en-US"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현대산스 Text" panose="020B0600000101010101" pitchFamily="50" charset="-127"/>
                          <a:ea typeface="현대산스 Text" panose="020B0600000101010101" pitchFamily="50" charset="-127"/>
                        </a:rPr>
                        <a:t>• VDR</a:t>
                      </a:r>
                      <a:r>
                        <a:rPr lang="ko-KR" altLang="en-US" sz="850" b="0" dirty="0">
                          <a:solidFill>
                            <a:schemeClr val="tx1"/>
                          </a:solidFill>
                          <a:effectLst/>
                          <a:latin typeface="현대산스 Text" panose="020B0600000101010101" pitchFamily="50" charset="-127"/>
                          <a:ea typeface="현대산스 Text" panose="020B0600000101010101" pitchFamily="50" charset="-127"/>
                        </a:rPr>
                        <a:t>에 대한 자동 클레임 발행 시 발생하는 계약적</a:t>
                      </a:r>
                      <a:r>
                        <a:rPr lang="en-US" altLang="ko-KR" sz="850" b="0" dirty="0">
                          <a:solidFill>
                            <a:schemeClr val="tx1"/>
                          </a:solidFill>
                          <a:effectLst/>
                          <a:latin typeface="현대산스 Text" panose="020B0600000101010101" pitchFamily="50" charset="-127"/>
                          <a:ea typeface="현대산스 Text"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법적</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 분쟁 소지</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84136130"/>
                  </a:ext>
                </a:extLst>
              </a:tr>
              <a:tr h="827297">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품질 지식 그래프 자율 확장</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 새로운 유형의 불량과 그 해결책이 확인되면</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지식 그래프에</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ko-KR" altLang="en-US" sz="850" dirty="0">
                          <a:solidFill>
                            <a:schemeClr val="tx1"/>
                          </a:solidFill>
                          <a:effectLst/>
                          <a:latin typeface="현대산스 Text" panose="020B0600000101010101" pitchFamily="50" charset="-127"/>
                          <a:ea typeface="현대산스 Text" panose="020B0600000101010101" pitchFamily="50" charset="-127"/>
                        </a:rPr>
                        <a:t> </a:t>
                      </a:r>
                      <a:r>
                        <a:rPr lang="en-US" altLang="ko-KR" sz="850" dirty="0">
                          <a:solidFill>
                            <a:schemeClr val="tx1"/>
                          </a:solidFill>
                          <a:effectLst/>
                          <a:latin typeface="현대산스 Text" panose="020B0600000101010101" pitchFamily="50" charset="-127"/>
                          <a:ea typeface="현대산스 Text" panose="020B0600000101010101" pitchFamily="50" charset="-127"/>
                        </a:rPr>
                        <a:t>"A</a:t>
                      </a:r>
                      <a:r>
                        <a:rPr lang="ko-KR" altLang="en-US" sz="850" dirty="0">
                          <a:solidFill>
                            <a:schemeClr val="tx1"/>
                          </a:solidFill>
                          <a:effectLst/>
                          <a:latin typeface="현대산스 Text" panose="020B0600000101010101" pitchFamily="50" charset="-127"/>
                          <a:ea typeface="현대산스 Text" panose="020B0600000101010101" pitchFamily="50" charset="-127"/>
                        </a:rPr>
                        <a:t>부품 치수 오차 </a:t>
                      </a:r>
                      <a:r>
                        <a:rPr lang="en-US" altLang="ko-KR" sz="850" dirty="0">
                          <a:solidFill>
                            <a:schemeClr val="tx1"/>
                          </a:solidFill>
                          <a:effectLst/>
                          <a:latin typeface="현대산스 Text" panose="020B0600000101010101" pitchFamily="50" charset="-127"/>
                          <a:ea typeface="현대산스 Text" panose="020B0600000101010101" pitchFamily="50" charset="-127"/>
                        </a:rPr>
                        <a:t>+ B</a:t>
                      </a:r>
                      <a:r>
                        <a:rPr lang="ko-KR" altLang="en-US" sz="850" dirty="0">
                          <a:solidFill>
                            <a:schemeClr val="tx1"/>
                          </a:solidFill>
                          <a:effectLst/>
                          <a:latin typeface="현대산스 Text" panose="020B0600000101010101" pitchFamily="50" charset="-127"/>
                          <a:ea typeface="현대산스 Text" panose="020B0600000101010101" pitchFamily="50" charset="-127"/>
                        </a:rPr>
                        <a:t>용접 온도 </a:t>
                      </a:r>
                      <a:r>
                        <a:rPr lang="en-US" altLang="ko-KR" sz="850" dirty="0">
                          <a:solidFill>
                            <a:schemeClr val="tx1"/>
                          </a:solidFill>
                          <a:effectLst/>
                          <a:latin typeface="현대산스 Text" panose="020B0600000101010101" pitchFamily="50" charset="-127"/>
                          <a:ea typeface="현대산스 Text" panose="020B0600000101010101" pitchFamily="50" charset="-127"/>
                        </a:rPr>
                        <a:t>= C</a:t>
                      </a:r>
                      <a:r>
                        <a:rPr lang="ko-KR" altLang="en-US" sz="850" dirty="0">
                          <a:solidFill>
                            <a:schemeClr val="tx1"/>
                          </a:solidFill>
                          <a:effectLst/>
                          <a:latin typeface="현대산스 Text" panose="020B0600000101010101" pitchFamily="50" charset="-127"/>
                          <a:ea typeface="현대산스 Text" panose="020B0600000101010101" pitchFamily="50" charset="-127"/>
                        </a:rPr>
                        <a:t>단차 발생</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이라는 새로운 인과관계 노드 자동 추가</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사후 분석에서 예방 품질로 진화</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 축적된 </a:t>
                      </a:r>
                      <a:r>
                        <a:rPr lang="en-US" altLang="ko-KR" sz="850" dirty="0">
                          <a:solidFill>
                            <a:schemeClr val="tx1"/>
                          </a:solidFill>
                          <a:effectLst/>
                          <a:latin typeface="현대산스 Text" panose="020B0600000101010101" pitchFamily="50" charset="-127"/>
                          <a:ea typeface="현대산스 Text" panose="020B0600000101010101" pitchFamily="50" charset="-127"/>
                        </a:rPr>
                        <a:t>RCA </a:t>
                      </a:r>
                      <a:r>
                        <a:rPr lang="ko-KR" altLang="en-US" sz="850" dirty="0">
                          <a:solidFill>
                            <a:schemeClr val="tx1"/>
                          </a:solidFill>
                          <a:effectLst/>
                          <a:latin typeface="현대산스 Text" panose="020B0600000101010101" pitchFamily="50" charset="-127"/>
                          <a:ea typeface="현대산스 Text" panose="020B0600000101010101" pitchFamily="50" charset="-127"/>
                        </a:rPr>
                        <a:t>데이터를 바탕으로</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도장 실링 품질의</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미세한 변화만 보고도 </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의장 라인 조립 시 </a:t>
                      </a:r>
                      <a:r>
                        <a:rPr lang="ko-KR" altLang="en-US" sz="850" dirty="0" err="1">
                          <a:solidFill>
                            <a:schemeClr val="tx1"/>
                          </a:solidFill>
                          <a:effectLst/>
                          <a:latin typeface="현대산스 Text" panose="020B0600000101010101" pitchFamily="50" charset="-127"/>
                          <a:ea typeface="현대산스 Text" panose="020B0600000101010101" pitchFamily="50" charset="-127"/>
                        </a:rPr>
                        <a:t>수밀</a:t>
                      </a:r>
                      <a:r>
                        <a:rPr lang="ko-KR" altLang="en-US" sz="850" dirty="0">
                          <a:solidFill>
                            <a:schemeClr val="tx1"/>
                          </a:solidFill>
                          <a:effectLst/>
                          <a:latin typeface="현대산스 Text" panose="020B0600000101010101" pitchFamily="50" charset="-127"/>
                          <a:ea typeface="현대산스 Text" panose="020B0600000101010101" pitchFamily="50" charset="-127"/>
                        </a:rPr>
                        <a:t> 불량 발생 예상</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을 경고하는 예방 모델로</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err="1">
                          <a:solidFill>
                            <a:schemeClr val="tx1"/>
                          </a:solidFill>
                          <a:effectLst/>
                          <a:latin typeface="현대산스 Text" panose="020B0600000101010101" pitchFamily="50" charset="-127"/>
                          <a:ea typeface="현대산스 Text" panose="020B0600000101010101" pitchFamily="50" charset="-127"/>
                        </a:rPr>
                        <a:t>재학습</a:t>
                      </a:r>
                      <a:endParaRPr lang="ko-KR" altLang="en-US" sz="85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ko-KR" sz="850" b="0" dirty="0">
                          <a:effectLst/>
                          <a:latin typeface="현대산스 Text" panose="020B0600000101010101" pitchFamily="50" charset="-127"/>
                          <a:ea typeface="현대산스 Text" panose="020B0600000101010101" pitchFamily="50" charset="-127"/>
                        </a:rPr>
                        <a:t>• Knowledge Graph Auto-updating</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현대산스 Text" panose="020B0600000101010101" pitchFamily="50" charset="-127"/>
                          <a:ea typeface="현대산스 Text" panose="020B0600000101010101" pitchFamily="50" charset="-127"/>
                        </a:rPr>
                        <a:t>• </a:t>
                      </a:r>
                      <a:r>
                        <a:rPr lang="en-US" altLang="ko-KR" sz="850" b="0" dirty="0" err="1">
                          <a:effectLst/>
                          <a:latin typeface="현대산스 Text" panose="020B0600000101010101" pitchFamily="50" charset="-127"/>
                          <a:ea typeface="현대산스 Text" panose="020B0600000101010101" pitchFamily="50" charset="-127"/>
                        </a:rPr>
                        <a:t>MLOps</a:t>
                      </a:r>
                      <a:r>
                        <a:rPr lang="en-US" altLang="ko-KR" sz="850" b="0" dirty="0">
                          <a:effectLst/>
                          <a:latin typeface="현대산스 Text" panose="020B0600000101010101" pitchFamily="50" charset="-127"/>
                          <a:ea typeface="현대산스 Text" panose="020B0600000101010101" pitchFamily="50" charset="-127"/>
                        </a:rPr>
                        <a:t> </a:t>
                      </a: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품질 예측 모델 지속 배포 및 모니터링</a:t>
                      </a:r>
                      <a:r>
                        <a:rPr lang="en-US" altLang="ko-KR" sz="850" b="0" dirty="0">
                          <a:effectLst/>
                          <a:latin typeface="현대산스 Text" panose="020B0600000101010101" pitchFamily="50" charset="-127"/>
                          <a:ea typeface="현대산스 Text"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현대산스 Text" panose="020B0600000101010101" pitchFamily="50" charset="-127"/>
                          <a:ea typeface="현대산스 Text" panose="020B0600000101010101" pitchFamily="50" charset="-127"/>
                        </a:rPr>
                        <a:t>• Explainable AI (XAI) </a:t>
                      </a: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엔지니어 설득용 근거 시각화</a:t>
                      </a:r>
                      <a:r>
                        <a:rPr lang="en-US" altLang="ko-KR" sz="850" b="0" dirty="0">
                          <a:effectLst/>
                          <a:latin typeface="현대산스 Text" panose="020B0600000101010101" pitchFamily="50" charset="-127"/>
                          <a:ea typeface="현대산스 Text" panose="020B0600000101010101" pitchFamily="50"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의장</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라인에서 발견된 갭</a:t>
                      </a:r>
                      <a:r>
                        <a:rPr lang="en-US" altLang="ko-KR" sz="850" b="0" dirty="0">
                          <a:solidFill>
                            <a:schemeClr val="tx1"/>
                          </a:solidFill>
                          <a:effectLst/>
                          <a:latin typeface="현대산스 Text" panose="020B0600000101010101" pitchFamily="50" charset="-127"/>
                          <a:ea typeface="현대산스 Text"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단차 불량의 원인이 </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차체 라인에 있을 경우</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피드백 루프가 너무 길어 </a:t>
                      </a:r>
                      <a:r>
                        <a:rPr lang="en-US" altLang="ko-KR" sz="850" b="0" dirty="0">
                          <a:solidFill>
                            <a:schemeClr val="tx1"/>
                          </a:solidFill>
                          <a:effectLst/>
                          <a:latin typeface="현대산스 Text" panose="020B0600000101010101" pitchFamily="50" charset="-127"/>
                          <a:ea typeface="현대산스 Text" panose="020B0600000101010101" pitchFamily="50" charset="-127"/>
                        </a:rPr>
                        <a:t>AI</a:t>
                      </a:r>
                      <a:r>
                        <a:rPr lang="ko-KR" altLang="en-US" sz="850" b="0" dirty="0">
                          <a:solidFill>
                            <a:schemeClr val="tx1"/>
                          </a:solidFill>
                          <a:effectLst/>
                          <a:latin typeface="현대산스 Text" panose="020B0600000101010101" pitchFamily="50" charset="-127"/>
                          <a:ea typeface="현대산스 Text" panose="020B0600000101010101" pitchFamily="50" charset="-127"/>
                        </a:rPr>
                        <a:t>가</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즉각적인 보상을 학습하기 어려운 문제</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48779735"/>
                  </a:ext>
                </a:extLst>
              </a:tr>
            </a:tbl>
          </a:graphicData>
        </a:graphic>
      </p:graphicFrame>
      <p:sp>
        <p:nvSpPr>
          <p:cNvPr id="7" name="직사각형 6">
            <a:extLst>
              <a:ext uri="{FF2B5EF4-FFF2-40B4-BE49-F238E27FC236}">
                <a16:creationId xmlns:a16="http://schemas.microsoft.com/office/drawing/2014/main" id="{3F4CD3E6-1D60-8267-1D17-3A7DECB533C5}"/>
              </a:ext>
            </a:extLst>
          </p:cNvPr>
          <p:cNvSpPr/>
          <p:nvPr/>
        </p:nvSpPr>
        <p:spPr>
          <a:xfrm rot="20700000">
            <a:off x="2689412" y="3232570"/>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latin typeface="현대하모니 M" panose="02020603020101020101" pitchFamily="18" charset="-127"/>
                <a:ea typeface="현대하모니 M" panose="02020603020101020101" pitchFamily="18" charset="-127"/>
              </a:rPr>
              <a:t>Need to translate KR Ver later</a:t>
            </a:r>
            <a:endParaRPr lang="ko-KR" altLang="en-US" dirty="0">
              <a:latin typeface="현대하모니 M" panose="02020603020101020101" pitchFamily="18" charset="-127"/>
              <a:ea typeface="현대하모니 M" panose="02020603020101020101" pitchFamily="18" charset="-127"/>
            </a:endParaRPr>
          </a:p>
        </p:txBody>
      </p:sp>
    </p:spTree>
    <p:extLst>
      <p:ext uri="{BB962C8B-B14F-4D97-AF65-F5344CB8AC3E}">
        <p14:creationId xmlns:p14="http://schemas.microsoft.com/office/powerpoint/2010/main" val="4096079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5572-B679-89DD-C3C9-5591CC85900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1B63AC9A-364D-F243-846E-A176BD598623}"/>
              </a:ext>
            </a:extLst>
          </p:cNvPr>
          <p:cNvSpPr>
            <a:spLocks noGrp="1"/>
          </p:cNvSpPr>
          <p:nvPr>
            <p:ph type="ctrTitle"/>
          </p:nvPr>
        </p:nvSpPr>
        <p:spPr>
          <a:xfrm>
            <a:off x="273049" y="179388"/>
            <a:ext cx="9328151"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⑥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EHS</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B6363568-9155-5D89-2EC1-C923027CDE1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E98D9A4D-3CA5-70A1-4439-DFFB291C9BC5}"/>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5A8401CA-DF7C-E001-702C-EF96CF15DA2B}"/>
              </a:ext>
            </a:extLst>
          </p:cNvPr>
          <p:cNvSpPr txBox="1"/>
          <p:nvPr/>
        </p:nvSpPr>
        <p:spPr>
          <a:xfrm>
            <a:off x="338778" y="830362"/>
            <a:ext cx="8724696"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response to trouble shooting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CAA93FC9-6114-56AB-4142-80F6FCC10538}"/>
              </a:ext>
            </a:extLst>
          </p:cNvPr>
          <p:cNvSpPr>
            <a:spLocks noChangeArrowheads="1"/>
          </p:cNvSpPr>
          <p:nvPr/>
        </p:nvSpPr>
        <p:spPr bwMode="auto">
          <a:xfrm>
            <a:off x="273049" y="1033817"/>
            <a:ext cx="9348600"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Establish an unmanned maintenance system that identifies root causes in real-time upon equipment failure, autonomously executes</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control (PLC) and physical (Humanoid) countermeasures, iteratively retries alternatives until resolved, and self-learns the "Lesson Learned."</a:t>
            </a:r>
          </a:p>
        </p:txBody>
      </p:sp>
      <p:graphicFrame>
        <p:nvGraphicFramePr>
          <p:cNvPr id="11" name="표 10">
            <a:extLst>
              <a:ext uri="{FF2B5EF4-FFF2-40B4-BE49-F238E27FC236}">
                <a16:creationId xmlns:a16="http://schemas.microsoft.com/office/drawing/2014/main" id="{596C8D31-B66E-9DB2-0013-A40FD8109106}"/>
              </a:ext>
            </a:extLst>
          </p:cNvPr>
          <p:cNvGraphicFramePr>
            <a:graphicFrameLocks noGrp="1"/>
          </p:cNvGraphicFramePr>
          <p:nvPr/>
        </p:nvGraphicFramePr>
        <p:xfrm>
          <a:off x="238951" y="1524745"/>
          <a:ext cx="9517697" cy="5029965"/>
        </p:xfrm>
        <a:graphic>
          <a:graphicData uri="http://schemas.openxmlformats.org/drawingml/2006/table">
            <a:tbl>
              <a:tblPr/>
              <a:tblGrid>
                <a:gridCol w="803560">
                  <a:extLst>
                    <a:ext uri="{9D8B030D-6E8A-4147-A177-3AD203B41FA5}">
                      <a16:colId xmlns:a16="http://schemas.microsoft.com/office/drawing/2014/main" val="3515855418"/>
                    </a:ext>
                  </a:extLst>
                </a:gridCol>
                <a:gridCol w="3104039">
                  <a:extLst>
                    <a:ext uri="{9D8B030D-6E8A-4147-A177-3AD203B41FA5}">
                      <a16:colId xmlns:a16="http://schemas.microsoft.com/office/drawing/2014/main" val="2891931337"/>
                    </a:ext>
                  </a:extLst>
                </a:gridCol>
                <a:gridCol w="2983981">
                  <a:extLst>
                    <a:ext uri="{9D8B030D-6E8A-4147-A177-3AD203B41FA5}">
                      <a16:colId xmlns:a16="http://schemas.microsoft.com/office/drawing/2014/main" val="3002806275"/>
                    </a:ext>
                  </a:extLst>
                </a:gridCol>
                <a:gridCol w="2626117">
                  <a:extLst>
                    <a:ext uri="{9D8B030D-6E8A-4147-A177-3AD203B41FA5}">
                      <a16:colId xmlns:a16="http://schemas.microsoft.com/office/drawing/2014/main" val="826399169"/>
                    </a:ext>
                  </a:extLst>
                </a:gridCol>
              </a:tblGrid>
              <a:tr h="169108">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sz="900" b="1" i="0" kern="120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050259">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defTabSz="742950" rtl="0" eaLnBrk="1" fontAlgn="auto" latinLnBrk="0" hangingPunct="1">
                        <a:lnSpc>
                          <a:spcPts val="1050"/>
                        </a:lnSpc>
                        <a:spcBef>
                          <a:spcPts val="0"/>
                        </a:spcBef>
                        <a:spcAft>
                          <a:spcPts val="0"/>
                        </a:spcAft>
                        <a:buClrTx/>
                        <a:buSzTx/>
                        <a:buFontTx/>
                        <a:buNone/>
                        <a:tabLst/>
                        <a:defRPr/>
                      </a:pPr>
                      <a:r>
                        <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[In-line Energy Consumption Management]</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Monitor of energy consumption in DT</a:t>
                      </a:r>
                    </a:p>
                    <a:p>
                      <a:pPr marL="0" marR="0" lvl="0" indent="0" algn="l" defTabSz="742950" rtl="0" eaLnBrk="1" fontAlgn="auto" latinLnBrk="0" hangingPunct="1">
                        <a:lnSpc>
                          <a:spcPts val="1050"/>
                        </a:lnSpc>
                        <a:spcBef>
                          <a:spcPts val="0"/>
                        </a:spcBef>
                        <a:spcAft>
                          <a:spcPts val="0"/>
                        </a:spcAft>
                        <a:buClrTx/>
                        <a:buSzTx/>
                        <a:buFontTx/>
                        <a:buNone/>
                        <a:tabLst/>
                        <a:defRPr/>
                      </a:pPr>
                      <a:br>
                        <a:rPr kumimoji="0" lang="en-US" altLang="ko-KR" sz="700" b="0" i="0" u="none" strike="noStrike" kern="1200" cap="none" spc="0" normalizeH="0" baseline="0" noProof="0" dirty="0">
                          <a:ln>
                            <a:noFill/>
                          </a:ln>
                          <a:solidFill>
                            <a:srgbClr val="000000"/>
                          </a:solidFill>
                          <a:effectLst/>
                          <a:uLnTx/>
                          <a:uFillTx/>
                          <a:latin typeface="Hyundai Sans Text KR" panose="020B0600000101010101" pitchFamily="34" charset="-127"/>
                          <a:ea typeface="Hyundai Sans Text KR" panose="020B0600000101010101" pitchFamily="34" charset="-127"/>
                          <a:cs typeface="+mn-cs"/>
                        </a:rPr>
                      </a:br>
                      <a:r>
                        <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[Fire hazard detection]</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Monitoring of fire hazards in DT</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latinLnBrk="0">
                        <a:buFont typeface="Arial" panose="020B0604020202020204" pitchFamily="34" charset="0"/>
                        <a:buChar char="•"/>
                      </a:pPr>
                      <a:r>
                        <a:rPr lang="en-US" sz="700" b="0" i="0" kern="1200" baseline="0">
                          <a:solidFill>
                            <a:schemeClr val="tx1"/>
                          </a:solidFill>
                          <a:effectLst/>
                          <a:latin typeface="Hyundai Sans Text KR" panose="020B0600000101010101" pitchFamily="34" charset="-127"/>
                          <a:ea typeface="Hyundai Sans Text KR" panose="020B0600000101010101" pitchFamily="34" charset="-127"/>
                          <a:cs typeface="+mn-cs"/>
                        </a:rPr>
                        <a:t> Real time event streaming through Kafka​</a:t>
                      </a:r>
                    </a:p>
                    <a:p>
                      <a:pPr marL="0" indent="0" rtl="0" fontAlgn="base" latinLnBrk="0">
                        <a:buFont typeface="Arial" panose="020B0604020202020204" pitchFamily="34" charset="0"/>
                        <a:buChar char="•"/>
                      </a:pPr>
                      <a:r>
                        <a:rPr lang="en-US" sz="7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IIoT: Data Ingestion from sensors, PLC, etc.</a:t>
                      </a:r>
                      <a:r>
                        <a:rPr lang="en-US" sz="7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700" b="0" i="0" kern="1200" baseline="0">
                          <a:solidFill>
                            <a:schemeClr val="tx1"/>
                          </a:solidFill>
                          <a:effectLst/>
                          <a:latin typeface="Hyundai Sans Text KR" panose="020B0600000101010101" pitchFamily="34" charset="-127"/>
                          <a:ea typeface="Hyundai Sans Text KR" panose="020B0600000101010101" pitchFamily="34" charset="-127"/>
                          <a:cs typeface="+mn-cs"/>
                        </a:rPr>
                        <a:t> Investment of thermal cameras and required sensors</a:t>
                      </a:r>
                    </a:p>
                    <a:p>
                      <a:pPr marL="0" indent="0" rtl="0" fontAlgn="base" latinLnBrk="0">
                        <a:buFont typeface="Arial" panose="020B0604020202020204" pitchFamily="34" charset="0"/>
                        <a:buChar char="•"/>
                      </a:pPr>
                      <a:r>
                        <a:rPr lang="en-US" sz="7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Time-series DB (influx) to support massive data ingestion </a:t>
                      </a:r>
                    </a:p>
                    <a:p>
                      <a:pPr marL="0" indent="0" rtl="0" fontAlgn="base" latinLnBrk="0">
                        <a:buFont typeface="Arial" panose="020B0604020202020204" pitchFamily="34" charset="0"/>
                        <a:buNone/>
                      </a:pPr>
                      <a:r>
                        <a:rPr lang="en-US" sz="7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sensors and equipment readings</a:t>
                      </a:r>
                      <a:r>
                        <a:rPr lang="en-US" sz="7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7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Event streaming (Kafka) for real time event and alerts</a:t>
                      </a:r>
                      <a:r>
                        <a:rPr lang="en-US" sz="7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7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NoSQL for unstructured data</a:t>
                      </a:r>
                      <a:r>
                        <a:rPr lang="en-US" sz="7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7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Data platform to enable ETL, analysis and development of </a:t>
                      </a:r>
                    </a:p>
                    <a:p>
                      <a:pPr marL="0" indent="0" rtl="0" fontAlgn="base" latinLnBrk="0">
                        <a:buFont typeface="Arial" panose="020B0604020202020204" pitchFamily="34" charset="0"/>
                        <a:buNone/>
                      </a:pPr>
                      <a:r>
                        <a:rPr lang="en-US" sz="7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data products</a:t>
                      </a:r>
                      <a:r>
                        <a:rPr lang="en-US" sz="7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rtl="0" latinLnBrk="0">
                        <a:buFont typeface="Arial" panose="020B0604020202020204" pitchFamily="34" charset="0"/>
                        <a:buNone/>
                      </a:pPr>
                      <a:endParaRPr lang="en-US" sz="700" b="0">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6956695"/>
                  </a:ext>
                </a:extLst>
              </a:tr>
              <a:tr h="1050259">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a:lnSpc>
                          <a:spcPct val="100000"/>
                        </a:lnSpc>
                        <a:spcBef>
                          <a:spcPts val="0"/>
                        </a:spcBef>
                        <a:spcAft>
                          <a:spcPts val="0"/>
                        </a:spcAft>
                        <a:buNone/>
                      </a:pPr>
                      <a:r>
                        <a:rPr kumimoji="0" lang="en-US" sz="700" b="1" i="0" u="none" strike="noStrike" kern="1200" cap="none" spc="0" normalizeH="0" baseline="0" noProof="0" dirty="0">
                          <a:ln>
                            <a:noFill/>
                          </a:ln>
                          <a:solidFill>
                            <a:srgbClr val="215F9A"/>
                          </a:solidFill>
                          <a:effectLst/>
                          <a:uLnTx/>
                          <a:uFillTx/>
                          <a:latin typeface="Hyundai Sans Text KR" panose="020B0600000101010101" pitchFamily="34" charset="-127"/>
                          <a:ea typeface="Hyundai Sans Text KR" panose="020B0600000101010101" pitchFamily="34" charset="-127"/>
                        </a:rPr>
                        <a:t>[</a:t>
                      </a:r>
                      <a:r>
                        <a:rPr kumimoji="0" lang="en-US"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rPr>
                        <a:t>Digital Twin </a:t>
                      </a:r>
                      <a:r>
                        <a:rPr lang="en-US"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rPr>
                        <a:t>–Factory Facility Management]</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Prepare DT platform to model real-life operations by preparing connectivity, data and 1D /2D / 3D assets</a:t>
                      </a:r>
                    </a:p>
                    <a:p>
                      <a:pPr marL="0" marR="0" lvl="0" indent="0" algn="l" defTabSz="742950" rtl="0" eaLnBrk="1" fontAlgn="auto" latinLnBrk="0" hangingPunct="1">
                        <a:lnSpc>
                          <a:spcPts val="1050"/>
                        </a:lnSpc>
                        <a:spcBef>
                          <a:spcPts val="0"/>
                        </a:spcBef>
                        <a:spcAft>
                          <a:spcPts val="0"/>
                        </a:spcAft>
                        <a:buClrTx/>
                        <a:buSzTx/>
                        <a:buFontTx/>
                        <a:buNone/>
                        <a:tabLst/>
                        <a:defRPr/>
                      </a:pPr>
                      <a:endPar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endParaRPr>
                    </a:p>
                    <a:p>
                      <a:pPr marL="0" marR="0" lvl="0" indent="0" algn="l" defTabSz="742950" rtl="0" eaLnBrk="1" fontAlgn="auto" latinLnBrk="0" hangingPunct="1">
                        <a:lnSpc>
                          <a:spcPts val="1050"/>
                        </a:lnSpc>
                        <a:spcBef>
                          <a:spcPts val="0"/>
                        </a:spcBef>
                        <a:spcAft>
                          <a:spcPts val="0"/>
                        </a:spcAft>
                        <a:buClrTx/>
                        <a:buSzTx/>
                        <a:buFontTx/>
                        <a:buNone/>
                        <a:tabLst/>
                        <a:defRPr/>
                      </a:pPr>
                      <a:r>
                        <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[Traffic safety monitoring and management]</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Real-time integration and monitoring of AMR / AGV / parking robot traffic </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indent="0" rtl="0" fontAlgn="base" latinLnBrk="0">
                        <a:buFont typeface="Arial" panose="020B0604020202020204" pitchFamily="34" charset="0"/>
                        <a:buChar char="•"/>
                      </a:pP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Need Data Platform to facilitate the creation of “data </a:t>
                      </a:r>
                    </a:p>
                    <a:p>
                      <a:pPr marL="0" indent="0" rtl="0" fontAlgn="base" latinLnBrk="0">
                        <a:buFont typeface="Arial" panose="020B0604020202020204" pitchFamily="34" charset="0"/>
                        <a:buNone/>
                      </a:pP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products” to enable daily advanced analytics, as well as </a:t>
                      </a:r>
                    </a:p>
                    <a:p>
                      <a:pPr marL="0" indent="0" rtl="0" fontAlgn="base" latinLnBrk="0">
                        <a:buFont typeface="Arial" panose="020B0604020202020204" pitchFamily="34" charset="0"/>
                        <a:buNone/>
                      </a:pP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advanced use-cases (AI/ML </a:t>
                      </a:r>
                      <a:r>
                        <a:rPr lang="en-US" sz="700" b="0" i="0" u="none" strike="noStrike" kern="1200" baseline="0" dirty="0" err="1">
                          <a:solidFill>
                            <a:schemeClr val="tx1"/>
                          </a:solidFill>
                          <a:effectLst/>
                          <a:latin typeface="Hyundai Sans Text KR" panose="020B0600000101010101" pitchFamily="34" charset="-127"/>
                          <a:ea typeface="Hyundai Sans Text KR" panose="020B0600000101010101" pitchFamily="34" charset="-127"/>
                          <a:cs typeface="+mn-cs"/>
                        </a:rPr>
                        <a:t>etc</a:t>
                      </a: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sz="700" b="0" i="0" kern="1200" baseline="0" dirty="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SDM : Facility , Mobile Robot</a:t>
                      </a:r>
                      <a:endParaRPr lang="en-US" sz="700" b="0" i="0" kern="1200" baseline="0" dirty="0">
                        <a:solidFill>
                          <a:schemeClr val="tx1"/>
                        </a:solidFill>
                        <a:effectLst/>
                        <a:latin typeface="Hyundai Sans Text KR" panose="020B0600000101010101" pitchFamily="34" charset="-127"/>
                        <a:ea typeface="Hyundai Sans Text KR" panose="020B0600000101010101" pitchFamily="34" charset="-127"/>
                        <a:cs typeface="+mn-cs"/>
                      </a:endParaRPr>
                    </a:p>
                    <a:p>
                      <a:pPr marL="0" indent="0" rtl="0" fontAlgn="base" latinLnBrk="0">
                        <a:buFont typeface="Arial" panose="020B0604020202020204" pitchFamily="34" charset="0"/>
                        <a:buChar char="•"/>
                      </a:pP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SIM: Omniverse, </a:t>
                      </a:r>
                      <a:r>
                        <a:rPr lang="en-US" sz="700" b="0" i="0" u="none" strike="noStrike" kern="1200" baseline="0" dirty="0" err="1">
                          <a:solidFill>
                            <a:schemeClr val="tx1"/>
                          </a:solidFill>
                          <a:effectLst/>
                          <a:latin typeface="Hyundai Sans Text KR" panose="020B0600000101010101" pitchFamily="34" charset="-127"/>
                          <a:ea typeface="Hyundai Sans Text KR" panose="020B0600000101010101" pitchFamily="34" charset="-127"/>
                          <a:cs typeface="+mn-cs"/>
                        </a:rPr>
                        <a:t>OpenUSD</a:t>
                      </a: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Metropolis</a:t>
                      </a:r>
                      <a:r>
                        <a:rPr lang="en-US" sz="700" b="0" i="0" kern="1200" baseline="0" dirty="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Mobile robot telemetry</a:t>
                      </a:r>
                      <a:r>
                        <a:rPr lang="en-US" sz="700" b="0" i="0" kern="1200" baseline="0" dirty="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Data retention, archival and housekeeping policy</a:t>
                      </a:r>
                    </a:p>
                    <a:p>
                      <a:pPr marL="0" indent="0" rtl="0" fontAlgn="base" latinLnBrk="0">
                        <a:buFont typeface="Arial" panose="020B0604020202020204" pitchFamily="34" charset="0"/>
                        <a:buChar char="•"/>
                      </a:pPr>
                      <a:r>
                        <a:rPr lang="en-US" sz="700" b="0" i="0" u="none" strike="noStrike" kern="1200" dirty="0">
                          <a:solidFill>
                            <a:schemeClr val="tx1"/>
                          </a:solidFill>
                          <a:effectLst/>
                          <a:latin typeface="Hyundai Sans Text KR" panose="020B0600000101010101" pitchFamily="34" charset="-127"/>
                          <a:ea typeface="Hyundai Sans Text KR" panose="020B0600000101010101" pitchFamily="34" charset="-127"/>
                        </a:rPr>
                        <a:t> OPC UA/ MQTT Integration for equipment safety</a:t>
                      </a:r>
                      <a:r>
                        <a:rPr lang="en-US" sz="700" b="0" i="0" kern="1200" dirty="0">
                          <a:solidFill>
                            <a:schemeClr val="tx1"/>
                          </a:solidFill>
                          <a:effectLst/>
                          <a:latin typeface="Hyundai Sans Text KR" panose="020B0600000101010101" pitchFamily="34" charset="-127"/>
                          <a:ea typeface="Hyundai Sans Text KR" panose="020B0600000101010101" pitchFamily="34" charset="-127"/>
                        </a:rPr>
                        <a:t>​</a:t>
                      </a:r>
                    </a:p>
                    <a:p>
                      <a:pPr marL="0" indent="0" rtl="0" fontAlgn="base" latinLnBrk="0">
                        <a:buFont typeface="Arial" panose="020B0604020202020204" pitchFamily="34" charset="0"/>
                        <a:buChar char="•"/>
                      </a:pPr>
                      <a:r>
                        <a:rPr lang="en-US" sz="700" b="0" i="0" kern="1200" baseline="0" dirty="0">
                          <a:solidFill>
                            <a:schemeClr val="tx1"/>
                          </a:solidFill>
                          <a:effectLst/>
                          <a:latin typeface="Hyundai Sans Text KR" panose="020B0600000101010101" pitchFamily="34" charset="-127"/>
                          <a:ea typeface="Hyundai Sans Text KR" panose="020B0600000101010101" pitchFamily="34" charset="-127"/>
                          <a:cs typeface="+mn-cs"/>
                        </a:rPr>
                        <a:t> Integration with MES and ERP for production / customer data</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Real-time monitoring of status of AMR / AGV / parking robot, with easy access to contextual information for further analysis</a:t>
                      </a:r>
                    </a:p>
                    <a:p>
                      <a:pPr marL="171450" lvl="0" indent="-171450" algn="l" latinLnBrk="0">
                        <a:buFont typeface="Arial" panose="020B0604020202020204" pitchFamily="34" charset="0"/>
                        <a:buChar char="•"/>
                      </a:pPr>
                      <a:endParaRPr lang="en-US" sz="700" b="0" dirty="0">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333179"/>
                  </a:ext>
                </a:extLst>
              </a:tr>
              <a:tr h="1671939">
                <a:tc>
                  <a:txBody>
                    <a:bodyPr/>
                    <a:lstStyle/>
                    <a:p>
                      <a:pPr lvl="0"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a:cs typeface="+mn-cs"/>
                        </a:rPr>
                        <a:t>Decision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1" i="0" u="none" strike="noStrike" kern="1200" noProof="0" dirty="0">
                          <a:solidFill>
                            <a:srgbClr val="10325D"/>
                          </a:solidFill>
                          <a:effectLst/>
                          <a:latin typeface="Hyundai Sans Text KR" panose="020B0600000101010101" pitchFamily="34" charset="-127"/>
                          <a:ea typeface="Hyundai Sans Text KR" panose="020B0600000101010101" pitchFamily="34" charset="-127"/>
                          <a:cs typeface="+mn-cs"/>
                        </a:rPr>
                        <a:t>[Safety incident response with integration with mobile robot team]</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Autonomous decision making for incident response and coordination with mobile robot team</a:t>
                      </a:r>
                    </a:p>
                    <a:p>
                      <a:pPr marL="0" marR="0" lvl="0" indent="0" algn="l" defTabSz="742950" rtl="0" eaLnBrk="1" fontAlgn="auto" latinLnBrk="0" hangingPunct="1">
                        <a:lnSpc>
                          <a:spcPts val="1050"/>
                        </a:lnSpc>
                        <a:spcBef>
                          <a:spcPts val="0"/>
                        </a:spcBef>
                        <a:spcAft>
                          <a:spcPts val="0"/>
                        </a:spcAft>
                        <a:buClrTx/>
                        <a:buSzTx/>
                        <a:buFontTx/>
                        <a:buNone/>
                        <a:tabLst/>
                        <a:defRPr/>
                      </a:pPr>
                      <a:endPar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endParaRPr>
                    </a:p>
                    <a:p>
                      <a:pPr marL="0" marR="0" lvl="0" indent="0" algn="l" defTabSz="742950" rtl="0" eaLnBrk="1" fontAlgn="auto" latinLnBrk="0" hangingPunct="1">
                        <a:lnSpc>
                          <a:spcPts val="1050"/>
                        </a:lnSpc>
                        <a:spcBef>
                          <a:spcPts val="0"/>
                        </a:spcBef>
                        <a:spcAft>
                          <a:spcPts val="0"/>
                        </a:spcAft>
                        <a:buClrTx/>
                        <a:buSzTx/>
                        <a:buFontTx/>
                        <a:buNone/>
                        <a:tabLst/>
                        <a:defRPr/>
                      </a:pPr>
                      <a:r>
                        <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[Integration with planning team for energy and safety issues]</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Energy optimization, mobile robot route to alert production planning on production impact</a:t>
                      </a:r>
                    </a:p>
                    <a:p>
                      <a:pPr marL="0" marR="0" lvl="0" indent="0" algn="l" defTabSz="742950" rtl="0" eaLnBrk="1" fontAlgn="auto" latinLnBrk="0" hangingPunct="1">
                        <a:lnSpc>
                          <a:spcPts val="105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rgbClr val="000000"/>
                        </a:solidFill>
                        <a:effectLst/>
                        <a:uLnTx/>
                        <a:uFillTx/>
                        <a:latin typeface="Hyundai Sans Text KR" panose="020B0600000101010101" pitchFamily="34" charset="-127"/>
                        <a:ea typeface="Hyundai Sans Text KR" panose="020B0600000101010101" pitchFamily="34" charset="-127"/>
                        <a:cs typeface="+mn-cs"/>
                      </a:endParaRPr>
                    </a:p>
                    <a:p>
                      <a:pPr marL="0" marR="0" lvl="0" indent="0" algn="l" defTabSz="742950" rtl="0" eaLnBrk="1" fontAlgn="auto" latinLnBrk="0" hangingPunct="1">
                        <a:lnSpc>
                          <a:spcPts val="1050"/>
                        </a:lnSpc>
                        <a:spcBef>
                          <a:spcPts val="0"/>
                        </a:spcBef>
                        <a:spcAft>
                          <a:spcPts val="0"/>
                        </a:spcAft>
                        <a:buClrTx/>
                        <a:buSzTx/>
                        <a:buFontTx/>
                        <a:buNone/>
                        <a:tabLst/>
                        <a:defRPr/>
                      </a:pPr>
                      <a:r>
                        <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[Fire incident response and integration with planning team]</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Autonomous decision making based on identified fire hazard and integration with planning team on capacity impact</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indent="0" rtl="0" fontAlgn="base" latinLnBrk="0">
                        <a:buFont typeface="Arial" panose="020B0604020202020204" pitchFamily="34" charset="0"/>
                        <a:buChar char="•"/>
                      </a:pPr>
                      <a:r>
                        <a:rPr lang="en-US" sz="700" b="0" i="0" u="none" strike="noStrike" kern="1200" dirty="0">
                          <a:solidFill>
                            <a:schemeClr val="tx1"/>
                          </a:solidFill>
                          <a:effectLst/>
                          <a:latin typeface="Hyundai Sans Text KR" panose="020B0600000101010101" pitchFamily="34" charset="-127"/>
                          <a:ea typeface="Hyundai Sans Text KR" panose="020B0600000101010101" pitchFamily="34" charset="-127"/>
                        </a:rPr>
                        <a:t> Kafka (Event Streaming)</a:t>
                      </a:r>
                      <a:r>
                        <a:rPr lang="en-US" sz="7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700" b="0" i="0" u="none" strike="noStrike" kern="1200" dirty="0">
                          <a:solidFill>
                            <a:schemeClr val="tx1"/>
                          </a:solidFill>
                          <a:effectLst/>
                          <a:latin typeface="Hyundai Sans Text KR" panose="020B0600000101010101" pitchFamily="34" charset="-127"/>
                          <a:ea typeface="Hyundai Sans Text KR" panose="020B0600000101010101" pitchFamily="34" charset="-127"/>
                        </a:rPr>
                        <a:t> MCP Gateway </a:t>
                      </a:r>
                      <a:r>
                        <a:rPr lang="en-US" sz="7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700" b="0" i="0" u="none" strike="noStrike" kern="1200" dirty="0">
                          <a:solidFill>
                            <a:schemeClr val="tx1"/>
                          </a:solidFill>
                          <a:effectLst/>
                          <a:latin typeface="Hyundai Sans Text KR" panose="020B0600000101010101" pitchFamily="34" charset="-127"/>
                          <a:ea typeface="Hyundai Sans Text KR" panose="020B0600000101010101" pitchFamily="34" charset="-127"/>
                        </a:rPr>
                        <a:t> Edge Computing Nodes (Private 5G-connected)</a:t>
                      </a:r>
                      <a:r>
                        <a:rPr lang="en-US" sz="7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700" b="0" i="0" u="none" strike="noStrike" kern="1200" dirty="0">
                          <a:solidFill>
                            <a:schemeClr val="tx1"/>
                          </a:solidFill>
                          <a:effectLst/>
                          <a:latin typeface="Hyundai Sans Text KR" panose="020B0600000101010101" pitchFamily="34" charset="-127"/>
                          <a:ea typeface="Hyundai Sans Text KR" panose="020B0600000101010101" pitchFamily="34" charset="-127"/>
                        </a:rPr>
                        <a:t> Digital Twin Integration - State Reader, Floor Topology</a:t>
                      </a:r>
                      <a:r>
                        <a:rPr lang="en-US" sz="7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700" b="0" i="0" u="none" strike="noStrike" kern="1200" dirty="0">
                          <a:solidFill>
                            <a:schemeClr val="tx1"/>
                          </a:solidFill>
                          <a:effectLst/>
                          <a:latin typeface="Hyundai Sans Text KR" panose="020B0600000101010101" pitchFamily="34" charset="-127"/>
                          <a:ea typeface="Hyundai Sans Text KR" panose="020B0600000101010101" pitchFamily="34" charset="-127"/>
                        </a:rPr>
                        <a:t> Audit Log</a:t>
                      </a:r>
                      <a:r>
                        <a:rPr lang="en-US" sz="7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 Simulation and optimization decision engines</a:t>
                      </a:r>
                    </a:p>
                    <a:p>
                      <a:pPr marL="0" lvl="0" indent="0"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 Integration to MES / factory activities</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Facility digital model replicating activities, properties and </a:t>
                      </a:r>
                      <a:r>
                        <a:rPr lang="en-US" sz="700" b="0" i="0" kern="1200" dirty="0" err="1">
                          <a:solidFill>
                            <a:schemeClr val="tx1"/>
                          </a:solidFill>
                          <a:effectLst/>
                          <a:latin typeface="Hyundai Sans Text KR" panose="020B0600000101010101" pitchFamily="34" charset="-127"/>
                          <a:ea typeface="Hyundai Sans Text KR" panose="020B0600000101010101" pitchFamily="34" charset="-127"/>
                        </a:rPr>
                        <a:t>behaviours</a:t>
                      </a:r>
                      <a:r>
                        <a:rPr lang="en-US" sz="700" b="0" i="0" kern="1200" dirty="0">
                          <a:solidFill>
                            <a:schemeClr val="tx1"/>
                          </a:solidFill>
                          <a:effectLst/>
                          <a:latin typeface="Hyundai Sans Text KR" panose="020B0600000101010101" pitchFamily="34" charset="-127"/>
                          <a:ea typeface="Hyundai Sans Text KR" panose="020B0600000101010101" pitchFamily="34" charset="-127"/>
                        </a:rPr>
                        <a:t> in real-world</a:t>
                      </a:r>
                    </a:p>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Path planning and conflict resolution</a:t>
                      </a:r>
                    </a:p>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Dynamic load balancing for electrical supply </a:t>
                      </a:r>
                    </a:p>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Dynamic mission control with critical fire-fighting equipment and other mission-critical equipment</a:t>
                      </a:r>
                    </a:p>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Managers can compare expected effects (KPI changes) by scenario. Governed approval UI for AI recommendations.​</a:t>
                      </a:r>
                    </a:p>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Integration with other application areas e.g. Production Planning, Logistics, Maintenance</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96508370"/>
                  </a:ext>
                </a:extLst>
              </a:tr>
              <a:tr h="485852">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defTabSz="742950" rtl="0" eaLnBrk="1" fontAlgn="auto" latinLnBrk="0" hangingPunct="1">
                        <a:lnSpc>
                          <a:spcPts val="1050"/>
                        </a:lnSpc>
                        <a:spcBef>
                          <a:spcPts val="0"/>
                        </a:spcBef>
                        <a:spcAft>
                          <a:spcPts val="0"/>
                        </a:spcAft>
                        <a:buClrTx/>
                        <a:buSzTx/>
                        <a:buFontTx/>
                        <a:buNone/>
                        <a:tabLst/>
                        <a:defRPr/>
                      </a:pPr>
                      <a:r>
                        <a:rPr kumimoji="0" lang="en-US" sz="700" b="1" i="0" u="none" strike="noStrike" kern="1200" cap="none" spc="0" normalizeH="0" baseline="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[Reusable Energy Management]</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Connection with solar energy management system and link with production planning</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algn="l" latinLnBrk="0">
                        <a:buClr>
                          <a:srgbClr val="000000"/>
                        </a:buClr>
                        <a:buFont typeface="Arial,Sans-Serif"/>
                        <a:buChar char="•"/>
                      </a:pPr>
                      <a:r>
                        <a:rPr lang="en-US" sz="700" b="0" i="0" u="none" strike="noStrike" kern="1200" noProof="0">
                          <a:solidFill>
                            <a:schemeClr val="tx1"/>
                          </a:solidFill>
                          <a:effectLst/>
                          <a:latin typeface="Hyundai Sans Text KR" panose="020B0600000101010101" pitchFamily="34" charset="-127"/>
                          <a:ea typeface="Hyundai Sans Text KR" panose="020B0600000101010101" pitchFamily="34" charset="-127"/>
                          <a:cs typeface="+mn-cs"/>
                        </a:rPr>
                        <a:t> Kafka (Event Streaming)</a:t>
                      </a:r>
                      <a:endParaRPr lang="en-US" sz="700" b="0" i="0" u="none" strike="noStrike" kern="1200" noProof="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Clr>
                          <a:srgbClr val="000000"/>
                        </a:buClr>
                        <a:buFont typeface="Arial,Sans-Serif"/>
                        <a:buChar char="•"/>
                      </a:pPr>
                      <a:r>
                        <a:rPr lang="en-US" sz="700" b="0" i="0" u="none" strike="noStrike" kern="1200" noProof="0">
                          <a:solidFill>
                            <a:schemeClr val="tx1"/>
                          </a:solidFill>
                          <a:effectLst/>
                          <a:latin typeface="Hyundai Sans Text KR" panose="020B0600000101010101" pitchFamily="34" charset="-127"/>
                          <a:ea typeface="Hyundai Sans Text KR" panose="020B0600000101010101" pitchFamily="34" charset="-127"/>
                          <a:cs typeface="+mn-cs"/>
                        </a:rPr>
                        <a:t> MCP Gateway </a:t>
                      </a:r>
                      <a:endParaRPr lang="en-US" sz="700" b="0" i="0" u="none" strike="noStrike" kern="1200" noProof="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Clr>
                          <a:srgbClr val="000000"/>
                        </a:buClr>
                        <a:buFont typeface="Arial,Sans-Serif"/>
                        <a:buChar char="•"/>
                      </a:pPr>
                      <a:r>
                        <a:rPr lang="en-US" sz="700" b="0" i="0" u="none" strike="noStrike" kern="1200" noProof="0">
                          <a:solidFill>
                            <a:schemeClr val="tx1"/>
                          </a:solidFill>
                          <a:effectLst/>
                          <a:latin typeface="Hyundai Sans Text KR" panose="020B0600000101010101" pitchFamily="34" charset="-127"/>
                          <a:ea typeface="Hyundai Sans Text KR" panose="020B0600000101010101" pitchFamily="34" charset="-127"/>
                          <a:cs typeface="+mn-cs"/>
                        </a:rPr>
                        <a:t> Edge Computing Nodes (Private 5G-connected)</a:t>
                      </a:r>
                      <a:endParaRPr lang="en-US" sz="700" b="0" i="0" u="none" strike="noStrike" kern="1200" noProof="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Clr>
                          <a:srgbClr val="000000"/>
                        </a:buClr>
                        <a:buFont typeface="Arial,Sans-Serif"/>
                        <a:buChar char="•"/>
                      </a:pPr>
                      <a:r>
                        <a:rPr lang="en-US" sz="700" b="0" i="0" u="none" strike="noStrike" kern="1200" noProof="0">
                          <a:solidFill>
                            <a:schemeClr val="tx1"/>
                          </a:solidFill>
                          <a:effectLst/>
                          <a:latin typeface="Hyundai Sans Text KR" panose="020B0600000101010101" pitchFamily="34" charset="-127"/>
                          <a:ea typeface="Hyundai Sans Text KR" panose="020B0600000101010101" pitchFamily="34" charset="-127"/>
                          <a:cs typeface="+mn-cs"/>
                        </a:rPr>
                        <a:t> OPC UA/ MQTT Integration for dynamic mission control</a:t>
                      </a:r>
                      <a:endParaRPr lang="en-US" sz="700" b="0" i="0" u="none" strike="noStrike" kern="1200" noProof="0">
                        <a:solidFill>
                          <a:srgbClr val="000000"/>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Path planning and conflict resolution</a:t>
                      </a:r>
                    </a:p>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Integration with other application areas e.g. Production Planning, Logistics, Maintenance</a:t>
                      </a:r>
                    </a:p>
                    <a:p>
                      <a:pPr marL="55563" marR="0" lvl="0" indent="-55563" algn="l" defTabSz="74295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Dynamic mission control with waste disposal systems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49845016"/>
                  </a:ext>
                </a:extLst>
              </a:tr>
              <a:tr h="602548">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panose="020B0600000101010101" pitchFamily="50" charset="-127"/>
                          <a:ea typeface="현대산스 Text"/>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defTabSz="742950" rtl="0" eaLnBrk="1" fontAlgn="auto" latinLnBrk="1" hangingPunct="1">
                        <a:lnSpc>
                          <a:spcPct val="100000"/>
                        </a:lnSpc>
                        <a:spcBef>
                          <a:spcPts val="0"/>
                        </a:spcBef>
                        <a:spcAft>
                          <a:spcPts val="0"/>
                        </a:spcAft>
                        <a:buClrTx/>
                        <a:buSzTx/>
                        <a:buFontTx/>
                        <a:buNone/>
                        <a:tabLst/>
                        <a:defRPr/>
                      </a:pPr>
                      <a:r>
                        <a:rPr lang="en-US" altLang="ko-KR" sz="700" b="0" kern="1200" noProof="0">
                          <a:solidFill>
                            <a:schemeClr val="tx1"/>
                          </a:solidFill>
                          <a:effectLst/>
                          <a:latin typeface="Hyundai Sans Text KR" panose="020B0600000101010101" pitchFamily="34" charset="-127"/>
                          <a:ea typeface="Hyundai Sans Text KR" panose="020B0600000101010101" pitchFamily="34" charset="-127"/>
                          <a:cs typeface="+mn-cs"/>
                        </a:rPr>
                        <a:t>Performance monitoring of AI model use and DT simulation</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latinLnBrk="0">
                        <a:buNone/>
                      </a:pPr>
                      <a:r>
                        <a:rPr lang="en-US" sz="7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700" b="0" i="0" u="none" strike="noStrike" kern="1200" noProof="0" dirty="0" err="1">
                          <a:solidFill>
                            <a:schemeClr val="tx1"/>
                          </a:solidFill>
                          <a:effectLst/>
                          <a:latin typeface="Hyundai Sans Text KR" panose="020B0600000101010101" pitchFamily="34" charset="-127"/>
                          <a:ea typeface="Hyundai Sans Text KR" panose="020B0600000101010101" pitchFamily="34" charset="-127"/>
                          <a:cs typeface="+mn-cs"/>
                        </a:rPr>
                        <a:t>MLOps</a:t>
                      </a:r>
                      <a:r>
                        <a:rPr lang="en-US" sz="7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Pipelines: </a:t>
                      </a:r>
                      <a:endPar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latinLnBrk="0">
                        <a:buNone/>
                      </a:pPr>
                      <a:r>
                        <a:rPr lang="en-US" sz="7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(continuous model deployment/</a:t>
                      </a:r>
                      <a:r>
                        <a:rPr lang="en-US" sz="700" b="0" i="0" u="none" strike="noStrike" kern="1200" noProof="0" dirty="0" err="1">
                          <a:solidFill>
                            <a:schemeClr val="tx1"/>
                          </a:solidFill>
                          <a:effectLst/>
                          <a:latin typeface="Hyundai Sans Text KR" panose="020B0600000101010101" pitchFamily="34" charset="-127"/>
                          <a:ea typeface="Hyundai Sans Text KR" panose="020B0600000101010101" pitchFamily="34" charset="-127"/>
                          <a:cs typeface="+mn-cs"/>
                        </a:rPr>
                        <a:t>Mgm</a:t>
                      </a:r>
                      <a:r>
                        <a:rPr lang="en-US" sz="7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a:t>
                      </a:r>
                      <a:endPar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latinLnBrk="0">
                        <a:buNone/>
                      </a:pPr>
                      <a:r>
                        <a:rPr lang="en-US" sz="7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Hi-Fidelity Event Log: ‘Black Box’ recorder</a:t>
                      </a:r>
                      <a:endPar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latinLnBrk="0">
                        <a:buNone/>
                      </a:pPr>
                      <a:r>
                        <a:rPr lang="en-US" sz="7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State-Action mapping engines</a:t>
                      </a:r>
                      <a:br>
                        <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br>
                      <a:r>
                        <a:rPr lang="en-US" sz="7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Contextual Metadata Tagging</a:t>
                      </a:r>
                      <a:endPar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rtl="0" latinLnBrk="0">
                        <a:buFont typeface="Arial" panose="020B0604020202020204" pitchFamily="34" charset="0"/>
                        <a:buNone/>
                      </a:pPr>
                      <a:endParaRPr lang="en-US" sz="700" b="0" i="0" kern="120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80329984"/>
                  </a:ext>
                </a:extLst>
              </a:tr>
            </a:tbl>
          </a:graphicData>
        </a:graphic>
      </p:graphicFrame>
    </p:spTree>
    <p:extLst>
      <p:ext uri="{BB962C8B-B14F-4D97-AF65-F5344CB8AC3E}">
        <p14:creationId xmlns:p14="http://schemas.microsoft.com/office/powerpoint/2010/main" val="3565886412"/>
      </p:ext>
    </p:extLst>
  </p:cSld>
  <p:clrMapOvr>
    <a:masterClrMapping/>
  </p:clrMapOvr>
</p:sld>
</file>

<file path=ppt/theme/theme1.xml><?xml version="1.0" encoding="utf-8"?>
<a:theme xmlns:a="http://schemas.openxmlformats.org/drawingml/2006/main" name="2_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2a0a7b1-70da-46e7-b347-3de27d0db9c8}" enabled="1" method="Privileged" siteId="{2819f895-390c-4afa-96b8-5278b4cf5d62}" contentBits="2"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13495</Words>
  <Application>Microsoft Office PowerPoint</Application>
  <PresentationFormat>A4 Paper (210x297 mm)</PresentationFormat>
  <Paragraphs>1408</Paragraphs>
  <Slides>19</Slides>
  <Notes>19</Notes>
  <HiddenSlides>5</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19</vt:i4>
      </vt:variant>
    </vt:vector>
  </HeadingPairs>
  <TitlesOfParts>
    <vt:vector size="33" baseType="lpstr">
      <vt:lpstr>Arial,Sans-Serif</vt:lpstr>
      <vt:lpstr>굴림</vt:lpstr>
      <vt:lpstr>현대하모니 B</vt:lpstr>
      <vt:lpstr>현대하모니 L</vt:lpstr>
      <vt:lpstr>현대하모니 M</vt:lpstr>
      <vt:lpstr>현대산스 Head</vt:lpstr>
      <vt:lpstr>Hyundai Sans Head KR Medium</vt:lpstr>
      <vt:lpstr>Hyundai Sans Text KR</vt:lpstr>
      <vt:lpstr>Hyundai Sans Text KR</vt:lpstr>
      <vt:lpstr>맑은 고딕</vt:lpstr>
      <vt:lpstr>Aptos</vt:lpstr>
      <vt:lpstr>Arial</vt:lpstr>
      <vt:lpstr>Calibri</vt:lpstr>
      <vt:lpstr>2_Office 테마</vt:lpstr>
      <vt:lpstr>① Autonomous production management</vt:lpstr>
      <vt:lpstr>① Autonomous production management</vt:lpstr>
      <vt:lpstr>① Autonomous production management</vt:lpstr>
      <vt:lpstr>① 생산 관리 자율화</vt:lpstr>
      <vt:lpstr>② Autonomous parts supply and inventory mgmt</vt:lpstr>
      <vt:lpstr>② Autonomous parts supply and inventory mgmt</vt:lpstr>
      <vt:lpstr>② Autonomous parts supply and inventory mgmt</vt:lpstr>
      <vt:lpstr>② 부품 공급 및 재고 관리 자율화</vt:lpstr>
      <vt:lpstr>③ Autonomous robot teaching and calibration</vt:lpstr>
      <vt:lpstr>③ Autonomous robot teaching and calibration</vt:lpstr>
      <vt:lpstr>③ 로봇 티칭 및 보정 자율화</vt:lpstr>
      <vt:lpstr>④ Autonomous troubleshooting response</vt:lpstr>
      <vt:lpstr>④ Autonomous troubleshooting response</vt:lpstr>
      <vt:lpstr>④ 트러블 슈팅 대응 자율화</vt:lpstr>
      <vt:lpstr>⑤ Autonomous quality defect analysis and response</vt:lpstr>
      <vt:lpstr>⑤ Autonomous quality defect analysis and response</vt:lpstr>
      <vt:lpstr>⑤ Autonomous quality defect analysis and response</vt:lpstr>
      <vt:lpstr>⑤ 품질 불량 원인 분석 및 조치 자율화</vt:lpstr>
      <vt:lpstr>⑥ EHS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YUN YONG</dc:creator>
  <cp:lastModifiedBy>PALIATH NOEL ANTONY</cp:lastModifiedBy>
  <cp:revision>1</cp:revision>
  <dcterms:created xsi:type="dcterms:W3CDTF">2026-10-28T05:42:24Z</dcterms:created>
  <dcterms:modified xsi:type="dcterms:W3CDTF">2026-10-29T08:06:39Z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2_Office 테마:9</vt:lpwstr>
  </property>
  <property fmtid="{D5CDD505-2E9C-101B-9397-08002B2CF9AE}" pid="3" name="ClassificationContentMarkingFooterText">
    <vt:lpwstr>This document is legally protected as confidential information of Hyundai Motor and is subject to non-disclosure agreements with your company and applicable laws.</vt:lpwstr>
  </property>
</Properties>
</file>